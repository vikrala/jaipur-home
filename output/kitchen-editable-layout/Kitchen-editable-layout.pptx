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544443fc3e4a03" /><Relationship Type="http://schemas.openxmlformats.org/officeDocument/2006/relationships/extended-properties" Target="/docProps/app.xml" Id="R45604497c051486e" /><Relationship Type="http://schemas.openxmlformats.org/officeDocument/2006/relationships/officeDocument" Target="/ppt/presentation.xml" Id="R5d2d1a11f6ba4fa0" /></Relationships>
</file>

<file path=ppt/presentation.xml><?xml version="1.0" encoding="utf-8"?>
<p:presentation xmlns:p="http://schemas.openxmlformats.org/presentationml/2006/main">
  <p:sldMasterIdLst>
    <p:sldMasterId xmlns:r="http://schemas.openxmlformats.org/officeDocument/2006/relationships" id="2147483648" r:id="R9cc610764ee14efc"/>
  </p:sldMasterIdLst>
  <p:notesMasterIdLst>
    <p:notesMasterId xmlns:r="http://schemas.openxmlformats.org/officeDocument/2006/relationships" r:id="R0c772e729a0841dc"/>
  </p:notesMasterIdLst>
  <p:sldIdLst>
    <p:sldId xmlns:r="http://schemas.openxmlformats.org/officeDocument/2006/relationships" id="256" r:id="Rb9693a40d9144e6e"/>
    <p:sldId xmlns:r="http://schemas.openxmlformats.org/officeDocument/2006/relationships" id="257" r:id="R5647b0a9d14a4418"/>
    <p:sldId xmlns:r="http://schemas.openxmlformats.org/officeDocument/2006/relationships" id="258" r:id="Rf35d7fb5a6314a65"/>
    <p:sldId xmlns:r="http://schemas.openxmlformats.org/officeDocument/2006/relationships" id="259" r:id="R9eacf041dca34fe9"/>
    <p:sldId xmlns:r="http://schemas.openxmlformats.org/officeDocument/2006/relationships" id="260" r:id="R8ccc67e1edae44b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756b93b31349c1" /><Relationship Type="http://schemas.openxmlformats.org/officeDocument/2006/relationships/slideMaster" Target="/ppt/slideMasters/slideMaster1.xml" Id="R9cc610764ee14efc" /><Relationship Type="http://schemas.openxmlformats.org/officeDocument/2006/relationships/notesMaster" Target="/ppt/notesMasters/notesMaster1.xml" Id="R0c772e729a0841dc" /><Relationship Type="http://schemas.openxmlformats.org/officeDocument/2006/relationships/presProps" Target="/ppt/presProps.xml" Id="Rd4738ee29a00455f" /><Relationship Type="http://schemas.openxmlformats.org/officeDocument/2006/relationships/tableStyles" Target="/ppt/tableStyles.xml" Id="Rfc916bc542af4c1c" /><Relationship Type="http://schemas.openxmlformats.org/officeDocument/2006/relationships/slide" Target="/ppt/slides/slide1.xml" Id="Rb9693a40d9144e6e" /><Relationship Type="http://schemas.openxmlformats.org/officeDocument/2006/relationships/slide" Target="/ppt/slides/slide2.xml" Id="R5647b0a9d14a4418" /><Relationship Type="http://schemas.openxmlformats.org/officeDocument/2006/relationships/slide" Target="/ppt/slides/slide3.xml" Id="Rf35d7fb5a6314a65" /><Relationship Type="http://schemas.openxmlformats.org/officeDocument/2006/relationships/slide" Target="/ppt/slides/slide4.xml" Id="R9eacf041dca34fe9" /><Relationship Type="http://schemas.openxmlformats.org/officeDocument/2006/relationships/slide" Target="/ppt/slides/slide5.xml" Id="R8ccc67e1edae44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766fcaef3448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deded434b24d7a" /><Relationship Type="http://schemas.openxmlformats.org/officeDocument/2006/relationships/notesMaster" Target="/ppt/notesMasters/notesMaster1.xml" Id="Re4ba1cd9776c49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b803bbc69645ab" /><Relationship Type="http://schemas.openxmlformats.org/officeDocument/2006/relationships/notesMaster" Target="/ppt/notesMasters/notesMaster1.xml" Id="Rcf25507f8d0d45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825f2c0d3d4a3d" /><Relationship Type="http://schemas.openxmlformats.org/officeDocument/2006/relationships/notesMaster" Target="/ppt/notesMasters/notesMaster1.xml" Id="Rc070c3d55d624c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7a15d10a2044a7" /><Relationship Type="http://schemas.openxmlformats.org/officeDocument/2006/relationships/notesMaster" Target="/ppt/notesMasters/notesMaster1.xml" Id="Rc5c430e63e3e4f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d83afc1ebd47ef" /><Relationship Type="http://schemas.openxmlformats.org/officeDocument/2006/relationships/notesMaster" Target="/ppt/notesMasters/notesMaster1.xml" Id="R5102407bacad48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undefined Plan covers only the counter arrangement visible in the accepted image. It does not replace the architect’s full kitchen room plan or depict every opening. Wall-run orientation follows the client’s image: window wall across the page, RO wall turning down the 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client-accepted kitchen image, /var/folders/9j/pr9fzfvn3815_nldcz11bwr00000gn/T/codex-clipboard-7d83e2f8-f2f7-4219-b084-60f5f77d3b26.png. Client instructions govern drawer tier alignment, division aligned with window mullion, rack width equal to sink width, narrower concealed RO with dispensing access cut-out, two-bowl sink, four burners, concealed mini geyser and corner storage. The drawings are editable schematic reconstructions for client corrections. They are not surveyed elevations or cabinet fabrication dimensions. Architecture and the 3D model have not been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client-accepted kitchen image, /var/folders/9j/pr9fzfvn3815_nldcz11bwr00000gn/T/codex-clipboard-7d83e2f8-f2f7-4219-b084-60f5f77d3b26.png. Client instructions govern drawer tier alignment, division aligned with window mullion, rack width equal to sink width, narrower concealed RO with dispensing access cut-out, two-bowl sink, four burners, concealed mini geyser and corner storage. The drawings are editable schematic reconstructions for client corrections. They are not surveyed elevations or cabinet fabrication dimensions. Architecture and the 3D model have not been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undefined Storage mechanism concept: Hettich corner unit swivel pull-out behind hinged door, https://www.hettich.com/fileadmin/Media_Center/Catalogue/Fittings_Applications_2019_18483_HNZ_en.pdf. Final tray and hinge geometry require vendor selection and measured clearances. The RO access cut-out is drawn as its own editable shape.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undefined Corner detail is a mechanism concept, not scaled hardware geometry. Reference: Hettich LeMans II / corner swivel pull-out, https://www.hettich.com/fileadmin/Media_Center/Catalogue/Fittings_Applications_2019_18483_HNZ_en.pdf.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94d42b21ad43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fc421a9848481b" /><Relationship Type="http://schemas.openxmlformats.org/officeDocument/2006/relationships/slideLayout" Target="/ppt/slideLayouts/slideLayout1.xml" Id="Re46e1f681cc342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6e1f681cc342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e8dbfe9aa3e476b" /><Relationship Type="http://schemas.openxmlformats.org/officeDocument/2006/relationships/notesSlide" Target="/ppt/notesSlides/notesSlide1.xml" Id="R2e7dcceb773a4e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4622927f44f4b87" /><Relationship Type="http://schemas.openxmlformats.org/officeDocument/2006/relationships/notesSlide" Target="/ppt/notesSlides/notesSlide2.xml" Id="R504bf968e76543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99374a739648a6" /><Relationship Type="http://schemas.openxmlformats.org/officeDocument/2006/relationships/notesSlide" Target="/ppt/notesSlides/notesSlide3.xml" Id="R55f6a3e8fb8743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47132b5aff7413f" /><Relationship Type="http://schemas.openxmlformats.org/officeDocument/2006/relationships/notesSlide" Target="/ppt/notesSlides/notesSlide4.xml" Id="R9821dde8d9754e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85e775438f74341" /><Relationship Type="http://schemas.openxmlformats.org/officeDocument/2006/relationships/notesSlide" Target="/ppt/notesSlides/notesSlide5.xml" Id="Red6fa4207a9a42a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Title">
            <a:extLst xmlns:a="http://schemas.openxmlformats.org/drawingml/2006/main">
              <a:ext uri="{FF2B5EF4-FFF2-40B4-BE49-F238E27FC236}">
                <a16:creationId xmlns:a16="http://schemas.microsoft.com/office/drawing/2014/main" id="{1A5BBFC0-1B8B-4CB6-9AFE-182E7E2076C8}"/>
              </a:ext>
            </a:extLst>
          </p:cNvPr>
          <p:cNvSpPr>
            <a:spLocks xmlns:a="http://schemas.openxmlformats.org/drawingml/2006/main" noGrp="1"/>
          </p:cNvSpPr>
          <p:nvPr/>
        </p:nvSpPr>
        <p:spPr>
          <a:xfrm xmlns:a="http://schemas.openxmlformats.org/drawingml/2006/main">
            <a:off x="609600" y="400050"/>
            <a:ext cx="1390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292B2D"/>
                </a:solidFill>
                <a:latin typeface="Helvetica Neue"/>
                <a:ea typeface="Helvetica Neue"/>
                <a:cs typeface="Helvetica Neue"/>
              </a:defRPr>
            </a:pPr>
            <a:r>
              <a:rPr sz="3150" b="1">
                <a:solidFill>
                  <a:srgbClr val="292B2D"/>
                </a:solidFill>
                <a:latin typeface="Helvetica Neue"/>
                <a:ea typeface="Helvetica Neue"/>
                <a:cs typeface="Helvetica Neue"/>
              </a:rPr>
              <a:t>Kitchen counter layout</a:t>
            </a:r>
          </a:p>
        </p:txBody>
      </p:sp>
      <p:sp>
        <p:nvSpPr>
          <p:cNvPr id="2" name="Subtitle">
            <a:extLst xmlns:a="http://schemas.openxmlformats.org/drawingml/2006/main">
              <a:ext uri="{FF2B5EF4-FFF2-40B4-BE49-F238E27FC236}">
                <a16:creationId xmlns:a16="http://schemas.microsoft.com/office/drawing/2014/main" id="{15118ABA-01D2-4C60-96E5-5CFD1D30A6C1}"/>
              </a:ext>
            </a:extLst>
          </p:cNvPr>
          <p:cNvSpPr>
            <a:spLocks xmlns:a="http://schemas.openxmlformats.org/drawingml/2006/main" noGrp="1"/>
          </p:cNvSpPr>
          <p:nvPr/>
        </p:nvSpPr>
        <p:spPr>
          <a:xfrm xmlns:a="http://schemas.openxmlformats.org/drawingml/2006/main">
            <a:off x="628650" y="990600"/>
            <a:ext cx="1390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292B2D"/>
                </a:solidFill>
                <a:latin typeface="Helvetica Neue"/>
                <a:ea typeface="Helvetica Neue"/>
                <a:cs typeface="Helvetica Neue"/>
              </a:defRPr>
            </a:pPr>
            <a:r>
              <a:rPr sz="1725" b="0">
                <a:solidFill>
                  <a:srgbClr val="292B2D"/>
                </a:solidFill>
                <a:latin typeface="Helvetica Neue"/>
                <a:ea typeface="Helvetica Neue"/>
                <a:cs typeface="Helvetica Neue"/>
              </a:rPr>
              <a:t>Top view of the working L-shaped runs</a:t>
            </a:r>
          </a:p>
        </p:txBody>
      </p:sp>
      <p:sp>
        <p:nvSpPr>
          <p:cNvPr id="3" name="Title rule">
            <a:extLst xmlns:a="http://schemas.openxmlformats.org/drawingml/2006/main">
              <a:ext uri="{FF2B5EF4-FFF2-40B4-BE49-F238E27FC236}">
                <a16:creationId xmlns:a16="http://schemas.microsoft.com/office/drawing/2014/main" id="{C1C49E75-1880-496C-9433-7E0A9746C7D9}"/>
              </a:ext>
            </a:extLst>
          </p:cNvPr>
          <p:cNvSpPr>
            <a:spLocks xmlns:a="http://schemas.openxmlformats.org/drawingml/2006/main" noGrp="1"/>
          </p:cNvSpPr>
          <p:nvPr/>
        </p:nvSpPr>
        <p:spPr>
          <a:xfrm xmlns:a="http://schemas.openxmlformats.org/drawingml/2006/main" flipH="0" flipV="0">
            <a:off x="628650" y="1419225"/>
            <a:ext cx="13982700" cy="0"/>
          </a:xfrm>
          <a:prstGeom xmlns:a="http://schemas.openxmlformats.org/drawingml/2006/main" prst="line">
            <a:avLst/>
          </a:prstGeom>
          <a:noFill xmlns:a="http://schemas.openxmlformats.org/drawingml/2006/main"/>
          <a:ln xmlns:a="http://schemas.openxmlformats.org/drawingml/2006/main" w="9525">
            <a:solidFill>
              <a:srgbClr val="CFC5B7"/>
            </a:solidFill>
            <a:prstDash val="solid"/>
          </a:ln>
        </p:spPr>
      </p:sp>
      <p:sp>
        <p:nvSpPr>
          <p:cNvPr id="4" name="Corrections heading">
            <a:extLst xmlns:a="http://schemas.openxmlformats.org/drawingml/2006/main">
              <a:ext uri="{FF2B5EF4-FFF2-40B4-BE49-F238E27FC236}">
                <a16:creationId xmlns:a16="http://schemas.microsoft.com/office/drawing/2014/main" id="{198070EF-85C5-4139-8890-D6F8336830A5}"/>
              </a:ext>
            </a:extLst>
          </p:cNvPr>
          <p:cNvSpPr>
            <a:spLocks xmlns:a="http://schemas.openxmlformats.org/drawingml/2006/main" noGrp="1"/>
          </p:cNvSpPr>
          <p:nvPr/>
        </p:nvSpPr>
        <p:spPr>
          <a:xfrm xmlns:a="http://schemas.openxmlformats.org/drawingml/2006/main">
            <a:off x="12334875" y="188595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292B2D"/>
                </a:solidFill>
                <a:latin typeface="Helvetica Neue"/>
                <a:ea typeface="Helvetica Neue"/>
                <a:cs typeface="Helvetica Neue"/>
              </a:defRPr>
            </a:pPr>
            <a:r>
              <a:rPr sz="1875" b="1">
                <a:solidFill>
                  <a:srgbClr val="292B2D"/>
                </a:solidFill>
                <a:latin typeface="Helvetica Neue"/>
                <a:ea typeface="Helvetica Neue"/>
                <a:cs typeface="Helvetica Neue"/>
              </a:rPr>
              <a:t>Your corrections</a:t>
            </a:r>
          </a:p>
        </p:txBody>
      </p:sp>
      <p:sp>
        <p:nvSpPr>
          <p:cNvPr id="5" name="Correction line 0">
            <a:extLst xmlns:a="http://schemas.openxmlformats.org/drawingml/2006/main">
              <a:ext uri="{FF2B5EF4-FFF2-40B4-BE49-F238E27FC236}">
                <a16:creationId xmlns:a16="http://schemas.microsoft.com/office/drawing/2014/main" id="{DE4DD1BB-573A-4288-9D84-8D89B31F21DA}"/>
              </a:ext>
            </a:extLst>
          </p:cNvPr>
          <p:cNvSpPr>
            <a:spLocks xmlns:a="http://schemas.openxmlformats.org/drawingml/2006/main" noGrp="1"/>
          </p:cNvSpPr>
          <p:nvPr/>
        </p:nvSpPr>
        <p:spPr>
          <a:xfrm xmlns:a="http://schemas.openxmlformats.org/drawingml/2006/main" flipH="0" flipV="0">
            <a:off x="12334875" y="24955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6" name="Correction line 1">
            <a:extLst xmlns:a="http://schemas.openxmlformats.org/drawingml/2006/main">
              <a:ext uri="{FF2B5EF4-FFF2-40B4-BE49-F238E27FC236}">
                <a16:creationId xmlns:a16="http://schemas.microsoft.com/office/drawing/2014/main" id="{52F3584E-82C2-44A5-A749-3A821BF7A7F1}"/>
              </a:ext>
            </a:extLst>
          </p:cNvPr>
          <p:cNvSpPr>
            <a:spLocks xmlns:a="http://schemas.openxmlformats.org/drawingml/2006/main" noGrp="1"/>
          </p:cNvSpPr>
          <p:nvPr/>
        </p:nvSpPr>
        <p:spPr>
          <a:xfrm xmlns:a="http://schemas.openxmlformats.org/drawingml/2006/main" flipH="0" flipV="0">
            <a:off x="12334875" y="31813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7" name="Correction line 2">
            <a:extLst xmlns:a="http://schemas.openxmlformats.org/drawingml/2006/main">
              <a:ext uri="{FF2B5EF4-FFF2-40B4-BE49-F238E27FC236}">
                <a16:creationId xmlns:a16="http://schemas.microsoft.com/office/drawing/2014/main" id="{7A2178E5-E80A-49E3-B91A-FB92C868A104}"/>
              </a:ext>
            </a:extLst>
          </p:cNvPr>
          <p:cNvSpPr>
            <a:spLocks xmlns:a="http://schemas.openxmlformats.org/drawingml/2006/main" noGrp="1"/>
          </p:cNvSpPr>
          <p:nvPr/>
        </p:nvSpPr>
        <p:spPr>
          <a:xfrm xmlns:a="http://schemas.openxmlformats.org/drawingml/2006/main" flipH="0" flipV="0">
            <a:off x="12334875" y="38671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8" name="Correction line 3">
            <a:extLst xmlns:a="http://schemas.openxmlformats.org/drawingml/2006/main">
              <a:ext uri="{FF2B5EF4-FFF2-40B4-BE49-F238E27FC236}">
                <a16:creationId xmlns:a16="http://schemas.microsoft.com/office/drawing/2014/main" id="{545A10E2-A676-4C37-81AE-59FFBEAEF7B8}"/>
              </a:ext>
            </a:extLst>
          </p:cNvPr>
          <p:cNvSpPr>
            <a:spLocks xmlns:a="http://schemas.openxmlformats.org/drawingml/2006/main" noGrp="1"/>
          </p:cNvSpPr>
          <p:nvPr/>
        </p:nvSpPr>
        <p:spPr>
          <a:xfrm xmlns:a="http://schemas.openxmlformats.org/drawingml/2006/main" flipH="0" flipV="0">
            <a:off x="12334875" y="45529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9" name="Correction line 4">
            <a:extLst xmlns:a="http://schemas.openxmlformats.org/drawingml/2006/main">
              <a:ext uri="{FF2B5EF4-FFF2-40B4-BE49-F238E27FC236}">
                <a16:creationId xmlns:a16="http://schemas.microsoft.com/office/drawing/2014/main" id="{C4273FCA-5073-4F48-A100-1CD2D1DCF2AA}"/>
              </a:ext>
            </a:extLst>
          </p:cNvPr>
          <p:cNvSpPr>
            <a:spLocks xmlns:a="http://schemas.openxmlformats.org/drawingml/2006/main" noGrp="1"/>
          </p:cNvSpPr>
          <p:nvPr/>
        </p:nvSpPr>
        <p:spPr>
          <a:xfrm xmlns:a="http://schemas.openxmlformats.org/drawingml/2006/main" flipH="0" flipV="0">
            <a:off x="12334875" y="52387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10" name="Correction line 5">
            <a:extLst xmlns:a="http://schemas.openxmlformats.org/drawingml/2006/main">
              <a:ext uri="{FF2B5EF4-FFF2-40B4-BE49-F238E27FC236}">
                <a16:creationId xmlns:a16="http://schemas.microsoft.com/office/drawing/2014/main" id="{FB0D5B29-4D8F-435B-9FA6-9B52F31D2903}"/>
              </a:ext>
            </a:extLst>
          </p:cNvPr>
          <p:cNvSpPr>
            <a:spLocks xmlns:a="http://schemas.openxmlformats.org/drawingml/2006/main" noGrp="1"/>
          </p:cNvSpPr>
          <p:nvPr/>
        </p:nvSpPr>
        <p:spPr>
          <a:xfrm xmlns:a="http://schemas.openxmlformats.org/drawingml/2006/main" flipH="0" flipV="0">
            <a:off x="12334875" y="59245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11" name="Footer">
            <a:extLst xmlns:a="http://schemas.openxmlformats.org/drawingml/2006/main">
              <a:ext uri="{FF2B5EF4-FFF2-40B4-BE49-F238E27FC236}">
                <a16:creationId xmlns:a16="http://schemas.microsoft.com/office/drawing/2014/main" id="{9C726097-56D6-4229-B477-E06175B7DD5B}"/>
              </a:ext>
            </a:extLst>
          </p:cNvPr>
          <p:cNvSpPr>
            <a:spLocks xmlns:a="http://schemas.openxmlformats.org/drawingml/2006/main" noGrp="1"/>
          </p:cNvSpPr>
          <p:nvPr/>
        </p:nvSpPr>
        <p:spPr>
          <a:xfrm xmlns:a="http://schemas.openxmlformats.org/drawingml/2006/main">
            <a:off x="628650" y="8048625"/>
            <a:ext cx="1381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635B52"/>
                </a:solidFill>
                <a:latin typeface="Helvetica Neue"/>
                <a:ea typeface="Helvetica Neue"/>
                <a:cs typeface="Helvetica Neue"/>
              </a:defRPr>
            </a:pPr>
            <a:r>
              <a:rPr sz="1500" b="0">
                <a:solidFill>
                  <a:srgbClr val="635B52"/>
                </a:solidFill>
                <a:latin typeface="Helvetica Neue"/>
                <a:ea typeface="Helvetica Neue"/>
                <a:cs typeface="Helvetica Neue"/>
              </a:rPr>
              <a:t>Editable schematic. Cabinet sizes provisional. Confirmed ceiling: 10 ft.</a:t>
            </a:r>
          </a:p>
        </p:txBody>
      </p:sp>
      <p:sp>
        <p:nvSpPr>
          <p:cNvPr id="12" name="Window-wall worktop">
            <a:extLst xmlns:a="http://schemas.openxmlformats.org/drawingml/2006/main">
              <a:ext uri="{FF2B5EF4-FFF2-40B4-BE49-F238E27FC236}">
                <a16:creationId xmlns:a16="http://schemas.microsoft.com/office/drawing/2014/main" id="{3B636C17-8727-4116-8642-C695D87AADBB}"/>
              </a:ext>
            </a:extLst>
          </p:cNvPr>
          <p:cNvSpPr>
            <a:spLocks xmlns:a="http://schemas.openxmlformats.org/drawingml/2006/main" noGrp="1"/>
          </p:cNvSpPr>
          <p:nvPr/>
        </p:nvSpPr>
        <p:spPr>
          <a:xfrm xmlns:a="http://schemas.openxmlformats.org/drawingml/2006/main">
            <a:off x="1047750" y="2190750"/>
            <a:ext cx="9239250" cy="1238250"/>
          </a:xfrm>
          <a:prstGeom xmlns:a="http://schemas.openxmlformats.org/drawingml/2006/main" prst="rect">
            <a:avLst/>
          </a:prstGeom>
          <a:solidFill xmlns:a="http://schemas.openxmlformats.org/drawingml/2006/main">
            <a:srgbClr val="292B2D"/>
          </a:solidFill>
          <a:ln xmlns:a="http://schemas.openxmlformats.org/drawingml/2006/main" w="14288">
            <a:solidFill>
              <a:srgbClr val="6B5543"/>
            </a:solidFill>
            <a:prstDash val="solid"/>
          </a:ln>
        </p:spPr>
      </p:sp>
      <p:sp>
        <p:nvSpPr>
          <p:cNvPr id="13" name="RO-wall worktop">
            <a:extLst xmlns:a="http://schemas.openxmlformats.org/drawingml/2006/main">
              <a:ext uri="{FF2B5EF4-FFF2-40B4-BE49-F238E27FC236}">
                <a16:creationId xmlns:a16="http://schemas.microsoft.com/office/drawing/2014/main" id="{4E18506A-0826-4ACB-AFEB-85351460802B}"/>
              </a:ext>
            </a:extLst>
          </p:cNvPr>
          <p:cNvSpPr>
            <a:spLocks xmlns:a="http://schemas.openxmlformats.org/drawingml/2006/main" noGrp="1"/>
          </p:cNvSpPr>
          <p:nvPr/>
        </p:nvSpPr>
        <p:spPr>
          <a:xfrm xmlns:a="http://schemas.openxmlformats.org/drawingml/2006/main">
            <a:off x="9048750" y="3429000"/>
            <a:ext cx="1238250" cy="3524250"/>
          </a:xfrm>
          <a:prstGeom xmlns:a="http://schemas.openxmlformats.org/drawingml/2006/main" prst="rect">
            <a:avLst/>
          </a:prstGeom>
          <a:solidFill xmlns:a="http://schemas.openxmlformats.org/drawingml/2006/main">
            <a:srgbClr val="292B2D"/>
          </a:solidFill>
          <a:ln xmlns:a="http://schemas.openxmlformats.org/drawingml/2006/main" w="14288">
            <a:solidFill>
              <a:srgbClr val="6B5543"/>
            </a:solidFill>
            <a:prstDash val="solid"/>
          </a:ln>
        </p:spPr>
      </p:sp>
      <p:sp>
        <p:nvSpPr>
          <p:cNvPr id="14" name="Window wall">
            <a:extLst xmlns:a="http://schemas.openxmlformats.org/drawingml/2006/main">
              <a:ext uri="{FF2B5EF4-FFF2-40B4-BE49-F238E27FC236}">
                <a16:creationId xmlns:a16="http://schemas.microsoft.com/office/drawing/2014/main" id="{3AE6E52B-19AD-413E-9482-36151DE570C8}"/>
              </a:ext>
            </a:extLst>
          </p:cNvPr>
          <p:cNvSpPr>
            <a:spLocks xmlns:a="http://schemas.openxmlformats.org/drawingml/2006/main" noGrp="1"/>
          </p:cNvSpPr>
          <p:nvPr/>
        </p:nvSpPr>
        <p:spPr>
          <a:xfrm xmlns:a="http://schemas.openxmlformats.org/drawingml/2006/main" flipH="0" flipV="0">
            <a:off x="1047750" y="2009775"/>
            <a:ext cx="9239250" cy="0"/>
          </a:xfrm>
          <a:prstGeom xmlns:a="http://schemas.openxmlformats.org/drawingml/2006/main" prst="line">
            <a:avLst/>
          </a:prstGeom>
          <a:noFill xmlns:a="http://schemas.openxmlformats.org/drawingml/2006/main"/>
          <a:ln xmlns:a="http://schemas.openxmlformats.org/drawingml/2006/main" w="38100">
            <a:solidFill>
              <a:srgbClr val="6B5543"/>
            </a:solidFill>
            <a:prstDash val="solid"/>
          </a:ln>
        </p:spPr>
      </p:sp>
      <p:sp>
        <p:nvSpPr>
          <p:cNvPr id="15" name="RO wall">
            <a:extLst xmlns:a="http://schemas.openxmlformats.org/drawingml/2006/main">
              <a:ext uri="{FF2B5EF4-FFF2-40B4-BE49-F238E27FC236}">
                <a16:creationId xmlns:a16="http://schemas.microsoft.com/office/drawing/2014/main" id="{B582B29B-7FB5-49D1-9544-5B8BCE20BB3E}"/>
              </a:ext>
            </a:extLst>
          </p:cNvPr>
          <p:cNvSpPr>
            <a:spLocks xmlns:a="http://schemas.openxmlformats.org/drawingml/2006/main" noGrp="1"/>
          </p:cNvSpPr>
          <p:nvPr/>
        </p:nvSpPr>
        <p:spPr>
          <a:xfrm xmlns:a="http://schemas.openxmlformats.org/drawingml/2006/main" flipH="0" flipV="0">
            <a:off x="10429875" y="2190750"/>
            <a:ext cx="0" cy="4857750"/>
          </a:xfrm>
          <a:prstGeom xmlns:a="http://schemas.openxmlformats.org/drawingml/2006/main" prst="line">
            <a:avLst/>
          </a:prstGeom>
          <a:noFill xmlns:a="http://schemas.openxmlformats.org/drawingml/2006/main"/>
          <a:ln xmlns:a="http://schemas.openxmlformats.org/drawingml/2006/main" w="38100">
            <a:solidFill>
              <a:srgbClr val="6B5543"/>
            </a:solidFill>
            <a:prstDash val="solid"/>
          </a:ln>
        </p:spPr>
      </p:sp>
      <p:sp>
        <p:nvSpPr>
          <p:cNvPr id="16" name="Main window plan">
            <a:extLst xmlns:a="http://schemas.openxmlformats.org/drawingml/2006/main">
              <a:ext uri="{FF2B5EF4-FFF2-40B4-BE49-F238E27FC236}">
                <a16:creationId xmlns:a16="http://schemas.microsoft.com/office/drawing/2014/main" id="{C9C56DCB-E05C-45AF-8B3F-CB312434629E}"/>
              </a:ext>
            </a:extLst>
          </p:cNvPr>
          <p:cNvSpPr>
            <a:spLocks xmlns:a="http://schemas.openxmlformats.org/drawingml/2006/main" noGrp="1"/>
          </p:cNvSpPr>
          <p:nvPr/>
        </p:nvSpPr>
        <p:spPr>
          <a:xfrm xmlns:a="http://schemas.openxmlformats.org/drawingml/2006/main">
            <a:off x="4238625" y="1924050"/>
            <a:ext cx="3190875" cy="171450"/>
          </a:xfrm>
          <a:prstGeom xmlns:a="http://schemas.openxmlformats.org/drawingml/2006/main" prst="rect">
            <a:avLst/>
          </a:prstGeom>
          <a:solidFill xmlns:a="http://schemas.openxmlformats.org/drawingml/2006/main">
            <a:srgbClr val="1C3042"/>
          </a:solidFill>
          <a:ln xmlns:a="http://schemas.openxmlformats.org/drawingml/2006/main" w="19050">
            <a:solidFill>
              <a:srgbClr val="457A90"/>
            </a:solidFill>
            <a:prstDash val="solid"/>
          </a:ln>
        </p:spPr>
      </p:sp>
      <p:sp>
        <p:nvSpPr>
          <p:cNvPr id="17" name="Window centre mullion">
            <a:extLst xmlns:a="http://schemas.openxmlformats.org/drawingml/2006/main">
              <a:ext uri="{FF2B5EF4-FFF2-40B4-BE49-F238E27FC236}">
                <a16:creationId xmlns:a16="http://schemas.microsoft.com/office/drawing/2014/main" id="{0A7CFBA2-4BDF-4D62-9290-110BF947E5B1}"/>
              </a:ext>
            </a:extLst>
          </p:cNvPr>
          <p:cNvSpPr>
            <a:spLocks xmlns:a="http://schemas.openxmlformats.org/drawingml/2006/main" noGrp="1"/>
          </p:cNvSpPr>
          <p:nvPr/>
        </p:nvSpPr>
        <p:spPr>
          <a:xfrm xmlns:a="http://schemas.openxmlformats.org/drawingml/2006/main" flipH="0" flipV="0">
            <a:off x="5829300" y="1924050"/>
            <a:ext cx="0" cy="171450"/>
          </a:xfrm>
          <a:prstGeom xmlns:a="http://schemas.openxmlformats.org/drawingml/2006/main" prst="line">
            <a:avLst/>
          </a:prstGeom>
          <a:noFill xmlns:a="http://schemas.openxmlformats.org/drawingml/2006/main"/>
          <a:ln xmlns:a="http://schemas.openxmlformats.org/drawingml/2006/main" w="38100">
            <a:solidFill>
              <a:srgbClr val="A8ADB0"/>
            </a:solidFill>
            <a:prstDash val="solid"/>
          </a:ln>
        </p:spPr>
      </p:sp>
      <p:sp>
        <p:nvSpPr>
          <p:cNvPr id="18" name="Window-wall label">
            <a:extLst xmlns:a="http://schemas.openxmlformats.org/drawingml/2006/main">
              <a:ext uri="{FF2B5EF4-FFF2-40B4-BE49-F238E27FC236}">
                <a16:creationId xmlns:a16="http://schemas.microsoft.com/office/drawing/2014/main" id="{6E56B8FD-B5D5-4417-B2AA-E5206B22F9BA}"/>
              </a:ext>
            </a:extLst>
          </p:cNvPr>
          <p:cNvSpPr>
            <a:spLocks xmlns:a="http://schemas.openxmlformats.org/drawingml/2006/main" noGrp="1"/>
          </p:cNvSpPr>
          <p:nvPr/>
        </p:nvSpPr>
        <p:spPr>
          <a:xfrm xmlns:a="http://schemas.openxmlformats.org/drawingml/2006/main">
            <a:off x="3476625" y="161925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292B2D"/>
                </a:solidFill>
                <a:latin typeface="Helvetica Neue"/>
                <a:ea typeface="Helvetica Neue"/>
                <a:cs typeface="Helvetica Neue"/>
              </a:defRPr>
            </a:pPr>
            <a:r>
              <a:rPr sz="1875" b="1">
                <a:solidFill>
                  <a:srgbClr val="292B2D"/>
                </a:solidFill>
                <a:latin typeface="Helvetica Neue"/>
                <a:ea typeface="Helvetica Neue"/>
                <a:cs typeface="Helvetica Neue"/>
              </a:rPr>
              <a:t>WINDOW WALL</a:t>
            </a:r>
          </a:p>
        </p:txBody>
      </p:sp>
      <p:sp>
        <p:nvSpPr>
          <p:cNvPr id="19" name="RO-wall label">
            <a:extLst xmlns:a="http://schemas.openxmlformats.org/drawingml/2006/main">
              <a:ext uri="{FF2B5EF4-FFF2-40B4-BE49-F238E27FC236}">
                <a16:creationId xmlns:a16="http://schemas.microsoft.com/office/drawing/2014/main" id="{64A0B1FB-CAA6-44B8-92F1-BF9BADB29024}"/>
              </a:ext>
            </a:extLst>
          </p:cNvPr>
          <p:cNvSpPr>
            <a:spLocks xmlns:a="http://schemas.openxmlformats.org/drawingml/2006/main" noGrp="1"/>
          </p:cNvSpPr>
          <p:nvPr/>
        </p:nvSpPr>
        <p:spPr>
          <a:xfrm xmlns:a="http://schemas.openxmlformats.org/drawingml/2006/main">
            <a:off x="10572750" y="3857625"/>
            <a:ext cx="1333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292B2D"/>
                </a:solidFill>
                <a:latin typeface="Helvetica Neue"/>
                <a:ea typeface="Helvetica Neue"/>
                <a:cs typeface="Helvetica Neue"/>
              </a:defRPr>
            </a:pPr>
            <a:r>
              <a:rPr sz="1800" b="1">
                <a:solidFill>
                  <a:srgbClr val="292B2D"/>
                </a:solidFill>
                <a:latin typeface="Helvetica Neue"/>
                <a:ea typeface="Helvetica Neue"/>
                <a:cs typeface="Helvetica Neue"/>
              </a:rPr>
              <a:t>RO WALL</a:t>
            </a:r>
          </a:p>
        </p:txBody>
      </p:sp>
      <p:sp>
        <p:nvSpPr>
          <p:cNvPr id="20" name="Hob plan">
            <a:extLst xmlns:a="http://schemas.openxmlformats.org/drawingml/2006/main">
              <a:ext uri="{FF2B5EF4-FFF2-40B4-BE49-F238E27FC236}">
                <a16:creationId xmlns:a16="http://schemas.microsoft.com/office/drawing/2014/main" id="{EB53C7D6-89AA-4F2E-823A-5FD73804EC0F}"/>
              </a:ext>
            </a:extLst>
          </p:cNvPr>
          <p:cNvSpPr>
            <a:spLocks xmlns:a="http://schemas.openxmlformats.org/drawingml/2006/main" noGrp="1"/>
          </p:cNvSpPr>
          <p:nvPr/>
        </p:nvSpPr>
        <p:spPr>
          <a:xfrm xmlns:a="http://schemas.openxmlformats.org/drawingml/2006/main">
            <a:off x="7858125" y="2400300"/>
            <a:ext cx="1905000" cy="819150"/>
          </a:xfrm>
          <a:prstGeom xmlns:a="http://schemas.openxmlformats.org/drawingml/2006/main" prst="rect">
            <a:avLst/>
          </a:prstGeom>
          <a:solidFill xmlns:a="http://schemas.openxmlformats.org/drawingml/2006/main">
            <a:srgbClr val="292B2D"/>
          </a:solidFill>
          <a:ln xmlns:a="http://schemas.openxmlformats.org/drawingml/2006/main" w="19050">
            <a:solidFill>
              <a:srgbClr val="A8ADB0"/>
            </a:solidFill>
            <a:prstDash val="solid"/>
          </a:ln>
        </p:spPr>
      </p:sp>
      <p:sp>
        <p:nvSpPr>
          <p:cNvPr id="21" name="Burner 1 outer">
            <a:extLst xmlns:a="http://schemas.openxmlformats.org/drawingml/2006/main">
              <a:ext uri="{FF2B5EF4-FFF2-40B4-BE49-F238E27FC236}">
                <a16:creationId xmlns:a16="http://schemas.microsoft.com/office/drawing/2014/main" id="{7107EF56-D810-4A74-B51E-8F38000A7BED}"/>
              </a:ext>
            </a:extLst>
          </p:cNvPr>
          <p:cNvSpPr>
            <a:spLocks xmlns:a="http://schemas.openxmlformats.org/drawingml/2006/main" noGrp="1"/>
          </p:cNvSpPr>
          <p:nvPr/>
        </p:nvSpPr>
        <p:spPr>
          <a:xfrm xmlns:a="http://schemas.openxmlformats.org/drawingml/2006/main">
            <a:off x="8048625" y="2476500"/>
            <a:ext cx="247650" cy="247650"/>
          </a:xfrm>
          <a:prstGeom xmlns:a="http://schemas.openxmlformats.org/drawingml/2006/main" prst="ellipse">
            <a:avLst/>
          </a:prstGeom>
          <a:solidFill xmlns:a="http://schemas.openxmlformats.org/drawingml/2006/main">
            <a:srgbClr val="292B2D"/>
          </a:solidFill>
          <a:ln xmlns:a="http://schemas.openxmlformats.org/drawingml/2006/main" w="12383">
            <a:solidFill>
              <a:srgbClr val="A8ADB0"/>
            </a:solidFill>
            <a:prstDash val="solid"/>
          </a:ln>
        </p:spPr>
      </p:sp>
      <p:sp>
        <p:nvSpPr>
          <p:cNvPr id="22" name="Burner 1 ring">
            <a:extLst xmlns:a="http://schemas.openxmlformats.org/drawingml/2006/main">
              <a:ext uri="{FF2B5EF4-FFF2-40B4-BE49-F238E27FC236}">
                <a16:creationId xmlns:a16="http://schemas.microsoft.com/office/drawing/2014/main" id="{459D3E71-46ED-415F-BE77-495898E34432}"/>
              </a:ext>
            </a:extLst>
          </p:cNvPr>
          <p:cNvSpPr>
            <a:spLocks xmlns:a="http://schemas.openxmlformats.org/drawingml/2006/main" noGrp="1"/>
          </p:cNvSpPr>
          <p:nvPr/>
        </p:nvSpPr>
        <p:spPr>
          <a:xfrm xmlns:a="http://schemas.openxmlformats.org/drawingml/2006/main">
            <a:off x="8104346" y="2532221"/>
            <a:ext cx="136208" cy="136208"/>
          </a:xfrm>
          <a:prstGeom xmlns:a="http://schemas.openxmlformats.org/drawingml/2006/main" prst="ellipse">
            <a:avLst/>
          </a:prstGeom>
          <a:solidFill xmlns:a="http://schemas.openxmlformats.org/drawingml/2006/main">
            <a:srgbClr val="A8ADB0"/>
          </a:solidFill>
          <a:ln xmlns:a="http://schemas.openxmlformats.org/drawingml/2006/main" w="9525">
            <a:solidFill>
              <a:srgbClr val="292B2D"/>
            </a:solidFill>
            <a:prstDash val="solid"/>
          </a:ln>
        </p:spPr>
      </p:sp>
      <p:sp>
        <p:nvSpPr>
          <p:cNvPr id="23" name="Burner 1 grate H">
            <a:extLst xmlns:a="http://schemas.openxmlformats.org/drawingml/2006/main">
              <a:ext uri="{FF2B5EF4-FFF2-40B4-BE49-F238E27FC236}">
                <a16:creationId xmlns:a16="http://schemas.microsoft.com/office/drawing/2014/main" id="{8EE3DC90-D0C9-4A04-9787-BB2609C16543}"/>
              </a:ext>
            </a:extLst>
          </p:cNvPr>
          <p:cNvSpPr>
            <a:spLocks xmlns:a="http://schemas.openxmlformats.org/drawingml/2006/main" noGrp="1"/>
          </p:cNvSpPr>
          <p:nvPr/>
        </p:nvSpPr>
        <p:spPr>
          <a:xfrm xmlns:a="http://schemas.openxmlformats.org/drawingml/2006/main" flipH="0" flipV="0">
            <a:off x="7991475" y="2600325"/>
            <a:ext cx="361950" cy="0"/>
          </a:xfrm>
          <a:prstGeom xmlns:a="http://schemas.openxmlformats.org/drawingml/2006/main" prst="line">
            <a:avLst/>
          </a:prstGeom>
          <a:noFill xmlns:a="http://schemas.openxmlformats.org/drawingml/2006/main"/>
          <a:ln xmlns:a="http://schemas.openxmlformats.org/drawingml/2006/main" w="28575">
            <a:solidFill>
              <a:srgbClr val="A8ADB0"/>
            </a:solidFill>
            <a:prstDash val="solid"/>
          </a:ln>
        </p:spPr>
      </p:sp>
      <p:sp>
        <p:nvSpPr>
          <p:cNvPr id="24" name="Burner 1 grate V">
            <a:extLst xmlns:a="http://schemas.openxmlformats.org/drawingml/2006/main">
              <a:ext uri="{FF2B5EF4-FFF2-40B4-BE49-F238E27FC236}">
                <a16:creationId xmlns:a16="http://schemas.microsoft.com/office/drawing/2014/main" id="{A43F1D58-4EE0-48E5-B1FD-517B8FAD74EF}"/>
              </a:ext>
            </a:extLst>
          </p:cNvPr>
          <p:cNvSpPr>
            <a:spLocks xmlns:a="http://schemas.openxmlformats.org/drawingml/2006/main" noGrp="1"/>
          </p:cNvSpPr>
          <p:nvPr/>
        </p:nvSpPr>
        <p:spPr>
          <a:xfrm xmlns:a="http://schemas.openxmlformats.org/drawingml/2006/main" flipH="0" flipV="0">
            <a:off x="8172450" y="2419350"/>
            <a:ext cx="0" cy="361950"/>
          </a:xfrm>
          <a:prstGeom xmlns:a="http://schemas.openxmlformats.org/drawingml/2006/main" prst="line">
            <a:avLst/>
          </a:prstGeom>
          <a:noFill xmlns:a="http://schemas.openxmlformats.org/drawingml/2006/main"/>
          <a:ln xmlns:a="http://schemas.openxmlformats.org/drawingml/2006/main" w="28575">
            <a:solidFill>
              <a:srgbClr val="A8ADB0"/>
            </a:solidFill>
            <a:prstDash val="solid"/>
          </a:ln>
        </p:spPr>
      </p:sp>
      <p:sp>
        <p:nvSpPr>
          <p:cNvPr id="25" name="Burner 2 outer">
            <a:extLst xmlns:a="http://schemas.openxmlformats.org/drawingml/2006/main">
              <a:ext uri="{FF2B5EF4-FFF2-40B4-BE49-F238E27FC236}">
                <a16:creationId xmlns:a16="http://schemas.microsoft.com/office/drawing/2014/main" id="{91D935CC-0506-4AF2-A091-E2E08F82CBA8}"/>
              </a:ext>
            </a:extLst>
          </p:cNvPr>
          <p:cNvSpPr>
            <a:spLocks xmlns:a="http://schemas.openxmlformats.org/drawingml/2006/main" noGrp="1"/>
          </p:cNvSpPr>
          <p:nvPr/>
        </p:nvSpPr>
        <p:spPr>
          <a:xfrm xmlns:a="http://schemas.openxmlformats.org/drawingml/2006/main">
            <a:off x="9334500" y="2476500"/>
            <a:ext cx="247650" cy="247650"/>
          </a:xfrm>
          <a:prstGeom xmlns:a="http://schemas.openxmlformats.org/drawingml/2006/main" prst="ellipse">
            <a:avLst/>
          </a:prstGeom>
          <a:solidFill xmlns:a="http://schemas.openxmlformats.org/drawingml/2006/main">
            <a:srgbClr val="292B2D"/>
          </a:solidFill>
          <a:ln xmlns:a="http://schemas.openxmlformats.org/drawingml/2006/main" w="12383">
            <a:solidFill>
              <a:srgbClr val="A8ADB0"/>
            </a:solidFill>
            <a:prstDash val="solid"/>
          </a:ln>
        </p:spPr>
      </p:sp>
      <p:sp>
        <p:nvSpPr>
          <p:cNvPr id="26" name="Burner 2 ring">
            <a:extLst xmlns:a="http://schemas.openxmlformats.org/drawingml/2006/main">
              <a:ext uri="{FF2B5EF4-FFF2-40B4-BE49-F238E27FC236}">
                <a16:creationId xmlns:a16="http://schemas.microsoft.com/office/drawing/2014/main" id="{4247E2F7-4B9E-42CB-B9B8-6C925C4EBCF7}"/>
              </a:ext>
            </a:extLst>
          </p:cNvPr>
          <p:cNvSpPr>
            <a:spLocks xmlns:a="http://schemas.openxmlformats.org/drawingml/2006/main" noGrp="1"/>
          </p:cNvSpPr>
          <p:nvPr/>
        </p:nvSpPr>
        <p:spPr>
          <a:xfrm xmlns:a="http://schemas.openxmlformats.org/drawingml/2006/main">
            <a:off x="9390221" y="2532221"/>
            <a:ext cx="136208" cy="136208"/>
          </a:xfrm>
          <a:prstGeom xmlns:a="http://schemas.openxmlformats.org/drawingml/2006/main" prst="ellipse">
            <a:avLst/>
          </a:prstGeom>
          <a:solidFill xmlns:a="http://schemas.openxmlformats.org/drawingml/2006/main">
            <a:srgbClr val="A8ADB0"/>
          </a:solidFill>
          <a:ln xmlns:a="http://schemas.openxmlformats.org/drawingml/2006/main" w="9525">
            <a:solidFill>
              <a:srgbClr val="292B2D"/>
            </a:solidFill>
            <a:prstDash val="solid"/>
          </a:ln>
        </p:spPr>
      </p:sp>
      <p:sp>
        <p:nvSpPr>
          <p:cNvPr id="27" name="Burner 2 grate H">
            <a:extLst xmlns:a="http://schemas.openxmlformats.org/drawingml/2006/main">
              <a:ext uri="{FF2B5EF4-FFF2-40B4-BE49-F238E27FC236}">
                <a16:creationId xmlns:a16="http://schemas.microsoft.com/office/drawing/2014/main" id="{59379FD6-8027-44B2-A42A-C7AB938E8F76}"/>
              </a:ext>
            </a:extLst>
          </p:cNvPr>
          <p:cNvSpPr>
            <a:spLocks xmlns:a="http://schemas.openxmlformats.org/drawingml/2006/main" noGrp="1"/>
          </p:cNvSpPr>
          <p:nvPr/>
        </p:nvSpPr>
        <p:spPr>
          <a:xfrm xmlns:a="http://schemas.openxmlformats.org/drawingml/2006/main" flipH="0" flipV="0">
            <a:off x="9277350" y="2600325"/>
            <a:ext cx="361950" cy="0"/>
          </a:xfrm>
          <a:prstGeom xmlns:a="http://schemas.openxmlformats.org/drawingml/2006/main" prst="line">
            <a:avLst/>
          </a:prstGeom>
          <a:noFill xmlns:a="http://schemas.openxmlformats.org/drawingml/2006/main"/>
          <a:ln xmlns:a="http://schemas.openxmlformats.org/drawingml/2006/main" w="28575">
            <a:solidFill>
              <a:srgbClr val="A8ADB0"/>
            </a:solidFill>
            <a:prstDash val="solid"/>
          </a:ln>
        </p:spPr>
      </p:sp>
      <p:sp>
        <p:nvSpPr>
          <p:cNvPr id="28" name="Burner 2 grate V">
            <a:extLst xmlns:a="http://schemas.openxmlformats.org/drawingml/2006/main">
              <a:ext uri="{FF2B5EF4-FFF2-40B4-BE49-F238E27FC236}">
                <a16:creationId xmlns:a16="http://schemas.microsoft.com/office/drawing/2014/main" id="{A61879B0-F619-40D4-9C8E-E5367C5B2F3D}"/>
              </a:ext>
            </a:extLst>
          </p:cNvPr>
          <p:cNvSpPr>
            <a:spLocks xmlns:a="http://schemas.openxmlformats.org/drawingml/2006/main" noGrp="1"/>
          </p:cNvSpPr>
          <p:nvPr/>
        </p:nvSpPr>
        <p:spPr>
          <a:xfrm xmlns:a="http://schemas.openxmlformats.org/drawingml/2006/main" flipH="0" flipV="0">
            <a:off x="9458325" y="2419350"/>
            <a:ext cx="0" cy="361950"/>
          </a:xfrm>
          <a:prstGeom xmlns:a="http://schemas.openxmlformats.org/drawingml/2006/main" prst="line">
            <a:avLst/>
          </a:prstGeom>
          <a:noFill xmlns:a="http://schemas.openxmlformats.org/drawingml/2006/main"/>
          <a:ln xmlns:a="http://schemas.openxmlformats.org/drawingml/2006/main" w="28575">
            <a:solidFill>
              <a:srgbClr val="A8ADB0"/>
            </a:solidFill>
            <a:prstDash val="solid"/>
          </a:ln>
        </p:spPr>
      </p:sp>
      <p:sp>
        <p:nvSpPr>
          <p:cNvPr id="29" name="Burner 3 outer">
            <a:extLst xmlns:a="http://schemas.openxmlformats.org/drawingml/2006/main">
              <a:ext uri="{FF2B5EF4-FFF2-40B4-BE49-F238E27FC236}">
                <a16:creationId xmlns:a16="http://schemas.microsoft.com/office/drawing/2014/main" id="{C982B21A-9825-4EDB-884E-7CE2226F58FE}"/>
              </a:ext>
            </a:extLst>
          </p:cNvPr>
          <p:cNvSpPr>
            <a:spLocks xmlns:a="http://schemas.openxmlformats.org/drawingml/2006/main" noGrp="1"/>
          </p:cNvSpPr>
          <p:nvPr/>
        </p:nvSpPr>
        <p:spPr>
          <a:xfrm xmlns:a="http://schemas.openxmlformats.org/drawingml/2006/main">
            <a:off x="8048625" y="2905125"/>
            <a:ext cx="247650" cy="247650"/>
          </a:xfrm>
          <a:prstGeom xmlns:a="http://schemas.openxmlformats.org/drawingml/2006/main" prst="ellipse">
            <a:avLst/>
          </a:prstGeom>
          <a:solidFill xmlns:a="http://schemas.openxmlformats.org/drawingml/2006/main">
            <a:srgbClr val="292B2D"/>
          </a:solidFill>
          <a:ln xmlns:a="http://schemas.openxmlformats.org/drawingml/2006/main" w="12383">
            <a:solidFill>
              <a:srgbClr val="A8ADB0"/>
            </a:solidFill>
            <a:prstDash val="solid"/>
          </a:ln>
        </p:spPr>
      </p:sp>
      <p:sp>
        <p:nvSpPr>
          <p:cNvPr id="30" name="Burner 3 ring">
            <a:extLst xmlns:a="http://schemas.openxmlformats.org/drawingml/2006/main">
              <a:ext uri="{FF2B5EF4-FFF2-40B4-BE49-F238E27FC236}">
                <a16:creationId xmlns:a16="http://schemas.microsoft.com/office/drawing/2014/main" id="{A8649211-1710-48DB-8D7E-201B4D229CB2}"/>
              </a:ext>
            </a:extLst>
          </p:cNvPr>
          <p:cNvSpPr>
            <a:spLocks xmlns:a="http://schemas.openxmlformats.org/drawingml/2006/main" noGrp="1"/>
          </p:cNvSpPr>
          <p:nvPr/>
        </p:nvSpPr>
        <p:spPr>
          <a:xfrm xmlns:a="http://schemas.openxmlformats.org/drawingml/2006/main">
            <a:off x="8104346" y="2960846"/>
            <a:ext cx="136208" cy="136208"/>
          </a:xfrm>
          <a:prstGeom xmlns:a="http://schemas.openxmlformats.org/drawingml/2006/main" prst="ellipse">
            <a:avLst/>
          </a:prstGeom>
          <a:solidFill xmlns:a="http://schemas.openxmlformats.org/drawingml/2006/main">
            <a:srgbClr val="A8ADB0"/>
          </a:solidFill>
          <a:ln xmlns:a="http://schemas.openxmlformats.org/drawingml/2006/main" w="9525">
            <a:solidFill>
              <a:srgbClr val="292B2D"/>
            </a:solidFill>
            <a:prstDash val="solid"/>
          </a:ln>
        </p:spPr>
      </p:sp>
      <p:sp>
        <p:nvSpPr>
          <p:cNvPr id="31" name="Burner 3 grate H">
            <a:extLst xmlns:a="http://schemas.openxmlformats.org/drawingml/2006/main">
              <a:ext uri="{FF2B5EF4-FFF2-40B4-BE49-F238E27FC236}">
                <a16:creationId xmlns:a16="http://schemas.microsoft.com/office/drawing/2014/main" id="{12DF94CF-71CE-4428-B80C-37618C2187F8}"/>
              </a:ext>
            </a:extLst>
          </p:cNvPr>
          <p:cNvSpPr>
            <a:spLocks xmlns:a="http://schemas.openxmlformats.org/drawingml/2006/main" noGrp="1"/>
          </p:cNvSpPr>
          <p:nvPr/>
        </p:nvSpPr>
        <p:spPr>
          <a:xfrm xmlns:a="http://schemas.openxmlformats.org/drawingml/2006/main" flipH="0" flipV="0">
            <a:off x="7991475" y="3028950"/>
            <a:ext cx="361950" cy="0"/>
          </a:xfrm>
          <a:prstGeom xmlns:a="http://schemas.openxmlformats.org/drawingml/2006/main" prst="line">
            <a:avLst/>
          </a:prstGeom>
          <a:noFill xmlns:a="http://schemas.openxmlformats.org/drawingml/2006/main"/>
          <a:ln xmlns:a="http://schemas.openxmlformats.org/drawingml/2006/main" w="28575">
            <a:solidFill>
              <a:srgbClr val="A8ADB0"/>
            </a:solidFill>
            <a:prstDash val="solid"/>
          </a:ln>
        </p:spPr>
      </p:sp>
      <p:sp>
        <p:nvSpPr>
          <p:cNvPr id="32" name="Burner 3 grate V">
            <a:extLst xmlns:a="http://schemas.openxmlformats.org/drawingml/2006/main">
              <a:ext uri="{FF2B5EF4-FFF2-40B4-BE49-F238E27FC236}">
                <a16:creationId xmlns:a16="http://schemas.microsoft.com/office/drawing/2014/main" id="{300FCB54-773E-4283-A114-BD6B1A505CC8}"/>
              </a:ext>
            </a:extLst>
          </p:cNvPr>
          <p:cNvSpPr>
            <a:spLocks xmlns:a="http://schemas.openxmlformats.org/drawingml/2006/main" noGrp="1"/>
          </p:cNvSpPr>
          <p:nvPr/>
        </p:nvSpPr>
        <p:spPr>
          <a:xfrm xmlns:a="http://schemas.openxmlformats.org/drawingml/2006/main" flipH="0" flipV="0">
            <a:off x="8172450" y="2847975"/>
            <a:ext cx="0" cy="361950"/>
          </a:xfrm>
          <a:prstGeom xmlns:a="http://schemas.openxmlformats.org/drawingml/2006/main" prst="line">
            <a:avLst/>
          </a:prstGeom>
          <a:noFill xmlns:a="http://schemas.openxmlformats.org/drawingml/2006/main"/>
          <a:ln xmlns:a="http://schemas.openxmlformats.org/drawingml/2006/main" w="28575">
            <a:solidFill>
              <a:srgbClr val="A8ADB0"/>
            </a:solidFill>
            <a:prstDash val="solid"/>
          </a:ln>
        </p:spPr>
      </p:sp>
      <p:sp>
        <p:nvSpPr>
          <p:cNvPr id="33" name="Burner 4 outer">
            <a:extLst xmlns:a="http://schemas.openxmlformats.org/drawingml/2006/main">
              <a:ext uri="{FF2B5EF4-FFF2-40B4-BE49-F238E27FC236}">
                <a16:creationId xmlns:a16="http://schemas.microsoft.com/office/drawing/2014/main" id="{7C52094D-9AC6-41C3-BD66-D9BF7C12DAF2}"/>
              </a:ext>
            </a:extLst>
          </p:cNvPr>
          <p:cNvSpPr>
            <a:spLocks xmlns:a="http://schemas.openxmlformats.org/drawingml/2006/main" noGrp="1"/>
          </p:cNvSpPr>
          <p:nvPr/>
        </p:nvSpPr>
        <p:spPr>
          <a:xfrm xmlns:a="http://schemas.openxmlformats.org/drawingml/2006/main">
            <a:off x="9334500" y="2905125"/>
            <a:ext cx="247650" cy="247650"/>
          </a:xfrm>
          <a:prstGeom xmlns:a="http://schemas.openxmlformats.org/drawingml/2006/main" prst="ellipse">
            <a:avLst/>
          </a:prstGeom>
          <a:solidFill xmlns:a="http://schemas.openxmlformats.org/drawingml/2006/main">
            <a:srgbClr val="292B2D"/>
          </a:solidFill>
          <a:ln xmlns:a="http://schemas.openxmlformats.org/drawingml/2006/main" w="12383">
            <a:solidFill>
              <a:srgbClr val="A8ADB0"/>
            </a:solidFill>
            <a:prstDash val="solid"/>
          </a:ln>
        </p:spPr>
      </p:sp>
      <p:sp>
        <p:nvSpPr>
          <p:cNvPr id="34" name="Burner 4 ring">
            <a:extLst xmlns:a="http://schemas.openxmlformats.org/drawingml/2006/main">
              <a:ext uri="{FF2B5EF4-FFF2-40B4-BE49-F238E27FC236}">
                <a16:creationId xmlns:a16="http://schemas.microsoft.com/office/drawing/2014/main" id="{6415109F-3033-4D48-A9B8-C66F0831ECDC}"/>
              </a:ext>
            </a:extLst>
          </p:cNvPr>
          <p:cNvSpPr>
            <a:spLocks xmlns:a="http://schemas.openxmlformats.org/drawingml/2006/main" noGrp="1"/>
          </p:cNvSpPr>
          <p:nvPr/>
        </p:nvSpPr>
        <p:spPr>
          <a:xfrm xmlns:a="http://schemas.openxmlformats.org/drawingml/2006/main">
            <a:off x="9390221" y="2960846"/>
            <a:ext cx="136208" cy="136208"/>
          </a:xfrm>
          <a:prstGeom xmlns:a="http://schemas.openxmlformats.org/drawingml/2006/main" prst="ellipse">
            <a:avLst/>
          </a:prstGeom>
          <a:solidFill xmlns:a="http://schemas.openxmlformats.org/drawingml/2006/main">
            <a:srgbClr val="A8ADB0"/>
          </a:solidFill>
          <a:ln xmlns:a="http://schemas.openxmlformats.org/drawingml/2006/main" w="9525">
            <a:solidFill>
              <a:srgbClr val="292B2D"/>
            </a:solidFill>
            <a:prstDash val="solid"/>
          </a:ln>
        </p:spPr>
      </p:sp>
      <p:sp>
        <p:nvSpPr>
          <p:cNvPr id="35" name="Burner 4 grate H">
            <a:extLst xmlns:a="http://schemas.openxmlformats.org/drawingml/2006/main">
              <a:ext uri="{FF2B5EF4-FFF2-40B4-BE49-F238E27FC236}">
                <a16:creationId xmlns:a16="http://schemas.microsoft.com/office/drawing/2014/main" id="{B2879E16-D403-46DB-ACC1-D1ED031CE65D}"/>
              </a:ext>
            </a:extLst>
          </p:cNvPr>
          <p:cNvSpPr>
            <a:spLocks xmlns:a="http://schemas.openxmlformats.org/drawingml/2006/main" noGrp="1"/>
          </p:cNvSpPr>
          <p:nvPr/>
        </p:nvSpPr>
        <p:spPr>
          <a:xfrm xmlns:a="http://schemas.openxmlformats.org/drawingml/2006/main" flipH="0" flipV="0">
            <a:off x="9277350" y="3028950"/>
            <a:ext cx="361950" cy="0"/>
          </a:xfrm>
          <a:prstGeom xmlns:a="http://schemas.openxmlformats.org/drawingml/2006/main" prst="line">
            <a:avLst/>
          </a:prstGeom>
          <a:noFill xmlns:a="http://schemas.openxmlformats.org/drawingml/2006/main"/>
          <a:ln xmlns:a="http://schemas.openxmlformats.org/drawingml/2006/main" w="28575">
            <a:solidFill>
              <a:srgbClr val="A8ADB0"/>
            </a:solidFill>
            <a:prstDash val="solid"/>
          </a:ln>
        </p:spPr>
      </p:sp>
      <p:sp>
        <p:nvSpPr>
          <p:cNvPr id="36" name="Burner 4 grate V">
            <a:extLst xmlns:a="http://schemas.openxmlformats.org/drawingml/2006/main">
              <a:ext uri="{FF2B5EF4-FFF2-40B4-BE49-F238E27FC236}">
                <a16:creationId xmlns:a16="http://schemas.microsoft.com/office/drawing/2014/main" id="{86C421EF-F8C5-4CCE-8FDA-C41C9FA253B4}"/>
              </a:ext>
            </a:extLst>
          </p:cNvPr>
          <p:cNvSpPr>
            <a:spLocks xmlns:a="http://schemas.openxmlformats.org/drawingml/2006/main" noGrp="1"/>
          </p:cNvSpPr>
          <p:nvPr/>
        </p:nvSpPr>
        <p:spPr>
          <a:xfrm xmlns:a="http://schemas.openxmlformats.org/drawingml/2006/main" flipH="0" flipV="0">
            <a:off x="9458325" y="2847975"/>
            <a:ext cx="0" cy="361950"/>
          </a:xfrm>
          <a:prstGeom xmlns:a="http://schemas.openxmlformats.org/drawingml/2006/main" prst="line">
            <a:avLst/>
          </a:prstGeom>
          <a:noFill xmlns:a="http://schemas.openxmlformats.org/drawingml/2006/main"/>
          <a:ln xmlns:a="http://schemas.openxmlformats.org/drawingml/2006/main" w="28575">
            <a:solidFill>
              <a:srgbClr val="A8ADB0"/>
            </a:solidFill>
            <a:prstDash val="solid"/>
          </a:ln>
        </p:spPr>
      </p:sp>
      <p:sp>
        <p:nvSpPr>
          <p:cNvPr id="37" name="Hob plan label">
            <a:extLst xmlns:a="http://schemas.openxmlformats.org/drawingml/2006/main">
              <a:ext uri="{FF2B5EF4-FFF2-40B4-BE49-F238E27FC236}">
                <a16:creationId xmlns:a16="http://schemas.microsoft.com/office/drawing/2014/main" id="{5A2FFD73-0B0F-49F0-ADCA-230BEFA6202E}"/>
              </a:ext>
            </a:extLst>
          </p:cNvPr>
          <p:cNvSpPr>
            <a:spLocks xmlns:a="http://schemas.openxmlformats.org/drawingml/2006/main" noGrp="1"/>
          </p:cNvSpPr>
          <p:nvPr/>
        </p:nvSpPr>
        <p:spPr>
          <a:xfrm xmlns:a="http://schemas.openxmlformats.org/drawingml/2006/main">
            <a:off x="7410450" y="35242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2B2D"/>
                </a:solidFill>
                <a:latin typeface="Helvetica Neue"/>
                <a:ea typeface="Helvetica Neue"/>
                <a:cs typeface="Helvetica Neue"/>
              </a:defRPr>
            </a:pPr>
            <a:r>
              <a:rPr sz="1650" b="0">
                <a:solidFill>
                  <a:srgbClr val="292B2D"/>
                </a:solidFill>
                <a:latin typeface="Helvetica Neue"/>
                <a:ea typeface="Helvetica Neue"/>
                <a:cs typeface="Helvetica Neue"/>
              </a:rPr>
              <a:t>Four-burner hob</a:t>
            </a:r>
          </a:p>
        </p:txBody>
      </p:sp>
      <p:sp>
        <p:nvSpPr>
          <p:cNvPr id="38" name="Corner hardware footprint">
            <a:extLst xmlns:a="http://schemas.openxmlformats.org/drawingml/2006/main">
              <a:ext uri="{FF2B5EF4-FFF2-40B4-BE49-F238E27FC236}">
                <a16:creationId xmlns:a16="http://schemas.microsoft.com/office/drawing/2014/main" id="{9178BDEA-81A1-4A1F-B2FD-B10B67D53D2A}"/>
              </a:ext>
            </a:extLst>
          </p:cNvPr>
          <p:cNvSpPr>
            <a:spLocks xmlns:a="http://schemas.openxmlformats.org/drawingml/2006/main" noGrp="1"/>
          </p:cNvSpPr>
          <p:nvPr/>
        </p:nvSpPr>
        <p:spPr>
          <a:xfrm xmlns:a="http://schemas.openxmlformats.org/drawingml/2006/main">
            <a:off x="9048750" y="2190750"/>
            <a:ext cx="1238250" cy="1238250"/>
          </a:xfrm>
          <a:prstGeom xmlns:a="http://schemas.openxmlformats.org/drawingml/2006/main" prst="rect">
            <a:avLst/>
          </a:prstGeom>
          <a:noFill xmlns:a="http://schemas.openxmlformats.org/drawingml/2006/main"/>
          <a:ln xmlns:a="http://schemas.openxmlformats.org/drawingml/2006/main" w="28575">
            <a:solidFill>
              <a:srgbClr val="457A90"/>
            </a:solidFill>
            <a:prstDash val="solid"/>
          </a:ln>
        </p:spPr>
      </p:sp>
      <p:sp>
        <p:nvSpPr>
          <p:cNvPr id="39" name="Corner plan label">
            <a:extLst xmlns:a="http://schemas.openxmlformats.org/drawingml/2006/main">
              <a:ext uri="{FF2B5EF4-FFF2-40B4-BE49-F238E27FC236}">
                <a16:creationId xmlns:a16="http://schemas.microsoft.com/office/drawing/2014/main" id="{C3BA8EE7-795A-40A7-B65E-8B9004C319E5}"/>
              </a:ext>
            </a:extLst>
          </p:cNvPr>
          <p:cNvSpPr>
            <a:spLocks xmlns:a="http://schemas.openxmlformats.org/drawingml/2006/main" noGrp="1"/>
          </p:cNvSpPr>
          <p:nvPr/>
        </p:nvSpPr>
        <p:spPr>
          <a:xfrm xmlns:a="http://schemas.openxmlformats.org/drawingml/2006/main">
            <a:off x="7391400" y="4029075"/>
            <a:ext cx="1762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457A90"/>
                </a:solidFill>
                <a:latin typeface="Helvetica Neue"/>
                <a:ea typeface="Helvetica Neue"/>
                <a:cs typeface="Helvetica Neue"/>
              </a:defRPr>
            </a:pPr>
            <a:r>
              <a:rPr sz="1650" b="1">
                <a:solidFill>
                  <a:srgbClr val="457A90"/>
                </a:solidFill>
                <a:latin typeface="Helvetica Neue"/>
                <a:ea typeface="Helvetica Neue"/>
                <a:cs typeface="Helvetica Neue"/>
              </a:rPr>
              <a:t>Corner storage</a:t>
            </a:r>
          </a:p>
        </p:txBody>
      </p:sp>
      <p:sp>
        <p:nvSpPr>
          <p:cNvPr id="40" name="Corner access direction">
            <a:extLst xmlns:a="http://schemas.openxmlformats.org/drawingml/2006/main">
              <a:ext uri="{FF2B5EF4-FFF2-40B4-BE49-F238E27FC236}">
                <a16:creationId xmlns:a16="http://schemas.microsoft.com/office/drawing/2014/main" id="{866D1882-FA23-487F-9990-194F345B7FDD}"/>
              </a:ext>
            </a:extLst>
          </p:cNvPr>
          <p:cNvSpPr>
            <a:spLocks xmlns:a="http://schemas.openxmlformats.org/drawingml/2006/main" noGrp="1"/>
          </p:cNvSpPr>
          <p:nvPr/>
        </p:nvSpPr>
        <p:spPr>
          <a:xfrm xmlns:a="http://schemas.openxmlformats.org/drawingml/2006/main" flipH="1" flipV="0">
            <a:off x="8696325" y="3619500"/>
            <a:ext cx="400050" cy="390525"/>
          </a:xfrm>
          <a:prstGeom xmlns:a="http://schemas.openxmlformats.org/drawingml/2006/main" prst="line">
            <a:avLst/>
          </a:prstGeom>
          <a:noFill xmlns:a="http://schemas.openxmlformats.org/drawingml/2006/main"/>
          <a:ln xmlns:a="http://schemas.openxmlformats.org/drawingml/2006/main" w="19050">
            <a:solidFill>
              <a:srgbClr val="457A90"/>
            </a:solidFill>
            <a:prstDash val="solid"/>
          </a:ln>
        </p:spPr>
      </p:sp>
      <p:sp>
        <p:nvSpPr>
          <p:cNvPr id="41" name="Sink plan rim">
            <a:extLst xmlns:a="http://schemas.openxmlformats.org/drawingml/2006/main">
              <a:ext uri="{FF2B5EF4-FFF2-40B4-BE49-F238E27FC236}">
                <a16:creationId xmlns:a16="http://schemas.microsoft.com/office/drawing/2014/main" id="{B62C1F37-52C2-4802-A4EA-7F055289E054}"/>
              </a:ext>
            </a:extLst>
          </p:cNvPr>
          <p:cNvSpPr>
            <a:spLocks xmlns:a="http://schemas.openxmlformats.org/drawingml/2006/main" noGrp="1"/>
          </p:cNvSpPr>
          <p:nvPr/>
        </p:nvSpPr>
        <p:spPr>
          <a:xfrm xmlns:a="http://schemas.openxmlformats.org/drawingml/2006/main">
            <a:off x="9229725" y="4191000"/>
            <a:ext cx="895350" cy="1581150"/>
          </a:xfrm>
          <a:prstGeom xmlns:a="http://schemas.openxmlformats.org/drawingml/2006/main" prst="rect">
            <a:avLst/>
          </a:prstGeom>
          <a:solidFill xmlns:a="http://schemas.openxmlformats.org/drawingml/2006/main">
            <a:srgbClr val="A8ADB0"/>
          </a:solidFill>
          <a:ln xmlns:a="http://schemas.openxmlformats.org/drawingml/2006/main" w="14288">
            <a:solidFill>
              <a:srgbClr val="6B5543"/>
            </a:solidFill>
            <a:prstDash val="solid"/>
          </a:ln>
        </p:spPr>
      </p:sp>
      <p:sp>
        <p:nvSpPr>
          <p:cNvPr id="42" name="Sink plan bowl 1">
            <a:extLst xmlns:a="http://schemas.openxmlformats.org/drawingml/2006/main">
              <a:ext uri="{FF2B5EF4-FFF2-40B4-BE49-F238E27FC236}">
                <a16:creationId xmlns:a16="http://schemas.microsoft.com/office/drawing/2014/main" id="{4945B6B4-05D8-40CC-AA32-2AFED05CD0CC}"/>
              </a:ext>
            </a:extLst>
          </p:cNvPr>
          <p:cNvSpPr>
            <a:spLocks xmlns:a="http://schemas.openxmlformats.org/drawingml/2006/main" noGrp="1"/>
          </p:cNvSpPr>
          <p:nvPr/>
        </p:nvSpPr>
        <p:spPr>
          <a:xfrm xmlns:a="http://schemas.openxmlformats.org/drawingml/2006/main">
            <a:off x="9305925" y="4267200"/>
            <a:ext cx="742950" cy="676275"/>
          </a:xfrm>
          <a:prstGeom xmlns:a="http://schemas.openxmlformats.org/drawingml/2006/main" prst="rect">
            <a:avLst/>
          </a:prstGeom>
          <a:solidFill xmlns:a="http://schemas.openxmlformats.org/drawingml/2006/main">
            <a:srgbClr val="1C3042"/>
          </a:solidFill>
          <a:ln xmlns:a="http://schemas.openxmlformats.org/drawingml/2006/main" w="9525">
            <a:solidFill>
              <a:srgbClr val="A8ADB0"/>
            </a:solidFill>
            <a:prstDash val="solid"/>
          </a:ln>
        </p:spPr>
      </p:sp>
      <p:sp>
        <p:nvSpPr>
          <p:cNvPr id="43" name="Sink plan bowl 2">
            <a:extLst xmlns:a="http://schemas.openxmlformats.org/drawingml/2006/main">
              <a:ext uri="{FF2B5EF4-FFF2-40B4-BE49-F238E27FC236}">
                <a16:creationId xmlns:a16="http://schemas.microsoft.com/office/drawing/2014/main" id="{86123CCE-656A-4D8B-A7AD-62C94D262C3C}"/>
              </a:ext>
            </a:extLst>
          </p:cNvPr>
          <p:cNvSpPr>
            <a:spLocks xmlns:a="http://schemas.openxmlformats.org/drawingml/2006/main" noGrp="1"/>
          </p:cNvSpPr>
          <p:nvPr/>
        </p:nvSpPr>
        <p:spPr>
          <a:xfrm xmlns:a="http://schemas.openxmlformats.org/drawingml/2006/main">
            <a:off x="9305925" y="5010150"/>
            <a:ext cx="742950" cy="676275"/>
          </a:xfrm>
          <a:prstGeom xmlns:a="http://schemas.openxmlformats.org/drawingml/2006/main" prst="rect">
            <a:avLst/>
          </a:prstGeom>
          <a:solidFill xmlns:a="http://schemas.openxmlformats.org/drawingml/2006/main">
            <a:srgbClr val="1C3042"/>
          </a:solidFill>
          <a:ln xmlns:a="http://schemas.openxmlformats.org/drawingml/2006/main" w="9525">
            <a:solidFill>
              <a:srgbClr val="A8ADB0"/>
            </a:solidFill>
            <a:prstDash val="solid"/>
          </a:ln>
        </p:spPr>
      </p:sp>
      <p:sp>
        <p:nvSpPr>
          <p:cNvPr id="44" name="Sink plan label">
            <a:extLst xmlns:a="http://schemas.openxmlformats.org/drawingml/2006/main">
              <a:ext uri="{FF2B5EF4-FFF2-40B4-BE49-F238E27FC236}">
                <a16:creationId xmlns:a16="http://schemas.microsoft.com/office/drawing/2014/main" id="{A4212F2B-506E-4D86-8505-7D6DD401881B}"/>
              </a:ext>
            </a:extLst>
          </p:cNvPr>
          <p:cNvSpPr>
            <a:spLocks xmlns:a="http://schemas.openxmlformats.org/drawingml/2006/main" noGrp="1"/>
          </p:cNvSpPr>
          <p:nvPr/>
        </p:nvSpPr>
        <p:spPr>
          <a:xfrm xmlns:a="http://schemas.openxmlformats.org/drawingml/2006/main">
            <a:off x="6438900" y="471487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292B2D"/>
                </a:solidFill>
                <a:latin typeface="Helvetica Neue"/>
                <a:ea typeface="Helvetica Neue"/>
                <a:cs typeface="Helvetica Neue"/>
              </a:defRPr>
            </a:pPr>
            <a:r>
              <a:rPr sz="1725" b="0">
                <a:solidFill>
                  <a:srgbClr val="292B2D"/>
                </a:solidFill>
                <a:latin typeface="Helvetica Neue"/>
                <a:ea typeface="Helvetica Neue"/>
                <a:cs typeface="Helvetica Neue"/>
              </a:rPr>
              <a:t>Double-bowl sink</a:t>
            </a:r>
          </a:p>
        </p:txBody>
      </p:sp>
      <p:sp>
        <p:nvSpPr>
          <p:cNvPr id="45" name="Geyser location">
            <a:extLst xmlns:a="http://schemas.openxmlformats.org/drawingml/2006/main">
              <a:ext uri="{FF2B5EF4-FFF2-40B4-BE49-F238E27FC236}">
                <a16:creationId xmlns:a16="http://schemas.microsoft.com/office/drawing/2014/main" id="{0CF9CDB4-F4F4-47FE-9436-F89E4547E153}"/>
              </a:ext>
            </a:extLst>
          </p:cNvPr>
          <p:cNvSpPr>
            <a:spLocks xmlns:a="http://schemas.openxmlformats.org/drawingml/2006/main" noGrp="1"/>
          </p:cNvSpPr>
          <p:nvPr/>
        </p:nvSpPr>
        <p:spPr>
          <a:xfrm xmlns:a="http://schemas.openxmlformats.org/drawingml/2006/main">
            <a:off x="9144000" y="5953125"/>
            <a:ext cx="1047750" cy="771525"/>
          </a:xfrm>
          <a:prstGeom xmlns:a="http://schemas.openxmlformats.org/drawingml/2006/main" prst="rect">
            <a:avLst/>
          </a:prstGeom>
          <a:solidFill xmlns:a="http://schemas.openxmlformats.org/drawingml/2006/main">
            <a:srgbClr val="E7D7C2"/>
          </a:solidFill>
          <a:ln xmlns:a="http://schemas.openxmlformats.org/drawingml/2006/main" w="14288">
            <a:solidFill>
              <a:srgbClr val="6B5543"/>
            </a:solidFill>
            <a:prstDash val="solid"/>
          </a:ln>
        </p:spPr>
      </p:sp>
      <p:sp>
        <p:nvSpPr>
          <p:cNvPr id="46" name="Geyser plan label">
            <a:extLst xmlns:a="http://schemas.openxmlformats.org/drawingml/2006/main">
              <a:ext uri="{FF2B5EF4-FFF2-40B4-BE49-F238E27FC236}">
                <a16:creationId xmlns:a16="http://schemas.microsoft.com/office/drawing/2014/main" id="{1332ACEA-E429-4D45-85D9-C5F2DA4F1D62}"/>
              </a:ext>
            </a:extLst>
          </p:cNvPr>
          <p:cNvSpPr>
            <a:spLocks xmlns:a="http://schemas.openxmlformats.org/drawingml/2006/main" noGrp="1"/>
          </p:cNvSpPr>
          <p:nvPr/>
        </p:nvSpPr>
        <p:spPr>
          <a:xfrm xmlns:a="http://schemas.openxmlformats.org/drawingml/2006/main">
            <a:off x="6677025" y="61817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2B2D"/>
                </a:solidFill>
                <a:latin typeface="Helvetica Neue"/>
                <a:ea typeface="Helvetica Neue"/>
                <a:cs typeface="Helvetica Neue"/>
              </a:defRPr>
            </a:pPr>
            <a:r>
              <a:rPr sz="1650" b="0">
                <a:solidFill>
                  <a:srgbClr val="292B2D"/>
                </a:solidFill>
                <a:latin typeface="Helvetica Neue"/>
                <a:ea typeface="Helvetica Neue"/>
                <a:cs typeface="Helvetica Neue"/>
              </a:rPr>
              <a:t>Geyser below</a:t>
            </a:r>
          </a:p>
        </p:txBody>
      </p:sp>
      <p:sp>
        <p:nvSpPr>
          <p:cNvPr id="47" name="Fridge plan">
            <a:extLst xmlns:a="http://schemas.openxmlformats.org/drawingml/2006/main">
              <a:ext uri="{FF2B5EF4-FFF2-40B4-BE49-F238E27FC236}">
                <a16:creationId xmlns:a16="http://schemas.microsoft.com/office/drawing/2014/main" id="{C3B59402-B377-4FEB-973E-91B3EBA04237}"/>
              </a:ext>
            </a:extLst>
          </p:cNvPr>
          <p:cNvSpPr>
            <a:spLocks xmlns:a="http://schemas.openxmlformats.org/drawingml/2006/main" noGrp="1"/>
          </p:cNvSpPr>
          <p:nvPr/>
        </p:nvSpPr>
        <p:spPr>
          <a:xfrm xmlns:a="http://schemas.openxmlformats.org/drawingml/2006/main">
            <a:off x="9048750" y="7019925"/>
            <a:ext cx="1238250" cy="685800"/>
          </a:xfrm>
          <a:prstGeom xmlns:a="http://schemas.openxmlformats.org/drawingml/2006/main" prst="rect">
            <a:avLst/>
          </a:prstGeom>
          <a:solidFill xmlns:a="http://schemas.openxmlformats.org/drawingml/2006/main">
            <a:srgbClr val="A8ADB0"/>
          </a:solidFill>
          <a:ln xmlns:a="http://schemas.openxmlformats.org/drawingml/2006/main" w="14288">
            <a:solidFill>
              <a:srgbClr val="6B5543"/>
            </a:solidFill>
            <a:prstDash val="solid"/>
          </a:ln>
        </p:spPr>
      </p:sp>
      <p:sp>
        <p:nvSpPr>
          <p:cNvPr id="48" name="Fridge plan label">
            <a:extLst xmlns:a="http://schemas.openxmlformats.org/drawingml/2006/main">
              <a:ext uri="{FF2B5EF4-FFF2-40B4-BE49-F238E27FC236}">
                <a16:creationId xmlns:a16="http://schemas.microsoft.com/office/drawing/2014/main" id="{B2275AAF-AB13-42A8-9B8F-C15D81B33698}"/>
              </a:ext>
            </a:extLst>
          </p:cNvPr>
          <p:cNvSpPr>
            <a:spLocks xmlns:a="http://schemas.openxmlformats.org/drawingml/2006/main" noGrp="1"/>
          </p:cNvSpPr>
          <p:nvPr/>
        </p:nvSpPr>
        <p:spPr>
          <a:xfrm xmlns:a="http://schemas.openxmlformats.org/drawingml/2006/main">
            <a:off x="7753350" y="720090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292B2D"/>
                </a:solidFill>
                <a:latin typeface="Helvetica Neue"/>
                <a:ea typeface="Helvetica Neue"/>
                <a:cs typeface="Helvetica Neue"/>
              </a:defRPr>
            </a:pPr>
            <a:r>
              <a:rPr sz="1725" b="0">
                <a:solidFill>
                  <a:srgbClr val="292B2D"/>
                </a:solidFill>
                <a:latin typeface="Helvetica Neue"/>
                <a:ea typeface="Helvetica Neue"/>
                <a:cs typeface="Helvetica Neue"/>
              </a:rPr>
              <a:t>Fridge</a:t>
            </a:r>
          </a:p>
        </p:txBody>
      </p:sp>
      <p:sp>
        <p:nvSpPr>
          <p:cNvPr id="49" name="Open-floor label">
            <a:extLst xmlns:a="http://schemas.openxmlformats.org/drawingml/2006/main">
              <a:ext uri="{FF2B5EF4-FFF2-40B4-BE49-F238E27FC236}">
                <a16:creationId xmlns:a16="http://schemas.microsoft.com/office/drawing/2014/main" id="{E0C37F92-D0C9-4691-A47E-CFC4D69FB9A6}"/>
              </a:ext>
            </a:extLst>
          </p:cNvPr>
          <p:cNvSpPr>
            <a:spLocks xmlns:a="http://schemas.openxmlformats.org/drawingml/2006/main" noGrp="1"/>
          </p:cNvSpPr>
          <p:nvPr/>
        </p:nvSpPr>
        <p:spPr>
          <a:xfrm xmlns:a="http://schemas.openxmlformats.org/drawingml/2006/main">
            <a:off x="2952750" y="5734050"/>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71695D"/>
                </a:solidFill>
                <a:latin typeface="Helvetica Neue"/>
                <a:ea typeface="Helvetica Neue"/>
                <a:cs typeface="Helvetica Neue"/>
              </a:defRPr>
            </a:pPr>
            <a:r>
              <a:rPr sz="2325" b="1">
                <a:solidFill>
                  <a:srgbClr val="71695D"/>
                </a:solidFill>
                <a:latin typeface="Helvetica Neue"/>
                <a:ea typeface="Helvetica Neue"/>
                <a:cs typeface="Helvetica Neue"/>
              </a:rPr>
              <a:t>Open kitchen floor</a:t>
            </a:r>
          </a:p>
        </p:txBody>
      </p:sp>
      <p:sp>
        <p:nvSpPr>
          <p:cNvPr id="50" name="Plan cabinet note">
            <a:extLst xmlns:a="http://schemas.openxmlformats.org/drawingml/2006/main">
              <a:ext uri="{FF2B5EF4-FFF2-40B4-BE49-F238E27FC236}">
                <a16:creationId xmlns:a16="http://schemas.microsoft.com/office/drawing/2014/main" id="{B21B2666-80E5-4E7F-8491-C83CB0558AF0}"/>
              </a:ext>
            </a:extLst>
          </p:cNvPr>
          <p:cNvSpPr>
            <a:spLocks xmlns:a="http://schemas.openxmlformats.org/drawingml/2006/main" noGrp="1"/>
          </p:cNvSpPr>
          <p:nvPr/>
        </p:nvSpPr>
        <p:spPr>
          <a:xfrm xmlns:a="http://schemas.openxmlformats.org/drawingml/2006/main">
            <a:off x="2705100" y="6858000"/>
            <a:ext cx="5762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292B2D"/>
                </a:solidFill>
                <a:latin typeface="Helvetica Neue"/>
                <a:ea typeface="Helvetica Neue"/>
                <a:cs typeface="Helvetica Neue"/>
              </a:defRPr>
            </a:pPr>
            <a:r>
              <a:rPr sz="1725" b="0">
                <a:solidFill>
                  <a:srgbClr val="292B2D"/>
                </a:solidFill>
                <a:latin typeface="Helvetica Neue"/>
                <a:ea typeface="Helvetica Neue"/>
                <a:cs typeface="Helvetica Neue"/>
              </a:rPr>
              <a:t>Rack and RO cupboards sit above the sink run</a:t>
            </a:r>
          </a:p>
        </p:txBody>
      </p:sp>
    </p:spTree>
    <p:extLst>
      <p:ext uri="{BB962C8B-B14F-4D97-AF65-F5344CB8AC3E}">
        <p14:creationId xmlns:p14="http://schemas.microsoft.com/office/powerpoint/2010/main" val="13890950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 name="Title">
            <a:extLst xmlns:a="http://schemas.openxmlformats.org/drawingml/2006/main">
              <a:ext uri="{FF2B5EF4-FFF2-40B4-BE49-F238E27FC236}">
                <a16:creationId xmlns:a16="http://schemas.microsoft.com/office/drawing/2014/main" id="{64756836-57C4-4364-8170-8B6A19B163AA}"/>
              </a:ext>
            </a:extLst>
          </p:cNvPr>
          <p:cNvSpPr>
            <a:spLocks xmlns:a="http://schemas.openxmlformats.org/drawingml/2006/main" noGrp="1"/>
          </p:cNvSpPr>
          <p:nvPr/>
        </p:nvSpPr>
        <p:spPr>
          <a:xfrm xmlns:a="http://schemas.openxmlformats.org/drawingml/2006/main">
            <a:off x="609600" y="400050"/>
            <a:ext cx="1390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292B2D"/>
                </a:solidFill>
                <a:latin typeface="Helvetica Neue"/>
                <a:ea typeface="Helvetica Neue"/>
                <a:cs typeface="Helvetica Neue"/>
              </a:defRPr>
            </a:pPr>
            <a:r>
              <a:rPr sz="3150" b="1">
                <a:solidFill>
                  <a:srgbClr val="292B2D"/>
                </a:solidFill>
                <a:latin typeface="Helvetica Neue"/>
                <a:ea typeface="Helvetica Neue"/>
                <a:cs typeface="Helvetica Neue"/>
              </a:rPr>
              <a:t>Window wall</a:t>
            </a:r>
          </a:p>
        </p:txBody>
      </p:sp>
      <p:sp>
        <p:nvSpPr>
          <p:cNvPr id="2" name="Subtitle">
            <a:extLst xmlns:a="http://schemas.openxmlformats.org/drawingml/2006/main">
              <a:ext uri="{FF2B5EF4-FFF2-40B4-BE49-F238E27FC236}">
                <a16:creationId xmlns:a16="http://schemas.microsoft.com/office/drawing/2014/main" id="{B6DC2606-93EE-446D-8856-4B1F045248A4}"/>
              </a:ext>
            </a:extLst>
          </p:cNvPr>
          <p:cNvSpPr>
            <a:spLocks xmlns:a="http://schemas.openxmlformats.org/drawingml/2006/main" noGrp="1"/>
          </p:cNvSpPr>
          <p:nvPr/>
        </p:nvSpPr>
        <p:spPr>
          <a:xfrm xmlns:a="http://schemas.openxmlformats.org/drawingml/2006/main">
            <a:off x="628650" y="990600"/>
            <a:ext cx="1390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292B2D"/>
                </a:solidFill>
                <a:latin typeface="Helvetica Neue"/>
                <a:ea typeface="Helvetica Neue"/>
                <a:cs typeface="Helvetica Neue"/>
              </a:defRPr>
            </a:pPr>
            <a:r>
              <a:rPr sz="1725" b="0">
                <a:solidFill>
                  <a:srgbClr val="292B2D"/>
                </a:solidFill>
                <a:latin typeface="Helvetica Neue"/>
                <a:ea typeface="Helvetica Neue"/>
                <a:cs typeface="Helvetica Neue"/>
              </a:rPr>
              <a:t>Front elevation with aligned drawer tiers and window division</a:t>
            </a:r>
          </a:p>
        </p:txBody>
      </p:sp>
      <p:sp>
        <p:nvSpPr>
          <p:cNvPr id="3" name="Title rule">
            <a:extLst xmlns:a="http://schemas.openxmlformats.org/drawingml/2006/main">
              <a:ext uri="{FF2B5EF4-FFF2-40B4-BE49-F238E27FC236}">
                <a16:creationId xmlns:a16="http://schemas.microsoft.com/office/drawing/2014/main" id="{90598C74-A43D-4BF2-BEA8-7D56334EE642}"/>
              </a:ext>
            </a:extLst>
          </p:cNvPr>
          <p:cNvSpPr>
            <a:spLocks xmlns:a="http://schemas.openxmlformats.org/drawingml/2006/main" noGrp="1"/>
          </p:cNvSpPr>
          <p:nvPr/>
        </p:nvSpPr>
        <p:spPr>
          <a:xfrm xmlns:a="http://schemas.openxmlformats.org/drawingml/2006/main" flipH="0" flipV="0">
            <a:off x="628650" y="1419225"/>
            <a:ext cx="13982700" cy="0"/>
          </a:xfrm>
          <a:prstGeom xmlns:a="http://schemas.openxmlformats.org/drawingml/2006/main" prst="line">
            <a:avLst/>
          </a:prstGeom>
          <a:noFill xmlns:a="http://schemas.openxmlformats.org/drawingml/2006/main"/>
          <a:ln xmlns:a="http://schemas.openxmlformats.org/drawingml/2006/main" w="9525">
            <a:solidFill>
              <a:srgbClr val="CFC5B7"/>
            </a:solidFill>
            <a:prstDash val="solid"/>
          </a:ln>
        </p:spPr>
      </p:sp>
      <p:sp>
        <p:nvSpPr>
          <p:cNvPr id="4" name="Corrections heading">
            <a:extLst xmlns:a="http://schemas.openxmlformats.org/drawingml/2006/main">
              <a:ext uri="{FF2B5EF4-FFF2-40B4-BE49-F238E27FC236}">
                <a16:creationId xmlns:a16="http://schemas.microsoft.com/office/drawing/2014/main" id="{4A300C13-9355-4586-BA51-45AB1469142F}"/>
              </a:ext>
            </a:extLst>
          </p:cNvPr>
          <p:cNvSpPr>
            <a:spLocks xmlns:a="http://schemas.openxmlformats.org/drawingml/2006/main" noGrp="1"/>
          </p:cNvSpPr>
          <p:nvPr/>
        </p:nvSpPr>
        <p:spPr>
          <a:xfrm xmlns:a="http://schemas.openxmlformats.org/drawingml/2006/main">
            <a:off x="12334875" y="188595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292B2D"/>
                </a:solidFill>
                <a:latin typeface="Helvetica Neue"/>
                <a:ea typeface="Helvetica Neue"/>
                <a:cs typeface="Helvetica Neue"/>
              </a:defRPr>
            </a:pPr>
            <a:r>
              <a:rPr sz="1875" b="1">
                <a:solidFill>
                  <a:srgbClr val="292B2D"/>
                </a:solidFill>
                <a:latin typeface="Helvetica Neue"/>
                <a:ea typeface="Helvetica Neue"/>
                <a:cs typeface="Helvetica Neue"/>
              </a:rPr>
              <a:t>Your corrections</a:t>
            </a:r>
          </a:p>
        </p:txBody>
      </p:sp>
      <p:sp>
        <p:nvSpPr>
          <p:cNvPr id="5" name="Correction line 0">
            <a:extLst xmlns:a="http://schemas.openxmlformats.org/drawingml/2006/main">
              <a:ext uri="{FF2B5EF4-FFF2-40B4-BE49-F238E27FC236}">
                <a16:creationId xmlns:a16="http://schemas.microsoft.com/office/drawing/2014/main" id="{3EA9E4F2-98F5-4928-850F-CFC3101D0FB5}"/>
              </a:ext>
            </a:extLst>
          </p:cNvPr>
          <p:cNvSpPr>
            <a:spLocks xmlns:a="http://schemas.openxmlformats.org/drawingml/2006/main" noGrp="1"/>
          </p:cNvSpPr>
          <p:nvPr/>
        </p:nvSpPr>
        <p:spPr>
          <a:xfrm xmlns:a="http://schemas.openxmlformats.org/drawingml/2006/main" flipH="0" flipV="0">
            <a:off x="12334875" y="24955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6" name="Correction line 1">
            <a:extLst xmlns:a="http://schemas.openxmlformats.org/drawingml/2006/main">
              <a:ext uri="{FF2B5EF4-FFF2-40B4-BE49-F238E27FC236}">
                <a16:creationId xmlns:a16="http://schemas.microsoft.com/office/drawing/2014/main" id="{0A2EF4DB-69BE-4FBD-AAC6-5E78D30BE25F}"/>
              </a:ext>
            </a:extLst>
          </p:cNvPr>
          <p:cNvSpPr>
            <a:spLocks xmlns:a="http://schemas.openxmlformats.org/drawingml/2006/main" noGrp="1"/>
          </p:cNvSpPr>
          <p:nvPr/>
        </p:nvSpPr>
        <p:spPr>
          <a:xfrm xmlns:a="http://schemas.openxmlformats.org/drawingml/2006/main" flipH="0" flipV="0">
            <a:off x="12334875" y="31813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7" name="Correction line 2">
            <a:extLst xmlns:a="http://schemas.openxmlformats.org/drawingml/2006/main">
              <a:ext uri="{FF2B5EF4-FFF2-40B4-BE49-F238E27FC236}">
                <a16:creationId xmlns:a16="http://schemas.microsoft.com/office/drawing/2014/main" id="{7D62E6B0-C9BC-4172-83CA-A7EE2D0A89A7}"/>
              </a:ext>
            </a:extLst>
          </p:cNvPr>
          <p:cNvSpPr>
            <a:spLocks xmlns:a="http://schemas.openxmlformats.org/drawingml/2006/main" noGrp="1"/>
          </p:cNvSpPr>
          <p:nvPr/>
        </p:nvSpPr>
        <p:spPr>
          <a:xfrm xmlns:a="http://schemas.openxmlformats.org/drawingml/2006/main" flipH="0" flipV="0">
            <a:off x="12334875" y="38671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8" name="Correction line 3">
            <a:extLst xmlns:a="http://schemas.openxmlformats.org/drawingml/2006/main">
              <a:ext uri="{FF2B5EF4-FFF2-40B4-BE49-F238E27FC236}">
                <a16:creationId xmlns:a16="http://schemas.microsoft.com/office/drawing/2014/main" id="{B52950A4-0619-445F-A163-08220D610EE8}"/>
              </a:ext>
            </a:extLst>
          </p:cNvPr>
          <p:cNvSpPr>
            <a:spLocks xmlns:a="http://schemas.openxmlformats.org/drawingml/2006/main" noGrp="1"/>
          </p:cNvSpPr>
          <p:nvPr/>
        </p:nvSpPr>
        <p:spPr>
          <a:xfrm xmlns:a="http://schemas.openxmlformats.org/drawingml/2006/main" flipH="0" flipV="0">
            <a:off x="12334875" y="45529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9" name="Correction line 4">
            <a:extLst xmlns:a="http://schemas.openxmlformats.org/drawingml/2006/main">
              <a:ext uri="{FF2B5EF4-FFF2-40B4-BE49-F238E27FC236}">
                <a16:creationId xmlns:a16="http://schemas.microsoft.com/office/drawing/2014/main" id="{207F0E4F-1B51-4499-A2A1-0E1A1E44A10F}"/>
              </a:ext>
            </a:extLst>
          </p:cNvPr>
          <p:cNvSpPr>
            <a:spLocks xmlns:a="http://schemas.openxmlformats.org/drawingml/2006/main" noGrp="1"/>
          </p:cNvSpPr>
          <p:nvPr/>
        </p:nvSpPr>
        <p:spPr>
          <a:xfrm xmlns:a="http://schemas.openxmlformats.org/drawingml/2006/main" flipH="0" flipV="0">
            <a:off x="12334875" y="52387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10" name="Correction line 5">
            <a:extLst xmlns:a="http://schemas.openxmlformats.org/drawingml/2006/main">
              <a:ext uri="{FF2B5EF4-FFF2-40B4-BE49-F238E27FC236}">
                <a16:creationId xmlns:a16="http://schemas.microsoft.com/office/drawing/2014/main" id="{63B269BE-1C6B-449C-BC93-CB21C88CE8B2}"/>
              </a:ext>
            </a:extLst>
          </p:cNvPr>
          <p:cNvSpPr>
            <a:spLocks xmlns:a="http://schemas.openxmlformats.org/drawingml/2006/main" noGrp="1"/>
          </p:cNvSpPr>
          <p:nvPr/>
        </p:nvSpPr>
        <p:spPr>
          <a:xfrm xmlns:a="http://schemas.openxmlformats.org/drawingml/2006/main" flipH="0" flipV="0">
            <a:off x="12334875" y="59245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11" name="Footer">
            <a:extLst xmlns:a="http://schemas.openxmlformats.org/drawingml/2006/main">
              <a:ext uri="{FF2B5EF4-FFF2-40B4-BE49-F238E27FC236}">
                <a16:creationId xmlns:a16="http://schemas.microsoft.com/office/drawing/2014/main" id="{D2830556-4B8D-4DA3-AEF7-657046E5CD81}"/>
              </a:ext>
            </a:extLst>
          </p:cNvPr>
          <p:cNvSpPr>
            <a:spLocks xmlns:a="http://schemas.openxmlformats.org/drawingml/2006/main" noGrp="1"/>
          </p:cNvSpPr>
          <p:nvPr/>
        </p:nvSpPr>
        <p:spPr>
          <a:xfrm xmlns:a="http://schemas.openxmlformats.org/drawingml/2006/main">
            <a:off x="628650" y="8048625"/>
            <a:ext cx="1381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635B52"/>
                </a:solidFill>
                <a:latin typeface="Helvetica Neue"/>
                <a:ea typeface="Helvetica Neue"/>
                <a:cs typeface="Helvetica Neue"/>
              </a:defRPr>
            </a:pPr>
            <a:r>
              <a:rPr sz="1500" b="0">
                <a:solidFill>
                  <a:srgbClr val="635B52"/>
                </a:solidFill>
                <a:latin typeface="Helvetica Neue"/>
                <a:ea typeface="Helvetica Neue"/>
                <a:cs typeface="Helvetica Neue"/>
              </a:rPr>
              <a:t>Editable schematic. Cabinet sizes provisional. Confirmed ceiling: 10 ft.</a:t>
            </a:r>
          </a:p>
        </p:txBody>
      </p:sp>
      <p:sp>
        <p:nvSpPr>
          <p:cNvPr id="12" name="Ceiling datum">
            <a:extLst xmlns:a="http://schemas.openxmlformats.org/drawingml/2006/main">
              <a:ext uri="{FF2B5EF4-FFF2-40B4-BE49-F238E27FC236}">
                <a16:creationId xmlns:a16="http://schemas.microsoft.com/office/drawing/2014/main" id="{10AC967C-CC49-4C44-B02A-1C93AECB0A86}"/>
              </a:ext>
            </a:extLst>
          </p:cNvPr>
          <p:cNvSpPr>
            <a:spLocks xmlns:a="http://schemas.openxmlformats.org/drawingml/2006/main" noGrp="1"/>
          </p:cNvSpPr>
          <p:nvPr/>
        </p:nvSpPr>
        <p:spPr>
          <a:xfrm xmlns:a="http://schemas.openxmlformats.org/drawingml/2006/main" flipH="0" flipV="0">
            <a:off x="666750" y="1714500"/>
            <a:ext cx="10858500" cy="0"/>
          </a:xfrm>
          <a:prstGeom xmlns:a="http://schemas.openxmlformats.org/drawingml/2006/main" prst="line">
            <a:avLst/>
          </a:prstGeom>
          <a:noFill xmlns:a="http://schemas.openxmlformats.org/drawingml/2006/main"/>
          <a:ln xmlns:a="http://schemas.openxmlformats.org/drawingml/2006/main" w="19050">
            <a:solidFill>
              <a:srgbClr val="68635C"/>
            </a:solidFill>
            <a:prstDash val="solid"/>
          </a:ln>
        </p:spPr>
      </p:sp>
      <p:sp>
        <p:nvSpPr>
          <p:cNvPr id="13" name="Floor datum">
            <a:extLst xmlns:a="http://schemas.openxmlformats.org/drawingml/2006/main">
              <a:ext uri="{FF2B5EF4-FFF2-40B4-BE49-F238E27FC236}">
                <a16:creationId xmlns:a16="http://schemas.microsoft.com/office/drawing/2014/main" id="{541CD0CA-B2FF-45B3-A637-DADEE8AB7744}"/>
              </a:ext>
            </a:extLst>
          </p:cNvPr>
          <p:cNvSpPr>
            <a:spLocks xmlns:a="http://schemas.openxmlformats.org/drawingml/2006/main" noGrp="1"/>
          </p:cNvSpPr>
          <p:nvPr/>
        </p:nvSpPr>
        <p:spPr>
          <a:xfrm xmlns:a="http://schemas.openxmlformats.org/drawingml/2006/main" flipH="0" flipV="0">
            <a:off x="666750" y="7600950"/>
            <a:ext cx="10858500" cy="0"/>
          </a:xfrm>
          <a:prstGeom xmlns:a="http://schemas.openxmlformats.org/drawingml/2006/main" prst="line">
            <a:avLst/>
          </a:prstGeom>
          <a:noFill xmlns:a="http://schemas.openxmlformats.org/drawingml/2006/main"/>
          <a:ln xmlns:a="http://schemas.openxmlformats.org/drawingml/2006/main" w="19050">
            <a:solidFill>
              <a:srgbClr val="68635C"/>
            </a:solidFill>
            <a:prstDash val="solid"/>
          </a:ln>
        </p:spPr>
      </p:sp>
      <p:sp>
        <p:nvSpPr>
          <p:cNvPr id="14" name="Ceiling label">
            <a:extLst xmlns:a="http://schemas.openxmlformats.org/drawingml/2006/main">
              <a:ext uri="{FF2B5EF4-FFF2-40B4-BE49-F238E27FC236}">
                <a16:creationId xmlns:a16="http://schemas.microsoft.com/office/drawing/2014/main" id="{76485D30-275F-4004-BA85-FAE5A0208B63}"/>
              </a:ext>
            </a:extLst>
          </p:cNvPr>
          <p:cNvSpPr>
            <a:spLocks xmlns:a="http://schemas.openxmlformats.org/drawingml/2006/main" noGrp="1"/>
          </p:cNvSpPr>
          <p:nvPr/>
        </p:nvSpPr>
        <p:spPr>
          <a:xfrm xmlns:a="http://schemas.openxmlformats.org/drawingml/2006/main">
            <a:off x="666750" y="14382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92B2D"/>
                </a:solidFill>
                <a:latin typeface="Helvetica Neue"/>
                <a:ea typeface="Helvetica Neue"/>
                <a:cs typeface="Helvetica Neue"/>
              </a:defRPr>
            </a:pPr>
            <a:r>
              <a:rPr sz="1500" b="0">
                <a:solidFill>
                  <a:srgbClr val="292B2D"/>
                </a:solidFill>
                <a:latin typeface="Helvetica Neue"/>
                <a:ea typeface="Helvetica Neue"/>
                <a:cs typeface="Helvetica Neue"/>
              </a:rPr>
              <a:t>Ceiling</a:t>
            </a:r>
          </a:p>
        </p:txBody>
      </p:sp>
      <p:sp>
        <p:nvSpPr>
          <p:cNvPr id="15" name="W1 loft shutter">
            <a:extLst xmlns:a="http://schemas.openxmlformats.org/drawingml/2006/main">
              <a:ext uri="{FF2B5EF4-FFF2-40B4-BE49-F238E27FC236}">
                <a16:creationId xmlns:a16="http://schemas.microsoft.com/office/drawing/2014/main" id="{06A0FF16-D996-45D5-83F1-C6EAD84E3159}"/>
              </a:ext>
            </a:extLst>
          </p:cNvPr>
          <p:cNvSpPr>
            <a:spLocks xmlns:a="http://schemas.openxmlformats.org/drawingml/2006/main" noGrp="1"/>
          </p:cNvSpPr>
          <p:nvPr/>
        </p:nvSpPr>
        <p:spPr>
          <a:xfrm xmlns:a="http://schemas.openxmlformats.org/drawingml/2006/main">
            <a:off x="666750" y="1714500"/>
            <a:ext cx="1571625" cy="1190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16" name="W1 loft handle">
            <a:extLst xmlns:a="http://schemas.openxmlformats.org/drawingml/2006/main">
              <a:ext uri="{FF2B5EF4-FFF2-40B4-BE49-F238E27FC236}">
                <a16:creationId xmlns:a16="http://schemas.microsoft.com/office/drawing/2014/main" id="{930236C4-D724-4466-A575-FEC09610C033}"/>
              </a:ext>
            </a:extLst>
          </p:cNvPr>
          <p:cNvSpPr>
            <a:spLocks xmlns:a="http://schemas.openxmlformats.org/drawingml/2006/main" noGrp="1"/>
          </p:cNvSpPr>
          <p:nvPr/>
        </p:nvSpPr>
        <p:spPr>
          <a:xfrm xmlns:a="http://schemas.openxmlformats.org/drawingml/2006/main">
            <a:off x="1252538" y="2695575"/>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17" name="W1 lower shutter">
            <a:extLst xmlns:a="http://schemas.openxmlformats.org/drawingml/2006/main">
              <a:ext uri="{FF2B5EF4-FFF2-40B4-BE49-F238E27FC236}">
                <a16:creationId xmlns:a16="http://schemas.microsoft.com/office/drawing/2014/main" id="{335312C8-1441-4ED3-B697-278855148944}"/>
              </a:ext>
            </a:extLst>
          </p:cNvPr>
          <p:cNvSpPr>
            <a:spLocks xmlns:a="http://schemas.openxmlformats.org/drawingml/2006/main" noGrp="1"/>
          </p:cNvSpPr>
          <p:nvPr/>
        </p:nvSpPr>
        <p:spPr>
          <a:xfrm xmlns:a="http://schemas.openxmlformats.org/drawingml/2006/main">
            <a:off x="666750" y="2905125"/>
            <a:ext cx="1571625" cy="1571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18" name="W1 lower handle">
            <a:extLst xmlns:a="http://schemas.openxmlformats.org/drawingml/2006/main">
              <a:ext uri="{FF2B5EF4-FFF2-40B4-BE49-F238E27FC236}">
                <a16:creationId xmlns:a16="http://schemas.microsoft.com/office/drawing/2014/main" id="{665BBF25-55FF-4166-9697-02526E8530BE}"/>
              </a:ext>
            </a:extLst>
          </p:cNvPr>
          <p:cNvSpPr>
            <a:spLocks xmlns:a="http://schemas.openxmlformats.org/drawingml/2006/main" noGrp="1"/>
          </p:cNvSpPr>
          <p:nvPr/>
        </p:nvSpPr>
        <p:spPr>
          <a:xfrm xmlns:a="http://schemas.openxmlformats.org/drawingml/2006/main">
            <a:off x="1252538" y="42672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19" name="W2 loft shutter">
            <a:extLst xmlns:a="http://schemas.openxmlformats.org/drawingml/2006/main">
              <a:ext uri="{FF2B5EF4-FFF2-40B4-BE49-F238E27FC236}">
                <a16:creationId xmlns:a16="http://schemas.microsoft.com/office/drawing/2014/main" id="{0EECA27D-6DA2-45B3-A822-A0C51CC4CD8B}"/>
              </a:ext>
            </a:extLst>
          </p:cNvPr>
          <p:cNvSpPr>
            <a:spLocks xmlns:a="http://schemas.openxmlformats.org/drawingml/2006/main" noGrp="1"/>
          </p:cNvSpPr>
          <p:nvPr/>
        </p:nvSpPr>
        <p:spPr>
          <a:xfrm xmlns:a="http://schemas.openxmlformats.org/drawingml/2006/main">
            <a:off x="2238375" y="1714500"/>
            <a:ext cx="1571625" cy="1190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20" name="W2 loft handle">
            <a:extLst xmlns:a="http://schemas.openxmlformats.org/drawingml/2006/main">
              <a:ext uri="{FF2B5EF4-FFF2-40B4-BE49-F238E27FC236}">
                <a16:creationId xmlns:a16="http://schemas.microsoft.com/office/drawing/2014/main" id="{F22D08F5-225A-41D3-838A-71EDDA4B235C}"/>
              </a:ext>
            </a:extLst>
          </p:cNvPr>
          <p:cNvSpPr>
            <a:spLocks xmlns:a="http://schemas.openxmlformats.org/drawingml/2006/main" noGrp="1"/>
          </p:cNvSpPr>
          <p:nvPr/>
        </p:nvSpPr>
        <p:spPr>
          <a:xfrm xmlns:a="http://schemas.openxmlformats.org/drawingml/2006/main">
            <a:off x="2824163" y="2695575"/>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21" name="W2 lower shutter">
            <a:extLst xmlns:a="http://schemas.openxmlformats.org/drawingml/2006/main">
              <a:ext uri="{FF2B5EF4-FFF2-40B4-BE49-F238E27FC236}">
                <a16:creationId xmlns:a16="http://schemas.microsoft.com/office/drawing/2014/main" id="{72653760-B824-4ACE-8D11-C4B8B76A316C}"/>
              </a:ext>
            </a:extLst>
          </p:cNvPr>
          <p:cNvSpPr>
            <a:spLocks xmlns:a="http://schemas.openxmlformats.org/drawingml/2006/main" noGrp="1"/>
          </p:cNvSpPr>
          <p:nvPr/>
        </p:nvSpPr>
        <p:spPr>
          <a:xfrm xmlns:a="http://schemas.openxmlformats.org/drawingml/2006/main">
            <a:off x="2238375" y="2905125"/>
            <a:ext cx="1571625" cy="1571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22" name="W2 lower handle">
            <a:extLst xmlns:a="http://schemas.openxmlformats.org/drawingml/2006/main">
              <a:ext uri="{FF2B5EF4-FFF2-40B4-BE49-F238E27FC236}">
                <a16:creationId xmlns:a16="http://schemas.microsoft.com/office/drawing/2014/main" id="{4C7FC565-4457-403D-8AF6-EED3050C5C57}"/>
              </a:ext>
            </a:extLst>
          </p:cNvPr>
          <p:cNvSpPr>
            <a:spLocks xmlns:a="http://schemas.openxmlformats.org/drawingml/2006/main" noGrp="1"/>
          </p:cNvSpPr>
          <p:nvPr/>
        </p:nvSpPr>
        <p:spPr>
          <a:xfrm xmlns:a="http://schemas.openxmlformats.org/drawingml/2006/main">
            <a:off x="2824163" y="42672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23" name="W3 above-window loft left shutter">
            <a:extLst xmlns:a="http://schemas.openxmlformats.org/drawingml/2006/main">
              <a:ext uri="{FF2B5EF4-FFF2-40B4-BE49-F238E27FC236}">
                <a16:creationId xmlns:a16="http://schemas.microsoft.com/office/drawing/2014/main" id="{5B57A0CC-45D1-4491-8382-2041B76A5743}"/>
              </a:ext>
            </a:extLst>
          </p:cNvPr>
          <p:cNvSpPr>
            <a:spLocks xmlns:a="http://schemas.openxmlformats.org/drawingml/2006/main" noGrp="1"/>
          </p:cNvSpPr>
          <p:nvPr/>
        </p:nvSpPr>
        <p:spPr>
          <a:xfrm xmlns:a="http://schemas.openxmlformats.org/drawingml/2006/main">
            <a:off x="3810000" y="1714500"/>
            <a:ext cx="2095500" cy="1190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24" name="W3 above-window loft left handle">
            <a:extLst xmlns:a="http://schemas.openxmlformats.org/drawingml/2006/main">
              <a:ext uri="{FF2B5EF4-FFF2-40B4-BE49-F238E27FC236}">
                <a16:creationId xmlns:a16="http://schemas.microsoft.com/office/drawing/2014/main" id="{753012B3-F4AF-42DF-B930-9FB1E666B7B1}"/>
              </a:ext>
            </a:extLst>
          </p:cNvPr>
          <p:cNvSpPr>
            <a:spLocks xmlns:a="http://schemas.openxmlformats.org/drawingml/2006/main" noGrp="1"/>
          </p:cNvSpPr>
          <p:nvPr/>
        </p:nvSpPr>
        <p:spPr>
          <a:xfrm xmlns:a="http://schemas.openxmlformats.org/drawingml/2006/main">
            <a:off x="4657725" y="2695575"/>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25" name="W4 exhaust service loft shutter">
            <a:extLst xmlns:a="http://schemas.openxmlformats.org/drawingml/2006/main">
              <a:ext uri="{FF2B5EF4-FFF2-40B4-BE49-F238E27FC236}">
                <a16:creationId xmlns:a16="http://schemas.microsoft.com/office/drawing/2014/main" id="{AF0DF41F-E447-4D2C-BB6A-445D2DE84D4A}"/>
              </a:ext>
            </a:extLst>
          </p:cNvPr>
          <p:cNvSpPr>
            <a:spLocks xmlns:a="http://schemas.openxmlformats.org/drawingml/2006/main" noGrp="1"/>
          </p:cNvSpPr>
          <p:nvPr/>
        </p:nvSpPr>
        <p:spPr>
          <a:xfrm xmlns:a="http://schemas.openxmlformats.org/drawingml/2006/main">
            <a:off x="5905500" y="1714500"/>
            <a:ext cx="2095500" cy="1190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26" name="W4 exhaust service loft handle">
            <a:extLst xmlns:a="http://schemas.openxmlformats.org/drawingml/2006/main">
              <a:ext uri="{FF2B5EF4-FFF2-40B4-BE49-F238E27FC236}">
                <a16:creationId xmlns:a16="http://schemas.microsoft.com/office/drawing/2014/main" id="{484B099E-7F63-4D7E-B24E-C7A0FD6A3ACA}"/>
              </a:ext>
            </a:extLst>
          </p:cNvPr>
          <p:cNvSpPr>
            <a:spLocks xmlns:a="http://schemas.openxmlformats.org/drawingml/2006/main" noGrp="1"/>
          </p:cNvSpPr>
          <p:nvPr/>
        </p:nvSpPr>
        <p:spPr>
          <a:xfrm xmlns:a="http://schemas.openxmlformats.org/drawingml/2006/main">
            <a:off x="6753225" y="2695575"/>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27" name="Exhaust grille">
            <a:extLst xmlns:a="http://schemas.openxmlformats.org/drawingml/2006/main">
              <a:ext uri="{FF2B5EF4-FFF2-40B4-BE49-F238E27FC236}">
                <a16:creationId xmlns:a16="http://schemas.microsoft.com/office/drawing/2014/main" id="{DF6A6233-B4E3-4A40-A3CD-F3F215957DC1}"/>
              </a:ext>
            </a:extLst>
          </p:cNvPr>
          <p:cNvSpPr>
            <a:spLocks xmlns:a="http://schemas.openxmlformats.org/drawingml/2006/main" noGrp="1"/>
          </p:cNvSpPr>
          <p:nvPr/>
        </p:nvSpPr>
        <p:spPr>
          <a:xfrm xmlns:a="http://schemas.openxmlformats.org/drawingml/2006/main">
            <a:off x="6505575" y="2371725"/>
            <a:ext cx="800100" cy="409575"/>
          </a:xfrm>
          <a:prstGeom xmlns:a="http://schemas.openxmlformats.org/drawingml/2006/main" prst="rect">
            <a:avLst/>
          </a:prstGeom>
          <a:solidFill xmlns:a="http://schemas.openxmlformats.org/drawingml/2006/main">
            <a:srgbClr val="292B2D"/>
          </a:solidFill>
          <a:ln xmlns:a="http://schemas.openxmlformats.org/drawingml/2006/main" w="9525">
            <a:solidFill>
              <a:srgbClr val="A8ADB0"/>
            </a:solidFill>
            <a:prstDash val="solid"/>
          </a:ln>
        </p:spPr>
      </p:sp>
      <p:sp>
        <p:nvSpPr>
          <p:cNvPr id="28" name="Exhaust louvre 0">
            <a:extLst xmlns:a="http://schemas.openxmlformats.org/drawingml/2006/main">
              <a:ext uri="{FF2B5EF4-FFF2-40B4-BE49-F238E27FC236}">
                <a16:creationId xmlns:a16="http://schemas.microsoft.com/office/drawing/2014/main" id="{10234ECA-7A35-4112-8C6F-E83E0C1A84A9}"/>
              </a:ext>
            </a:extLst>
          </p:cNvPr>
          <p:cNvSpPr>
            <a:spLocks xmlns:a="http://schemas.openxmlformats.org/drawingml/2006/main" noGrp="1"/>
          </p:cNvSpPr>
          <p:nvPr/>
        </p:nvSpPr>
        <p:spPr>
          <a:xfrm xmlns:a="http://schemas.openxmlformats.org/drawingml/2006/main" flipH="0" flipV="0">
            <a:off x="6581775" y="2438400"/>
            <a:ext cx="647700" cy="0"/>
          </a:xfrm>
          <a:prstGeom xmlns:a="http://schemas.openxmlformats.org/drawingml/2006/main" prst="line">
            <a:avLst/>
          </a:prstGeom>
          <a:noFill xmlns:a="http://schemas.openxmlformats.org/drawingml/2006/main"/>
          <a:ln xmlns:a="http://schemas.openxmlformats.org/drawingml/2006/main" w="19050">
            <a:solidFill>
              <a:srgbClr val="A8ADB0"/>
            </a:solidFill>
            <a:prstDash val="solid"/>
          </a:ln>
        </p:spPr>
      </p:sp>
      <p:sp>
        <p:nvSpPr>
          <p:cNvPr id="29" name="Exhaust louvre 1">
            <a:extLst xmlns:a="http://schemas.openxmlformats.org/drawingml/2006/main">
              <a:ext uri="{FF2B5EF4-FFF2-40B4-BE49-F238E27FC236}">
                <a16:creationId xmlns:a16="http://schemas.microsoft.com/office/drawing/2014/main" id="{26C37A22-F433-4E74-BD4A-B69D29288050}"/>
              </a:ext>
            </a:extLst>
          </p:cNvPr>
          <p:cNvSpPr>
            <a:spLocks xmlns:a="http://schemas.openxmlformats.org/drawingml/2006/main" noGrp="1"/>
          </p:cNvSpPr>
          <p:nvPr/>
        </p:nvSpPr>
        <p:spPr>
          <a:xfrm xmlns:a="http://schemas.openxmlformats.org/drawingml/2006/main" flipH="0" flipV="0">
            <a:off x="6581775" y="2505075"/>
            <a:ext cx="647700" cy="0"/>
          </a:xfrm>
          <a:prstGeom xmlns:a="http://schemas.openxmlformats.org/drawingml/2006/main" prst="line">
            <a:avLst/>
          </a:prstGeom>
          <a:noFill xmlns:a="http://schemas.openxmlformats.org/drawingml/2006/main"/>
          <a:ln xmlns:a="http://schemas.openxmlformats.org/drawingml/2006/main" w="19050">
            <a:solidFill>
              <a:srgbClr val="A8ADB0"/>
            </a:solidFill>
            <a:prstDash val="solid"/>
          </a:ln>
        </p:spPr>
      </p:sp>
      <p:sp>
        <p:nvSpPr>
          <p:cNvPr id="30" name="Exhaust louvre 2">
            <a:extLst xmlns:a="http://schemas.openxmlformats.org/drawingml/2006/main">
              <a:ext uri="{FF2B5EF4-FFF2-40B4-BE49-F238E27FC236}">
                <a16:creationId xmlns:a16="http://schemas.microsoft.com/office/drawing/2014/main" id="{4CC01341-4FE6-4CF2-8764-B8E2FE2647F6}"/>
              </a:ext>
            </a:extLst>
          </p:cNvPr>
          <p:cNvSpPr>
            <a:spLocks xmlns:a="http://schemas.openxmlformats.org/drawingml/2006/main" noGrp="1"/>
          </p:cNvSpPr>
          <p:nvPr/>
        </p:nvSpPr>
        <p:spPr>
          <a:xfrm xmlns:a="http://schemas.openxmlformats.org/drawingml/2006/main" flipH="0" flipV="0">
            <a:off x="6581775" y="2571750"/>
            <a:ext cx="647700" cy="0"/>
          </a:xfrm>
          <a:prstGeom xmlns:a="http://schemas.openxmlformats.org/drawingml/2006/main" prst="line">
            <a:avLst/>
          </a:prstGeom>
          <a:noFill xmlns:a="http://schemas.openxmlformats.org/drawingml/2006/main"/>
          <a:ln xmlns:a="http://schemas.openxmlformats.org/drawingml/2006/main" w="19050">
            <a:solidFill>
              <a:srgbClr val="A8ADB0"/>
            </a:solidFill>
            <a:prstDash val="solid"/>
          </a:ln>
        </p:spPr>
      </p:sp>
      <p:sp>
        <p:nvSpPr>
          <p:cNvPr id="31" name="Exhaust louvre 3">
            <a:extLst xmlns:a="http://schemas.openxmlformats.org/drawingml/2006/main">
              <a:ext uri="{FF2B5EF4-FFF2-40B4-BE49-F238E27FC236}">
                <a16:creationId xmlns:a16="http://schemas.microsoft.com/office/drawing/2014/main" id="{CE0442B0-406C-4CF3-A366-D385111D6492}"/>
              </a:ext>
            </a:extLst>
          </p:cNvPr>
          <p:cNvSpPr>
            <a:spLocks xmlns:a="http://schemas.openxmlformats.org/drawingml/2006/main" noGrp="1"/>
          </p:cNvSpPr>
          <p:nvPr/>
        </p:nvSpPr>
        <p:spPr>
          <a:xfrm xmlns:a="http://schemas.openxmlformats.org/drawingml/2006/main" flipH="0" flipV="0">
            <a:off x="6581775" y="2638425"/>
            <a:ext cx="647700" cy="0"/>
          </a:xfrm>
          <a:prstGeom xmlns:a="http://schemas.openxmlformats.org/drawingml/2006/main" prst="line">
            <a:avLst/>
          </a:prstGeom>
          <a:noFill xmlns:a="http://schemas.openxmlformats.org/drawingml/2006/main"/>
          <a:ln xmlns:a="http://schemas.openxmlformats.org/drawingml/2006/main" w="19050">
            <a:solidFill>
              <a:srgbClr val="A8ADB0"/>
            </a:solidFill>
            <a:prstDash val="solid"/>
          </a:ln>
        </p:spPr>
      </p:sp>
      <p:sp>
        <p:nvSpPr>
          <p:cNvPr id="32" name="Exhaust louvre 4">
            <a:extLst xmlns:a="http://schemas.openxmlformats.org/drawingml/2006/main">
              <a:ext uri="{FF2B5EF4-FFF2-40B4-BE49-F238E27FC236}">
                <a16:creationId xmlns:a16="http://schemas.microsoft.com/office/drawing/2014/main" id="{ED2FF53A-BD78-4FEC-ACF3-0D449098C11D}"/>
              </a:ext>
            </a:extLst>
          </p:cNvPr>
          <p:cNvSpPr>
            <a:spLocks xmlns:a="http://schemas.openxmlformats.org/drawingml/2006/main" noGrp="1"/>
          </p:cNvSpPr>
          <p:nvPr/>
        </p:nvSpPr>
        <p:spPr>
          <a:xfrm xmlns:a="http://schemas.openxmlformats.org/drawingml/2006/main" flipH="0" flipV="0">
            <a:off x="6581775" y="2705100"/>
            <a:ext cx="647700" cy="0"/>
          </a:xfrm>
          <a:prstGeom xmlns:a="http://schemas.openxmlformats.org/drawingml/2006/main" prst="line">
            <a:avLst/>
          </a:prstGeom>
          <a:noFill xmlns:a="http://schemas.openxmlformats.org/drawingml/2006/main"/>
          <a:ln xmlns:a="http://schemas.openxmlformats.org/drawingml/2006/main" w="19050">
            <a:solidFill>
              <a:srgbClr val="A8ADB0"/>
            </a:solidFill>
            <a:prstDash val="solid"/>
          </a:ln>
        </p:spPr>
      </p:sp>
      <p:sp>
        <p:nvSpPr>
          <p:cNvPr id="33" name="Main window frame">
            <a:extLst xmlns:a="http://schemas.openxmlformats.org/drawingml/2006/main">
              <a:ext uri="{FF2B5EF4-FFF2-40B4-BE49-F238E27FC236}">
                <a16:creationId xmlns:a16="http://schemas.microsoft.com/office/drawing/2014/main" id="{D6A93777-BF8F-45CD-AD4B-8849FA4E9AEE}"/>
              </a:ext>
            </a:extLst>
          </p:cNvPr>
          <p:cNvSpPr>
            <a:spLocks xmlns:a="http://schemas.openxmlformats.org/drawingml/2006/main" noGrp="1"/>
          </p:cNvSpPr>
          <p:nvPr/>
        </p:nvSpPr>
        <p:spPr>
          <a:xfrm xmlns:a="http://schemas.openxmlformats.org/drawingml/2006/main">
            <a:off x="3810000" y="2952750"/>
            <a:ext cx="4191000" cy="2609850"/>
          </a:xfrm>
          <a:prstGeom xmlns:a="http://schemas.openxmlformats.org/drawingml/2006/main" prst="rect">
            <a:avLst/>
          </a:prstGeom>
          <a:solidFill xmlns:a="http://schemas.openxmlformats.org/drawingml/2006/main">
            <a:srgbClr val="1C3042"/>
          </a:solidFill>
          <a:ln xmlns:a="http://schemas.openxmlformats.org/drawingml/2006/main" w="28575">
            <a:solidFill>
              <a:srgbClr val="292B2D"/>
            </a:solidFill>
            <a:prstDash val="solid"/>
          </a:ln>
        </p:spPr>
      </p:sp>
      <p:sp>
        <p:nvSpPr>
          <p:cNvPr id="34" name="Main window mullion">
            <a:extLst xmlns:a="http://schemas.openxmlformats.org/drawingml/2006/main">
              <a:ext uri="{FF2B5EF4-FFF2-40B4-BE49-F238E27FC236}">
                <a16:creationId xmlns:a16="http://schemas.microsoft.com/office/drawing/2014/main" id="{298F58E6-A320-4DF5-82BC-9C671D9622E1}"/>
              </a:ext>
            </a:extLst>
          </p:cNvPr>
          <p:cNvSpPr>
            <a:spLocks xmlns:a="http://schemas.openxmlformats.org/drawingml/2006/main" noGrp="1"/>
          </p:cNvSpPr>
          <p:nvPr/>
        </p:nvSpPr>
        <p:spPr>
          <a:xfrm xmlns:a="http://schemas.openxmlformats.org/drawingml/2006/main" flipH="0" flipV="0">
            <a:off x="5905500" y="2952750"/>
            <a:ext cx="0" cy="2609850"/>
          </a:xfrm>
          <a:prstGeom xmlns:a="http://schemas.openxmlformats.org/drawingml/2006/main" prst="line">
            <a:avLst/>
          </a:prstGeom>
          <a:noFill xmlns:a="http://schemas.openxmlformats.org/drawingml/2006/main"/>
          <a:ln xmlns:a="http://schemas.openxmlformats.org/drawingml/2006/main" w="57150">
            <a:solidFill>
              <a:srgbClr val="A8ADB0"/>
            </a:solidFill>
            <a:prstDash val="solid"/>
          </a:ln>
        </p:spPr>
      </p:sp>
      <p:sp>
        <p:nvSpPr>
          <p:cNvPr id="35" name="W5 chimney loft shutter">
            <a:extLst xmlns:a="http://schemas.openxmlformats.org/drawingml/2006/main">
              <a:ext uri="{FF2B5EF4-FFF2-40B4-BE49-F238E27FC236}">
                <a16:creationId xmlns:a16="http://schemas.microsoft.com/office/drawing/2014/main" id="{A89FF90A-1816-4EA1-A8A7-2403810CD033}"/>
              </a:ext>
            </a:extLst>
          </p:cNvPr>
          <p:cNvSpPr>
            <a:spLocks xmlns:a="http://schemas.openxmlformats.org/drawingml/2006/main" noGrp="1"/>
          </p:cNvSpPr>
          <p:nvPr/>
        </p:nvSpPr>
        <p:spPr>
          <a:xfrm xmlns:a="http://schemas.openxmlformats.org/drawingml/2006/main">
            <a:off x="8001000" y="1714500"/>
            <a:ext cx="3048000" cy="1190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36" name="W5 chimney loft handle">
            <a:extLst xmlns:a="http://schemas.openxmlformats.org/drawingml/2006/main">
              <a:ext uri="{FF2B5EF4-FFF2-40B4-BE49-F238E27FC236}">
                <a16:creationId xmlns:a16="http://schemas.microsoft.com/office/drawing/2014/main" id="{0801260F-C1E4-4113-A46E-6C01CF172D96}"/>
              </a:ext>
            </a:extLst>
          </p:cNvPr>
          <p:cNvSpPr>
            <a:spLocks xmlns:a="http://schemas.openxmlformats.org/drawingml/2006/main" noGrp="1"/>
          </p:cNvSpPr>
          <p:nvPr/>
        </p:nvSpPr>
        <p:spPr>
          <a:xfrm xmlns:a="http://schemas.openxmlformats.org/drawingml/2006/main">
            <a:off x="9324975" y="2695575"/>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37" name="W5 concealed chimney lower shutter">
            <a:extLst xmlns:a="http://schemas.openxmlformats.org/drawingml/2006/main">
              <a:ext uri="{FF2B5EF4-FFF2-40B4-BE49-F238E27FC236}">
                <a16:creationId xmlns:a16="http://schemas.microsoft.com/office/drawing/2014/main" id="{B97460EA-7505-45C6-A111-7B0CD08EA4C0}"/>
              </a:ext>
            </a:extLst>
          </p:cNvPr>
          <p:cNvSpPr>
            <a:spLocks xmlns:a="http://schemas.openxmlformats.org/drawingml/2006/main" noGrp="1"/>
          </p:cNvSpPr>
          <p:nvPr/>
        </p:nvSpPr>
        <p:spPr>
          <a:xfrm xmlns:a="http://schemas.openxmlformats.org/drawingml/2006/main">
            <a:off x="8001000" y="2905125"/>
            <a:ext cx="3048000" cy="1571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38" name="W5 concealed chimney lower handle">
            <a:extLst xmlns:a="http://schemas.openxmlformats.org/drawingml/2006/main">
              <a:ext uri="{FF2B5EF4-FFF2-40B4-BE49-F238E27FC236}">
                <a16:creationId xmlns:a16="http://schemas.microsoft.com/office/drawing/2014/main" id="{0508E955-EC6E-4313-85D8-3C21B45574FF}"/>
              </a:ext>
            </a:extLst>
          </p:cNvPr>
          <p:cNvSpPr>
            <a:spLocks xmlns:a="http://schemas.openxmlformats.org/drawingml/2006/main" noGrp="1"/>
          </p:cNvSpPr>
          <p:nvPr/>
        </p:nvSpPr>
        <p:spPr>
          <a:xfrm xmlns:a="http://schemas.openxmlformats.org/drawingml/2006/main">
            <a:off x="9324975" y="42672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39" name="Hood filter underside">
            <a:extLst xmlns:a="http://schemas.openxmlformats.org/drawingml/2006/main">
              <a:ext uri="{FF2B5EF4-FFF2-40B4-BE49-F238E27FC236}">
                <a16:creationId xmlns:a16="http://schemas.microsoft.com/office/drawing/2014/main" id="{CE0B1B75-30E1-4A6B-A69D-594400F3E191}"/>
              </a:ext>
            </a:extLst>
          </p:cNvPr>
          <p:cNvSpPr>
            <a:spLocks xmlns:a="http://schemas.openxmlformats.org/drawingml/2006/main" noGrp="1"/>
          </p:cNvSpPr>
          <p:nvPr/>
        </p:nvSpPr>
        <p:spPr>
          <a:xfrm xmlns:a="http://schemas.openxmlformats.org/drawingml/2006/main">
            <a:off x="8362950" y="4429125"/>
            <a:ext cx="2324100" cy="95250"/>
          </a:xfrm>
          <a:prstGeom xmlns:a="http://schemas.openxmlformats.org/drawingml/2006/main" prst="rect">
            <a:avLst/>
          </a:prstGeom>
          <a:solidFill xmlns:a="http://schemas.openxmlformats.org/drawingml/2006/main">
            <a:srgbClr val="A8ADB0"/>
          </a:solidFill>
          <a:ln xmlns:a="http://schemas.openxmlformats.org/drawingml/2006/main" w="9525">
            <a:solidFill>
              <a:srgbClr val="292B2D"/>
            </a:solidFill>
            <a:prstDash val="solid"/>
          </a:ln>
        </p:spPr>
      </p:sp>
      <p:sp>
        <p:nvSpPr>
          <p:cNvPr id="40" name="Hood lamp 0">
            <a:extLst xmlns:a="http://schemas.openxmlformats.org/drawingml/2006/main">
              <a:ext uri="{FF2B5EF4-FFF2-40B4-BE49-F238E27FC236}">
                <a16:creationId xmlns:a16="http://schemas.microsoft.com/office/drawing/2014/main" id="{35DEE3D4-5423-4E63-844B-7CD56F9386B1}"/>
              </a:ext>
            </a:extLst>
          </p:cNvPr>
          <p:cNvSpPr>
            <a:spLocks xmlns:a="http://schemas.openxmlformats.org/drawingml/2006/main" noGrp="1"/>
          </p:cNvSpPr>
          <p:nvPr/>
        </p:nvSpPr>
        <p:spPr>
          <a:xfrm xmlns:a="http://schemas.openxmlformats.org/drawingml/2006/main">
            <a:off x="8763000" y="4476750"/>
            <a:ext cx="142875" cy="47625"/>
          </a:xfrm>
          <a:prstGeom xmlns:a="http://schemas.openxmlformats.org/drawingml/2006/main" prst="ellipse">
            <a:avLst/>
          </a:prstGeom>
          <a:solidFill xmlns:a="http://schemas.openxmlformats.org/drawingml/2006/main">
            <a:srgbClr val="F5C96D"/>
          </a:solidFill>
          <a:ln xmlns:a="http://schemas.openxmlformats.org/drawingml/2006/main" w="9525">
            <a:solidFill>
              <a:srgbClr val="292B2D"/>
            </a:solidFill>
            <a:prstDash val="solid"/>
          </a:ln>
        </p:spPr>
      </p:sp>
      <p:sp>
        <p:nvSpPr>
          <p:cNvPr id="41" name="Hood lamp 1">
            <a:extLst xmlns:a="http://schemas.openxmlformats.org/drawingml/2006/main">
              <a:ext uri="{FF2B5EF4-FFF2-40B4-BE49-F238E27FC236}">
                <a16:creationId xmlns:a16="http://schemas.microsoft.com/office/drawing/2014/main" id="{B273AA53-CE2E-46AD-B047-C486C857B5E8}"/>
              </a:ext>
            </a:extLst>
          </p:cNvPr>
          <p:cNvSpPr>
            <a:spLocks xmlns:a="http://schemas.openxmlformats.org/drawingml/2006/main" noGrp="1"/>
          </p:cNvSpPr>
          <p:nvPr/>
        </p:nvSpPr>
        <p:spPr>
          <a:xfrm xmlns:a="http://schemas.openxmlformats.org/drawingml/2006/main">
            <a:off x="10287000" y="4476750"/>
            <a:ext cx="142875" cy="47625"/>
          </a:xfrm>
          <a:prstGeom xmlns:a="http://schemas.openxmlformats.org/drawingml/2006/main" prst="ellipse">
            <a:avLst/>
          </a:prstGeom>
          <a:solidFill xmlns:a="http://schemas.openxmlformats.org/drawingml/2006/main">
            <a:srgbClr val="F5C96D"/>
          </a:solidFill>
          <a:ln xmlns:a="http://schemas.openxmlformats.org/drawingml/2006/main" w="9525">
            <a:solidFill>
              <a:srgbClr val="292B2D"/>
            </a:solidFill>
            <a:prstDash val="solid"/>
          </a:ln>
        </p:spPr>
      </p:sp>
      <p:sp>
        <p:nvSpPr>
          <p:cNvPr id="42" name="Window-wall backsplash left">
            <a:extLst xmlns:a="http://schemas.openxmlformats.org/drawingml/2006/main">
              <a:ext uri="{FF2B5EF4-FFF2-40B4-BE49-F238E27FC236}">
                <a16:creationId xmlns:a16="http://schemas.microsoft.com/office/drawing/2014/main" id="{4DD5B3C5-C66C-47C5-84FE-C791951E8E34}"/>
              </a:ext>
            </a:extLst>
          </p:cNvPr>
          <p:cNvSpPr>
            <a:spLocks xmlns:a="http://schemas.openxmlformats.org/drawingml/2006/main" noGrp="1"/>
          </p:cNvSpPr>
          <p:nvPr/>
        </p:nvSpPr>
        <p:spPr>
          <a:xfrm xmlns:a="http://schemas.openxmlformats.org/drawingml/2006/main">
            <a:off x="666750" y="4524375"/>
            <a:ext cx="3143250" cy="1285875"/>
          </a:xfrm>
          <a:prstGeom xmlns:a="http://schemas.openxmlformats.org/drawingml/2006/main" prst="rect">
            <a:avLst/>
          </a:prstGeom>
          <a:solidFill xmlns:a="http://schemas.openxmlformats.org/drawingml/2006/main">
            <a:srgbClr val="F6F3ED"/>
          </a:solidFill>
          <a:ln xmlns:a="http://schemas.openxmlformats.org/drawingml/2006/main" w="0">
            <a:noFill/>
            <a:prstDash val="solid"/>
          </a:ln>
        </p:spPr>
      </p:sp>
      <p:sp>
        <p:nvSpPr>
          <p:cNvPr id="43" name="Window-wall backsplash right">
            <a:extLst xmlns:a="http://schemas.openxmlformats.org/drawingml/2006/main">
              <a:ext uri="{FF2B5EF4-FFF2-40B4-BE49-F238E27FC236}">
                <a16:creationId xmlns:a16="http://schemas.microsoft.com/office/drawing/2014/main" id="{515F7538-D288-4842-89AC-6111EE47710D}"/>
              </a:ext>
            </a:extLst>
          </p:cNvPr>
          <p:cNvSpPr>
            <a:spLocks xmlns:a="http://schemas.openxmlformats.org/drawingml/2006/main" noGrp="1"/>
          </p:cNvSpPr>
          <p:nvPr/>
        </p:nvSpPr>
        <p:spPr>
          <a:xfrm xmlns:a="http://schemas.openxmlformats.org/drawingml/2006/main">
            <a:off x="8001000" y="4572000"/>
            <a:ext cx="3048000" cy="1238250"/>
          </a:xfrm>
          <a:prstGeom xmlns:a="http://schemas.openxmlformats.org/drawingml/2006/main" prst="rect">
            <a:avLst/>
          </a:prstGeom>
          <a:solidFill xmlns:a="http://schemas.openxmlformats.org/drawingml/2006/main">
            <a:srgbClr val="F6F3ED"/>
          </a:solidFill>
          <a:ln xmlns:a="http://schemas.openxmlformats.org/drawingml/2006/main" w="0">
            <a:noFill/>
            <a:prstDash val="solid"/>
          </a:ln>
        </p:spPr>
      </p:sp>
      <p:sp>
        <p:nvSpPr>
          <p:cNvPr id="44" name="Left task light">
            <a:extLst xmlns:a="http://schemas.openxmlformats.org/drawingml/2006/main">
              <a:ext uri="{FF2B5EF4-FFF2-40B4-BE49-F238E27FC236}">
                <a16:creationId xmlns:a16="http://schemas.microsoft.com/office/drawing/2014/main" id="{FDFC834A-072B-4392-B9A4-DCE95CB99766}"/>
              </a:ext>
            </a:extLst>
          </p:cNvPr>
          <p:cNvSpPr>
            <a:spLocks xmlns:a="http://schemas.openxmlformats.org/drawingml/2006/main" noGrp="1"/>
          </p:cNvSpPr>
          <p:nvPr/>
        </p:nvSpPr>
        <p:spPr>
          <a:xfrm xmlns:a="http://schemas.openxmlformats.org/drawingml/2006/main" flipH="0" flipV="0">
            <a:off x="666750" y="4505325"/>
            <a:ext cx="3143250" cy="0"/>
          </a:xfrm>
          <a:prstGeom xmlns:a="http://schemas.openxmlformats.org/drawingml/2006/main" prst="line">
            <a:avLst/>
          </a:prstGeom>
          <a:noFill xmlns:a="http://schemas.openxmlformats.org/drawingml/2006/main"/>
          <a:ln xmlns:a="http://schemas.openxmlformats.org/drawingml/2006/main" w="47625">
            <a:solidFill>
              <a:srgbClr val="F5C96D"/>
            </a:solidFill>
            <a:prstDash val="solid"/>
          </a:ln>
        </p:spPr>
      </p:sp>
      <p:sp>
        <p:nvSpPr>
          <p:cNvPr id="45" name="Hood task light">
            <a:extLst xmlns:a="http://schemas.openxmlformats.org/drawingml/2006/main">
              <a:ext uri="{FF2B5EF4-FFF2-40B4-BE49-F238E27FC236}">
                <a16:creationId xmlns:a16="http://schemas.microsoft.com/office/drawing/2014/main" id="{90BE448B-073E-4F0C-B944-CBB7CB956A71}"/>
              </a:ext>
            </a:extLst>
          </p:cNvPr>
          <p:cNvSpPr>
            <a:spLocks xmlns:a="http://schemas.openxmlformats.org/drawingml/2006/main" noGrp="1"/>
          </p:cNvSpPr>
          <p:nvPr/>
        </p:nvSpPr>
        <p:spPr>
          <a:xfrm xmlns:a="http://schemas.openxmlformats.org/drawingml/2006/main" flipH="0" flipV="0">
            <a:off x="8001000" y="4572000"/>
            <a:ext cx="3048000" cy="0"/>
          </a:xfrm>
          <a:prstGeom xmlns:a="http://schemas.openxmlformats.org/drawingml/2006/main" prst="line">
            <a:avLst/>
          </a:prstGeom>
          <a:noFill xmlns:a="http://schemas.openxmlformats.org/drawingml/2006/main"/>
          <a:ln xmlns:a="http://schemas.openxmlformats.org/drawingml/2006/main" w="38100">
            <a:solidFill>
              <a:srgbClr val="F5C96D"/>
            </a:solidFill>
            <a:prstDash val="solid"/>
          </a:ln>
        </p:spPr>
      </p:sp>
      <p:sp>
        <p:nvSpPr>
          <p:cNvPr id="46" name="Continuous window-wall worktop">
            <a:extLst xmlns:a="http://schemas.openxmlformats.org/drawingml/2006/main">
              <a:ext uri="{FF2B5EF4-FFF2-40B4-BE49-F238E27FC236}">
                <a16:creationId xmlns:a16="http://schemas.microsoft.com/office/drawing/2014/main" id="{09813064-A2B2-4C6F-AF39-AA8DC900497D}"/>
              </a:ext>
            </a:extLst>
          </p:cNvPr>
          <p:cNvSpPr>
            <a:spLocks xmlns:a="http://schemas.openxmlformats.org/drawingml/2006/main" noGrp="1"/>
          </p:cNvSpPr>
          <p:nvPr/>
        </p:nvSpPr>
        <p:spPr>
          <a:xfrm xmlns:a="http://schemas.openxmlformats.org/drawingml/2006/main">
            <a:off x="666750" y="5810250"/>
            <a:ext cx="10382250" cy="133350"/>
          </a:xfrm>
          <a:prstGeom xmlns:a="http://schemas.openxmlformats.org/drawingml/2006/main" prst="rect">
            <a:avLst/>
          </a:prstGeom>
          <a:solidFill xmlns:a="http://schemas.openxmlformats.org/drawingml/2006/main">
            <a:srgbClr val="292B2D"/>
          </a:solidFill>
          <a:ln xmlns:a="http://schemas.openxmlformats.org/drawingml/2006/main" w="9525">
            <a:solidFill>
              <a:srgbClr val="292B2D"/>
            </a:solidFill>
            <a:prstDash val="solid"/>
          </a:ln>
        </p:spPr>
      </p:sp>
      <p:sp>
        <p:nvSpPr>
          <p:cNvPr id="47" name="W1 light drawer 1 shutter">
            <a:extLst xmlns:a="http://schemas.openxmlformats.org/drawingml/2006/main">
              <a:ext uri="{FF2B5EF4-FFF2-40B4-BE49-F238E27FC236}">
                <a16:creationId xmlns:a16="http://schemas.microsoft.com/office/drawing/2014/main" id="{98806166-8F2D-442E-9D0B-0B3A3883B721}"/>
              </a:ext>
            </a:extLst>
          </p:cNvPr>
          <p:cNvSpPr>
            <a:spLocks xmlns:a="http://schemas.openxmlformats.org/drawingml/2006/main" noGrp="1"/>
          </p:cNvSpPr>
          <p:nvPr/>
        </p:nvSpPr>
        <p:spPr>
          <a:xfrm xmlns:a="http://schemas.openxmlformats.org/drawingml/2006/main">
            <a:off x="666750" y="5943600"/>
            <a:ext cx="1571625" cy="400050"/>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48" name="W1 light drawer 1 handle">
            <a:extLst xmlns:a="http://schemas.openxmlformats.org/drawingml/2006/main">
              <a:ext uri="{FF2B5EF4-FFF2-40B4-BE49-F238E27FC236}">
                <a16:creationId xmlns:a16="http://schemas.microsoft.com/office/drawing/2014/main" id="{F5494B26-1DE0-4433-B007-E1C72B72A6FB}"/>
              </a:ext>
            </a:extLst>
          </p:cNvPr>
          <p:cNvSpPr>
            <a:spLocks xmlns:a="http://schemas.openxmlformats.org/drawingml/2006/main" noGrp="1"/>
          </p:cNvSpPr>
          <p:nvPr/>
        </p:nvSpPr>
        <p:spPr>
          <a:xfrm xmlns:a="http://schemas.openxmlformats.org/drawingml/2006/main">
            <a:off x="1252538" y="6143625"/>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49" name="W1 light drawer 2 shutter">
            <a:extLst xmlns:a="http://schemas.openxmlformats.org/drawingml/2006/main">
              <a:ext uri="{FF2B5EF4-FFF2-40B4-BE49-F238E27FC236}">
                <a16:creationId xmlns:a16="http://schemas.microsoft.com/office/drawing/2014/main" id="{DEA366D8-766A-448A-9EE2-57B9181A8E23}"/>
              </a:ext>
            </a:extLst>
          </p:cNvPr>
          <p:cNvSpPr>
            <a:spLocks xmlns:a="http://schemas.openxmlformats.org/drawingml/2006/main" noGrp="1"/>
          </p:cNvSpPr>
          <p:nvPr/>
        </p:nvSpPr>
        <p:spPr>
          <a:xfrm xmlns:a="http://schemas.openxmlformats.org/drawingml/2006/main">
            <a:off x="666750" y="6343650"/>
            <a:ext cx="1571625" cy="571500"/>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50" name="W1 light drawer 2 handle">
            <a:extLst xmlns:a="http://schemas.openxmlformats.org/drawingml/2006/main">
              <a:ext uri="{FF2B5EF4-FFF2-40B4-BE49-F238E27FC236}">
                <a16:creationId xmlns:a16="http://schemas.microsoft.com/office/drawing/2014/main" id="{DDF6088B-0E42-47C2-9FA4-DB24A4562B34}"/>
              </a:ext>
            </a:extLst>
          </p:cNvPr>
          <p:cNvSpPr>
            <a:spLocks xmlns:a="http://schemas.openxmlformats.org/drawingml/2006/main" noGrp="1"/>
          </p:cNvSpPr>
          <p:nvPr/>
        </p:nvSpPr>
        <p:spPr>
          <a:xfrm xmlns:a="http://schemas.openxmlformats.org/drawingml/2006/main">
            <a:off x="1252538" y="66294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51" name="W1 light drawer 3 shutter">
            <a:extLst xmlns:a="http://schemas.openxmlformats.org/drawingml/2006/main">
              <a:ext uri="{FF2B5EF4-FFF2-40B4-BE49-F238E27FC236}">
                <a16:creationId xmlns:a16="http://schemas.microsoft.com/office/drawing/2014/main" id="{9CF0942F-7494-4417-9E33-59AD52882827}"/>
              </a:ext>
            </a:extLst>
          </p:cNvPr>
          <p:cNvSpPr>
            <a:spLocks xmlns:a="http://schemas.openxmlformats.org/drawingml/2006/main" noGrp="1"/>
          </p:cNvSpPr>
          <p:nvPr/>
        </p:nvSpPr>
        <p:spPr>
          <a:xfrm xmlns:a="http://schemas.openxmlformats.org/drawingml/2006/main">
            <a:off x="666750" y="6915150"/>
            <a:ext cx="1571625" cy="571500"/>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52" name="W1 light drawer 3 handle">
            <a:extLst xmlns:a="http://schemas.openxmlformats.org/drawingml/2006/main">
              <a:ext uri="{FF2B5EF4-FFF2-40B4-BE49-F238E27FC236}">
                <a16:creationId xmlns:a16="http://schemas.microsoft.com/office/drawing/2014/main" id="{123E4816-E542-4FC3-A55B-8420BD859700}"/>
              </a:ext>
            </a:extLst>
          </p:cNvPr>
          <p:cNvSpPr>
            <a:spLocks xmlns:a="http://schemas.openxmlformats.org/drawingml/2006/main" noGrp="1"/>
          </p:cNvSpPr>
          <p:nvPr/>
        </p:nvSpPr>
        <p:spPr>
          <a:xfrm xmlns:a="http://schemas.openxmlformats.org/drawingml/2006/main">
            <a:off x="1252538" y="72009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53" name="W2 light drawer 1 shutter">
            <a:extLst xmlns:a="http://schemas.openxmlformats.org/drawingml/2006/main">
              <a:ext uri="{FF2B5EF4-FFF2-40B4-BE49-F238E27FC236}">
                <a16:creationId xmlns:a16="http://schemas.microsoft.com/office/drawing/2014/main" id="{055C806A-19BF-416A-B786-E1A628E92994}"/>
              </a:ext>
            </a:extLst>
          </p:cNvPr>
          <p:cNvSpPr>
            <a:spLocks xmlns:a="http://schemas.openxmlformats.org/drawingml/2006/main" noGrp="1"/>
          </p:cNvSpPr>
          <p:nvPr/>
        </p:nvSpPr>
        <p:spPr>
          <a:xfrm xmlns:a="http://schemas.openxmlformats.org/drawingml/2006/main">
            <a:off x="2238375" y="5943600"/>
            <a:ext cx="1571625" cy="400050"/>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54" name="W2 light drawer 1 handle">
            <a:extLst xmlns:a="http://schemas.openxmlformats.org/drawingml/2006/main">
              <a:ext uri="{FF2B5EF4-FFF2-40B4-BE49-F238E27FC236}">
                <a16:creationId xmlns:a16="http://schemas.microsoft.com/office/drawing/2014/main" id="{FA442C4E-D351-4A59-A4B6-E3FDE27E88A2}"/>
              </a:ext>
            </a:extLst>
          </p:cNvPr>
          <p:cNvSpPr>
            <a:spLocks xmlns:a="http://schemas.openxmlformats.org/drawingml/2006/main" noGrp="1"/>
          </p:cNvSpPr>
          <p:nvPr/>
        </p:nvSpPr>
        <p:spPr>
          <a:xfrm xmlns:a="http://schemas.openxmlformats.org/drawingml/2006/main">
            <a:off x="2824163" y="6143625"/>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55" name="W2 light drawer 2 shutter">
            <a:extLst xmlns:a="http://schemas.openxmlformats.org/drawingml/2006/main">
              <a:ext uri="{FF2B5EF4-FFF2-40B4-BE49-F238E27FC236}">
                <a16:creationId xmlns:a16="http://schemas.microsoft.com/office/drawing/2014/main" id="{D04809CB-CD95-46EF-885C-2497B2C8288F}"/>
              </a:ext>
            </a:extLst>
          </p:cNvPr>
          <p:cNvSpPr>
            <a:spLocks xmlns:a="http://schemas.openxmlformats.org/drawingml/2006/main" noGrp="1"/>
          </p:cNvSpPr>
          <p:nvPr/>
        </p:nvSpPr>
        <p:spPr>
          <a:xfrm xmlns:a="http://schemas.openxmlformats.org/drawingml/2006/main">
            <a:off x="2238375" y="6343650"/>
            <a:ext cx="1571625" cy="571500"/>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56" name="W2 light drawer 2 handle">
            <a:extLst xmlns:a="http://schemas.openxmlformats.org/drawingml/2006/main">
              <a:ext uri="{FF2B5EF4-FFF2-40B4-BE49-F238E27FC236}">
                <a16:creationId xmlns:a16="http://schemas.microsoft.com/office/drawing/2014/main" id="{E8B4354F-AB15-4DDB-A9C8-979C1C00CE28}"/>
              </a:ext>
            </a:extLst>
          </p:cNvPr>
          <p:cNvSpPr>
            <a:spLocks xmlns:a="http://schemas.openxmlformats.org/drawingml/2006/main" noGrp="1"/>
          </p:cNvSpPr>
          <p:nvPr/>
        </p:nvSpPr>
        <p:spPr>
          <a:xfrm xmlns:a="http://schemas.openxmlformats.org/drawingml/2006/main">
            <a:off x="2824163" y="66294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57" name="W2 light drawer 3 shutter">
            <a:extLst xmlns:a="http://schemas.openxmlformats.org/drawingml/2006/main">
              <a:ext uri="{FF2B5EF4-FFF2-40B4-BE49-F238E27FC236}">
                <a16:creationId xmlns:a16="http://schemas.microsoft.com/office/drawing/2014/main" id="{3D620E12-54E1-4A2F-ACD8-F4D7711671A6}"/>
              </a:ext>
            </a:extLst>
          </p:cNvPr>
          <p:cNvSpPr>
            <a:spLocks xmlns:a="http://schemas.openxmlformats.org/drawingml/2006/main" noGrp="1"/>
          </p:cNvSpPr>
          <p:nvPr/>
        </p:nvSpPr>
        <p:spPr>
          <a:xfrm xmlns:a="http://schemas.openxmlformats.org/drawingml/2006/main">
            <a:off x="2238375" y="6915150"/>
            <a:ext cx="1571625" cy="571500"/>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58" name="W2 light drawer 3 handle">
            <a:extLst xmlns:a="http://schemas.openxmlformats.org/drawingml/2006/main">
              <a:ext uri="{FF2B5EF4-FFF2-40B4-BE49-F238E27FC236}">
                <a16:creationId xmlns:a16="http://schemas.microsoft.com/office/drawing/2014/main" id="{EC8BD87E-16E3-426F-9F91-8D58CDC4BA40}"/>
              </a:ext>
            </a:extLst>
          </p:cNvPr>
          <p:cNvSpPr>
            <a:spLocks xmlns:a="http://schemas.openxmlformats.org/drawingml/2006/main" noGrp="1"/>
          </p:cNvSpPr>
          <p:nvPr/>
        </p:nvSpPr>
        <p:spPr>
          <a:xfrm xmlns:a="http://schemas.openxmlformats.org/drawingml/2006/main">
            <a:off x="2824163" y="72009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59" name="W3 walnut drawer 1 shutter">
            <a:extLst xmlns:a="http://schemas.openxmlformats.org/drawingml/2006/main">
              <a:ext uri="{FF2B5EF4-FFF2-40B4-BE49-F238E27FC236}">
                <a16:creationId xmlns:a16="http://schemas.microsoft.com/office/drawing/2014/main" id="{E6A8D984-D232-422F-ACF6-9071E29A0F39}"/>
              </a:ext>
            </a:extLst>
          </p:cNvPr>
          <p:cNvSpPr>
            <a:spLocks xmlns:a="http://schemas.openxmlformats.org/drawingml/2006/main" noGrp="1"/>
          </p:cNvSpPr>
          <p:nvPr/>
        </p:nvSpPr>
        <p:spPr>
          <a:xfrm xmlns:a="http://schemas.openxmlformats.org/drawingml/2006/main">
            <a:off x="3810000" y="5943600"/>
            <a:ext cx="2095500" cy="400050"/>
          </a:xfrm>
          <a:prstGeom xmlns:a="http://schemas.openxmlformats.org/drawingml/2006/main" prst="rect">
            <a:avLst/>
          </a:prstGeom>
          <a:solidFill xmlns:a="http://schemas.openxmlformats.org/drawingml/2006/main">
            <a:srgbClr val="875B3D"/>
          </a:solidFill>
          <a:ln xmlns:a="http://schemas.openxmlformats.org/drawingml/2006/main" w="14288">
            <a:solidFill>
              <a:srgbClr val="6B5543"/>
            </a:solidFill>
            <a:prstDash val="solid"/>
          </a:ln>
        </p:spPr>
      </p:sp>
      <p:sp>
        <p:nvSpPr>
          <p:cNvPr id="60" name="W3 walnut drawer 1 handle">
            <a:extLst xmlns:a="http://schemas.openxmlformats.org/drawingml/2006/main">
              <a:ext uri="{FF2B5EF4-FFF2-40B4-BE49-F238E27FC236}">
                <a16:creationId xmlns:a16="http://schemas.microsoft.com/office/drawing/2014/main" id="{230AE865-D0CD-41FE-818B-3B6E345D2943}"/>
              </a:ext>
            </a:extLst>
          </p:cNvPr>
          <p:cNvSpPr>
            <a:spLocks xmlns:a="http://schemas.openxmlformats.org/drawingml/2006/main" noGrp="1"/>
          </p:cNvSpPr>
          <p:nvPr/>
        </p:nvSpPr>
        <p:spPr>
          <a:xfrm xmlns:a="http://schemas.openxmlformats.org/drawingml/2006/main">
            <a:off x="4657725" y="6143625"/>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61" name="W3 walnut drawer 2 shutter">
            <a:extLst xmlns:a="http://schemas.openxmlformats.org/drawingml/2006/main">
              <a:ext uri="{FF2B5EF4-FFF2-40B4-BE49-F238E27FC236}">
                <a16:creationId xmlns:a16="http://schemas.microsoft.com/office/drawing/2014/main" id="{FEC5B334-BDE8-48ED-8599-95401BA92A80}"/>
              </a:ext>
            </a:extLst>
          </p:cNvPr>
          <p:cNvSpPr>
            <a:spLocks xmlns:a="http://schemas.openxmlformats.org/drawingml/2006/main" noGrp="1"/>
          </p:cNvSpPr>
          <p:nvPr/>
        </p:nvSpPr>
        <p:spPr>
          <a:xfrm xmlns:a="http://schemas.openxmlformats.org/drawingml/2006/main">
            <a:off x="3810000" y="6343650"/>
            <a:ext cx="2095500" cy="571500"/>
          </a:xfrm>
          <a:prstGeom xmlns:a="http://schemas.openxmlformats.org/drawingml/2006/main" prst="rect">
            <a:avLst/>
          </a:prstGeom>
          <a:solidFill xmlns:a="http://schemas.openxmlformats.org/drawingml/2006/main">
            <a:srgbClr val="875B3D"/>
          </a:solidFill>
          <a:ln xmlns:a="http://schemas.openxmlformats.org/drawingml/2006/main" w="14288">
            <a:solidFill>
              <a:srgbClr val="6B5543"/>
            </a:solidFill>
            <a:prstDash val="solid"/>
          </a:ln>
        </p:spPr>
      </p:sp>
      <p:sp>
        <p:nvSpPr>
          <p:cNvPr id="62" name="W3 walnut drawer 2 handle">
            <a:extLst xmlns:a="http://schemas.openxmlformats.org/drawingml/2006/main">
              <a:ext uri="{FF2B5EF4-FFF2-40B4-BE49-F238E27FC236}">
                <a16:creationId xmlns:a16="http://schemas.microsoft.com/office/drawing/2014/main" id="{EB87A313-6687-49B0-B633-7FB63C6F5315}"/>
              </a:ext>
            </a:extLst>
          </p:cNvPr>
          <p:cNvSpPr>
            <a:spLocks xmlns:a="http://schemas.openxmlformats.org/drawingml/2006/main" noGrp="1"/>
          </p:cNvSpPr>
          <p:nvPr/>
        </p:nvSpPr>
        <p:spPr>
          <a:xfrm xmlns:a="http://schemas.openxmlformats.org/drawingml/2006/main">
            <a:off x="4657725" y="66294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63" name="W3 walnut drawer 3 shutter">
            <a:extLst xmlns:a="http://schemas.openxmlformats.org/drawingml/2006/main">
              <a:ext uri="{FF2B5EF4-FFF2-40B4-BE49-F238E27FC236}">
                <a16:creationId xmlns:a16="http://schemas.microsoft.com/office/drawing/2014/main" id="{EAF5862E-3516-4AF4-8D5A-B3398DDDEFEB}"/>
              </a:ext>
            </a:extLst>
          </p:cNvPr>
          <p:cNvSpPr>
            <a:spLocks xmlns:a="http://schemas.openxmlformats.org/drawingml/2006/main" noGrp="1"/>
          </p:cNvSpPr>
          <p:nvPr/>
        </p:nvSpPr>
        <p:spPr>
          <a:xfrm xmlns:a="http://schemas.openxmlformats.org/drawingml/2006/main">
            <a:off x="3810000" y="6915150"/>
            <a:ext cx="2095500" cy="571500"/>
          </a:xfrm>
          <a:prstGeom xmlns:a="http://schemas.openxmlformats.org/drawingml/2006/main" prst="rect">
            <a:avLst/>
          </a:prstGeom>
          <a:solidFill xmlns:a="http://schemas.openxmlformats.org/drawingml/2006/main">
            <a:srgbClr val="875B3D"/>
          </a:solidFill>
          <a:ln xmlns:a="http://schemas.openxmlformats.org/drawingml/2006/main" w="14288">
            <a:solidFill>
              <a:srgbClr val="6B5543"/>
            </a:solidFill>
            <a:prstDash val="solid"/>
          </a:ln>
        </p:spPr>
      </p:sp>
      <p:sp>
        <p:nvSpPr>
          <p:cNvPr id="64" name="W3 walnut drawer 3 handle">
            <a:extLst xmlns:a="http://schemas.openxmlformats.org/drawingml/2006/main">
              <a:ext uri="{FF2B5EF4-FFF2-40B4-BE49-F238E27FC236}">
                <a16:creationId xmlns:a16="http://schemas.microsoft.com/office/drawing/2014/main" id="{C39CAC81-EDD9-48A4-9446-3C934A7A1AC1}"/>
              </a:ext>
            </a:extLst>
          </p:cNvPr>
          <p:cNvSpPr>
            <a:spLocks xmlns:a="http://schemas.openxmlformats.org/drawingml/2006/main" noGrp="1"/>
          </p:cNvSpPr>
          <p:nvPr/>
        </p:nvSpPr>
        <p:spPr>
          <a:xfrm xmlns:a="http://schemas.openxmlformats.org/drawingml/2006/main">
            <a:off x="4657725" y="72009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65" name="W4 walnut drawer 1 shutter">
            <a:extLst xmlns:a="http://schemas.openxmlformats.org/drawingml/2006/main">
              <a:ext uri="{FF2B5EF4-FFF2-40B4-BE49-F238E27FC236}">
                <a16:creationId xmlns:a16="http://schemas.microsoft.com/office/drawing/2014/main" id="{7D401EA1-BC86-4B8D-AFB5-53867E146E7D}"/>
              </a:ext>
            </a:extLst>
          </p:cNvPr>
          <p:cNvSpPr>
            <a:spLocks xmlns:a="http://schemas.openxmlformats.org/drawingml/2006/main" noGrp="1"/>
          </p:cNvSpPr>
          <p:nvPr/>
        </p:nvSpPr>
        <p:spPr>
          <a:xfrm xmlns:a="http://schemas.openxmlformats.org/drawingml/2006/main">
            <a:off x="5905500" y="5943600"/>
            <a:ext cx="5143500" cy="400050"/>
          </a:xfrm>
          <a:prstGeom xmlns:a="http://schemas.openxmlformats.org/drawingml/2006/main" prst="rect">
            <a:avLst/>
          </a:prstGeom>
          <a:solidFill xmlns:a="http://schemas.openxmlformats.org/drawingml/2006/main">
            <a:srgbClr val="875B3D"/>
          </a:solidFill>
          <a:ln xmlns:a="http://schemas.openxmlformats.org/drawingml/2006/main" w="14288">
            <a:solidFill>
              <a:srgbClr val="6B5543"/>
            </a:solidFill>
            <a:prstDash val="solid"/>
          </a:ln>
        </p:spPr>
      </p:sp>
      <p:sp>
        <p:nvSpPr>
          <p:cNvPr id="66" name="W4 walnut drawer 1 handle">
            <a:extLst xmlns:a="http://schemas.openxmlformats.org/drawingml/2006/main">
              <a:ext uri="{FF2B5EF4-FFF2-40B4-BE49-F238E27FC236}">
                <a16:creationId xmlns:a16="http://schemas.microsoft.com/office/drawing/2014/main" id="{9AD7FB29-95F4-4C6A-8B33-73E4AC5FF2D6}"/>
              </a:ext>
            </a:extLst>
          </p:cNvPr>
          <p:cNvSpPr>
            <a:spLocks xmlns:a="http://schemas.openxmlformats.org/drawingml/2006/main" noGrp="1"/>
          </p:cNvSpPr>
          <p:nvPr/>
        </p:nvSpPr>
        <p:spPr>
          <a:xfrm xmlns:a="http://schemas.openxmlformats.org/drawingml/2006/main">
            <a:off x="8277225" y="6143625"/>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67" name="W4 walnut drawer 2 shutter">
            <a:extLst xmlns:a="http://schemas.openxmlformats.org/drawingml/2006/main">
              <a:ext uri="{FF2B5EF4-FFF2-40B4-BE49-F238E27FC236}">
                <a16:creationId xmlns:a16="http://schemas.microsoft.com/office/drawing/2014/main" id="{DBD7621C-2182-42D0-9020-17A5B170240E}"/>
              </a:ext>
            </a:extLst>
          </p:cNvPr>
          <p:cNvSpPr>
            <a:spLocks xmlns:a="http://schemas.openxmlformats.org/drawingml/2006/main" noGrp="1"/>
          </p:cNvSpPr>
          <p:nvPr/>
        </p:nvSpPr>
        <p:spPr>
          <a:xfrm xmlns:a="http://schemas.openxmlformats.org/drawingml/2006/main">
            <a:off x="5905500" y="6343650"/>
            <a:ext cx="5143500" cy="571500"/>
          </a:xfrm>
          <a:prstGeom xmlns:a="http://schemas.openxmlformats.org/drawingml/2006/main" prst="rect">
            <a:avLst/>
          </a:prstGeom>
          <a:solidFill xmlns:a="http://schemas.openxmlformats.org/drawingml/2006/main">
            <a:srgbClr val="875B3D"/>
          </a:solidFill>
          <a:ln xmlns:a="http://schemas.openxmlformats.org/drawingml/2006/main" w="14288">
            <a:solidFill>
              <a:srgbClr val="6B5543"/>
            </a:solidFill>
            <a:prstDash val="solid"/>
          </a:ln>
        </p:spPr>
      </p:sp>
      <p:sp>
        <p:nvSpPr>
          <p:cNvPr id="68" name="W4 walnut drawer 2 handle">
            <a:extLst xmlns:a="http://schemas.openxmlformats.org/drawingml/2006/main">
              <a:ext uri="{FF2B5EF4-FFF2-40B4-BE49-F238E27FC236}">
                <a16:creationId xmlns:a16="http://schemas.microsoft.com/office/drawing/2014/main" id="{46F6D8C2-5CA4-4807-A606-2927EA9A1DC6}"/>
              </a:ext>
            </a:extLst>
          </p:cNvPr>
          <p:cNvSpPr>
            <a:spLocks xmlns:a="http://schemas.openxmlformats.org/drawingml/2006/main" noGrp="1"/>
          </p:cNvSpPr>
          <p:nvPr/>
        </p:nvSpPr>
        <p:spPr>
          <a:xfrm xmlns:a="http://schemas.openxmlformats.org/drawingml/2006/main">
            <a:off x="8277225" y="66294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69" name="W4 walnut drawer 3 shutter">
            <a:extLst xmlns:a="http://schemas.openxmlformats.org/drawingml/2006/main">
              <a:ext uri="{FF2B5EF4-FFF2-40B4-BE49-F238E27FC236}">
                <a16:creationId xmlns:a16="http://schemas.microsoft.com/office/drawing/2014/main" id="{D2CA00D4-C037-4A4E-897D-9B27CBA55028}"/>
              </a:ext>
            </a:extLst>
          </p:cNvPr>
          <p:cNvSpPr>
            <a:spLocks xmlns:a="http://schemas.openxmlformats.org/drawingml/2006/main" noGrp="1"/>
          </p:cNvSpPr>
          <p:nvPr/>
        </p:nvSpPr>
        <p:spPr>
          <a:xfrm xmlns:a="http://schemas.openxmlformats.org/drawingml/2006/main">
            <a:off x="5905500" y="6915150"/>
            <a:ext cx="5143500" cy="571500"/>
          </a:xfrm>
          <a:prstGeom xmlns:a="http://schemas.openxmlformats.org/drawingml/2006/main" prst="rect">
            <a:avLst/>
          </a:prstGeom>
          <a:solidFill xmlns:a="http://schemas.openxmlformats.org/drawingml/2006/main">
            <a:srgbClr val="875B3D"/>
          </a:solidFill>
          <a:ln xmlns:a="http://schemas.openxmlformats.org/drawingml/2006/main" w="14288">
            <a:solidFill>
              <a:srgbClr val="6B5543"/>
            </a:solidFill>
            <a:prstDash val="solid"/>
          </a:ln>
        </p:spPr>
      </p:sp>
      <p:sp>
        <p:nvSpPr>
          <p:cNvPr id="70" name="W4 walnut drawer 3 handle">
            <a:extLst xmlns:a="http://schemas.openxmlformats.org/drawingml/2006/main">
              <a:ext uri="{FF2B5EF4-FFF2-40B4-BE49-F238E27FC236}">
                <a16:creationId xmlns:a16="http://schemas.microsoft.com/office/drawing/2014/main" id="{DE152A00-4785-443D-9571-0BFC1FAF4191}"/>
              </a:ext>
            </a:extLst>
          </p:cNvPr>
          <p:cNvSpPr>
            <a:spLocks xmlns:a="http://schemas.openxmlformats.org/drawingml/2006/main" noGrp="1"/>
          </p:cNvSpPr>
          <p:nvPr/>
        </p:nvSpPr>
        <p:spPr>
          <a:xfrm xmlns:a="http://schemas.openxmlformats.org/drawingml/2006/main">
            <a:off x="8277225" y="72009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71" name="Continuous base plinth">
            <a:extLst xmlns:a="http://schemas.openxmlformats.org/drawingml/2006/main">
              <a:ext uri="{FF2B5EF4-FFF2-40B4-BE49-F238E27FC236}">
                <a16:creationId xmlns:a16="http://schemas.microsoft.com/office/drawing/2014/main" id="{D213E1F6-FBCF-438F-8E50-7503D94EAF07}"/>
              </a:ext>
            </a:extLst>
          </p:cNvPr>
          <p:cNvSpPr>
            <a:spLocks xmlns:a="http://schemas.openxmlformats.org/drawingml/2006/main" noGrp="1"/>
          </p:cNvSpPr>
          <p:nvPr/>
        </p:nvSpPr>
        <p:spPr>
          <a:xfrm xmlns:a="http://schemas.openxmlformats.org/drawingml/2006/main">
            <a:off x="666750" y="7486650"/>
            <a:ext cx="10382250" cy="114300"/>
          </a:xfrm>
          <a:prstGeom xmlns:a="http://schemas.openxmlformats.org/drawingml/2006/main" prst="rect">
            <a:avLst/>
          </a:prstGeom>
          <a:solidFill xmlns:a="http://schemas.openxmlformats.org/drawingml/2006/main">
            <a:srgbClr val="292B2D"/>
          </a:solidFill>
          <a:ln xmlns:a="http://schemas.openxmlformats.org/drawingml/2006/main" w="9525">
            <a:solidFill>
              <a:srgbClr val="292B2D"/>
            </a:solidFill>
            <a:prstDash val="solid"/>
          </a:ln>
        </p:spPr>
      </p:sp>
      <p:sp>
        <p:nvSpPr>
          <p:cNvPr id="72" name="Hob front">
            <a:extLst xmlns:a="http://schemas.openxmlformats.org/drawingml/2006/main">
              <a:ext uri="{FF2B5EF4-FFF2-40B4-BE49-F238E27FC236}">
                <a16:creationId xmlns:a16="http://schemas.microsoft.com/office/drawing/2014/main" id="{3050B294-FD28-4668-A05B-E1A4B2E6539A}"/>
              </a:ext>
            </a:extLst>
          </p:cNvPr>
          <p:cNvSpPr>
            <a:spLocks xmlns:a="http://schemas.openxmlformats.org/drawingml/2006/main" noGrp="1"/>
          </p:cNvSpPr>
          <p:nvPr/>
        </p:nvSpPr>
        <p:spPr>
          <a:xfrm xmlns:a="http://schemas.openxmlformats.org/drawingml/2006/main">
            <a:off x="8810625" y="5657850"/>
            <a:ext cx="1524000" cy="152400"/>
          </a:xfrm>
          <a:prstGeom xmlns:a="http://schemas.openxmlformats.org/drawingml/2006/main" prst="rect">
            <a:avLst/>
          </a:prstGeom>
          <a:solidFill xmlns:a="http://schemas.openxmlformats.org/drawingml/2006/main">
            <a:srgbClr val="292B2D"/>
          </a:solidFill>
          <a:ln xmlns:a="http://schemas.openxmlformats.org/drawingml/2006/main" w="9525">
            <a:solidFill>
              <a:srgbClr val="A8ADB0"/>
            </a:solidFill>
            <a:prstDash val="solid"/>
          </a:ln>
        </p:spPr>
      </p:sp>
      <p:sp>
        <p:nvSpPr>
          <p:cNvPr id="73" name="Window elevation burner 0 outer">
            <a:extLst xmlns:a="http://schemas.openxmlformats.org/drawingml/2006/main">
              <a:ext uri="{FF2B5EF4-FFF2-40B4-BE49-F238E27FC236}">
                <a16:creationId xmlns:a16="http://schemas.microsoft.com/office/drawing/2014/main" id="{DC5216A0-D957-4F6E-8E8A-FF4F314749D3}"/>
              </a:ext>
            </a:extLst>
          </p:cNvPr>
          <p:cNvSpPr>
            <a:spLocks xmlns:a="http://schemas.openxmlformats.org/drawingml/2006/main" noGrp="1"/>
          </p:cNvSpPr>
          <p:nvPr/>
        </p:nvSpPr>
        <p:spPr>
          <a:xfrm xmlns:a="http://schemas.openxmlformats.org/drawingml/2006/main">
            <a:off x="8972550" y="5581650"/>
            <a:ext cx="152400" cy="152400"/>
          </a:xfrm>
          <a:prstGeom xmlns:a="http://schemas.openxmlformats.org/drawingml/2006/main" prst="ellipse">
            <a:avLst/>
          </a:prstGeom>
          <a:solidFill xmlns:a="http://schemas.openxmlformats.org/drawingml/2006/main">
            <a:srgbClr val="292B2D"/>
          </a:solidFill>
          <a:ln xmlns:a="http://schemas.openxmlformats.org/drawingml/2006/main" w="12383">
            <a:solidFill>
              <a:srgbClr val="A8ADB0"/>
            </a:solidFill>
            <a:prstDash val="solid"/>
          </a:ln>
        </p:spPr>
      </p:sp>
      <p:sp>
        <p:nvSpPr>
          <p:cNvPr id="74" name="Window elevation burner 0 ring">
            <a:extLst xmlns:a="http://schemas.openxmlformats.org/drawingml/2006/main">
              <a:ext uri="{FF2B5EF4-FFF2-40B4-BE49-F238E27FC236}">
                <a16:creationId xmlns:a16="http://schemas.microsoft.com/office/drawing/2014/main" id="{D9DF0449-A19C-4233-8A2F-538E477807EB}"/>
              </a:ext>
            </a:extLst>
          </p:cNvPr>
          <p:cNvSpPr>
            <a:spLocks xmlns:a="http://schemas.openxmlformats.org/drawingml/2006/main" noGrp="1"/>
          </p:cNvSpPr>
          <p:nvPr/>
        </p:nvSpPr>
        <p:spPr>
          <a:xfrm xmlns:a="http://schemas.openxmlformats.org/drawingml/2006/main">
            <a:off x="9006840" y="5615940"/>
            <a:ext cx="83820" cy="83820"/>
          </a:xfrm>
          <a:prstGeom xmlns:a="http://schemas.openxmlformats.org/drawingml/2006/main" prst="ellipse">
            <a:avLst/>
          </a:prstGeom>
          <a:solidFill xmlns:a="http://schemas.openxmlformats.org/drawingml/2006/main">
            <a:srgbClr val="A8ADB0"/>
          </a:solidFill>
          <a:ln xmlns:a="http://schemas.openxmlformats.org/drawingml/2006/main" w="9525">
            <a:solidFill>
              <a:srgbClr val="292B2D"/>
            </a:solidFill>
            <a:prstDash val="solid"/>
          </a:ln>
        </p:spPr>
      </p:sp>
      <p:sp>
        <p:nvSpPr>
          <p:cNvPr id="75" name="Window elevation burner 0 grate H">
            <a:extLst xmlns:a="http://schemas.openxmlformats.org/drawingml/2006/main">
              <a:ext uri="{FF2B5EF4-FFF2-40B4-BE49-F238E27FC236}">
                <a16:creationId xmlns:a16="http://schemas.microsoft.com/office/drawing/2014/main" id="{302D9321-B2CF-4455-AEF5-042A627FB347}"/>
              </a:ext>
            </a:extLst>
          </p:cNvPr>
          <p:cNvSpPr>
            <a:spLocks xmlns:a="http://schemas.openxmlformats.org/drawingml/2006/main" noGrp="1"/>
          </p:cNvSpPr>
          <p:nvPr/>
        </p:nvSpPr>
        <p:spPr>
          <a:xfrm xmlns:a="http://schemas.openxmlformats.org/drawingml/2006/main" flipH="0" flipV="0">
            <a:off x="8915400" y="5657850"/>
            <a:ext cx="266700" cy="0"/>
          </a:xfrm>
          <a:prstGeom xmlns:a="http://schemas.openxmlformats.org/drawingml/2006/main" prst="line">
            <a:avLst/>
          </a:prstGeom>
          <a:noFill xmlns:a="http://schemas.openxmlformats.org/drawingml/2006/main"/>
          <a:ln xmlns:a="http://schemas.openxmlformats.org/drawingml/2006/main" w="28575">
            <a:solidFill>
              <a:srgbClr val="A8ADB0"/>
            </a:solidFill>
            <a:prstDash val="solid"/>
          </a:ln>
        </p:spPr>
      </p:sp>
      <p:sp>
        <p:nvSpPr>
          <p:cNvPr id="76" name="Window elevation burner 0 grate V">
            <a:extLst xmlns:a="http://schemas.openxmlformats.org/drawingml/2006/main">
              <a:ext uri="{FF2B5EF4-FFF2-40B4-BE49-F238E27FC236}">
                <a16:creationId xmlns:a16="http://schemas.microsoft.com/office/drawing/2014/main" id="{9EA49195-F36D-44ED-A23F-069C951AAF2A}"/>
              </a:ext>
            </a:extLst>
          </p:cNvPr>
          <p:cNvSpPr>
            <a:spLocks xmlns:a="http://schemas.openxmlformats.org/drawingml/2006/main" noGrp="1"/>
          </p:cNvSpPr>
          <p:nvPr/>
        </p:nvSpPr>
        <p:spPr>
          <a:xfrm xmlns:a="http://schemas.openxmlformats.org/drawingml/2006/main" flipH="0" flipV="0">
            <a:off x="9048750" y="5524500"/>
            <a:ext cx="0" cy="266700"/>
          </a:xfrm>
          <a:prstGeom xmlns:a="http://schemas.openxmlformats.org/drawingml/2006/main" prst="line">
            <a:avLst/>
          </a:prstGeom>
          <a:noFill xmlns:a="http://schemas.openxmlformats.org/drawingml/2006/main"/>
          <a:ln xmlns:a="http://schemas.openxmlformats.org/drawingml/2006/main" w="28575">
            <a:solidFill>
              <a:srgbClr val="A8ADB0"/>
            </a:solidFill>
            <a:prstDash val="solid"/>
          </a:ln>
        </p:spPr>
      </p:sp>
      <p:sp>
        <p:nvSpPr>
          <p:cNvPr id="77" name="Window elevation burner 1 outer">
            <a:extLst xmlns:a="http://schemas.openxmlformats.org/drawingml/2006/main">
              <a:ext uri="{FF2B5EF4-FFF2-40B4-BE49-F238E27FC236}">
                <a16:creationId xmlns:a16="http://schemas.microsoft.com/office/drawing/2014/main" id="{35C8E14D-023C-42EA-9A17-2A3929BFF7F9}"/>
              </a:ext>
            </a:extLst>
          </p:cNvPr>
          <p:cNvSpPr>
            <a:spLocks xmlns:a="http://schemas.openxmlformats.org/drawingml/2006/main" noGrp="1"/>
          </p:cNvSpPr>
          <p:nvPr/>
        </p:nvSpPr>
        <p:spPr>
          <a:xfrm xmlns:a="http://schemas.openxmlformats.org/drawingml/2006/main">
            <a:off x="10020300" y="5581650"/>
            <a:ext cx="152400" cy="152400"/>
          </a:xfrm>
          <a:prstGeom xmlns:a="http://schemas.openxmlformats.org/drawingml/2006/main" prst="ellipse">
            <a:avLst/>
          </a:prstGeom>
          <a:solidFill xmlns:a="http://schemas.openxmlformats.org/drawingml/2006/main">
            <a:srgbClr val="292B2D"/>
          </a:solidFill>
          <a:ln xmlns:a="http://schemas.openxmlformats.org/drawingml/2006/main" w="12383">
            <a:solidFill>
              <a:srgbClr val="A8ADB0"/>
            </a:solidFill>
            <a:prstDash val="solid"/>
          </a:ln>
        </p:spPr>
      </p:sp>
      <p:sp>
        <p:nvSpPr>
          <p:cNvPr id="78" name="Window elevation burner 1 ring">
            <a:extLst xmlns:a="http://schemas.openxmlformats.org/drawingml/2006/main">
              <a:ext uri="{FF2B5EF4-FFF2-40B4-BE49-F238E27FC236}">
                <a16:creationId xmlns:a16="http://schemas.microsoft.com/office/drawing/2014/main" id="{13CCA14F-9DC6-460C-ACA8-E6822B373F36}"/>
              </a:ext>
            </a:extLst>
          </p:cNvPr>
          <p:cNvSpPr>
            <a:spLocks xmlns:a="http://schemas.openxmlformats.org/drawingml/2006/main" noGrp="1"/>
          </p:cNvSpPr>
          <p:nvPr/>
        </p:nvSpPr>
        <p:spPr>
          <a:xfrm xmlns:a="http://schemas.openxmlformats.org/drawingml/2006/main">
            <a:off x="10054590" y="5615940"/>
            <a:ext cx="83820" cy="83820"/>
          </a:xfrm>
          <a:prstGeom xmlns:a="http://schemas.openxmlformats.org/drawingml/2006/main" prst="ellipse">
            <a:avLst/>
          </a:prstGeom>
          <a:solidFill xmlns:a="http://schemas.openxmlformats.org/drawingml/2006/main">
            <a:srgbClr val="A8ADB0"/>
          </a:solidFill>
          <a:ln xmlns:a="http://schemas.openxmlformats.org/drawingml/2006/main" w="9525">
            <a:solidFill>
              <a:srgbClr val="292B2D"/>
            </a:solidFill>
            <a:prstDash val="solid"/>
          </a:ln>
        </p:spPr>
      </p:sp>
      <p:sp>
        <p:nvSpPr>
          <p:cNvPr id="79" name="Window elevation burner 1 grate H">
            <a:extLst xmlns:a="http://schemas.openxmlformats.org/drawingml/2006/main">
              <a:ext uri="{FF2B5EF4-FFF2-40B4-BE49-F238E27FC236}">
                <a16:creationId xmlns:a16="http://schemas.microsoft.com/office/drawing/2014/main" id="{1596F783-AF7C-4A74-99C3-3B9E42E19667}"/>
              </a:ext>
            </a:extLst>
          </p:cNvPr>
          <p:cNvSpPr>
            <a:spLocks xmlns:a="http://schemas.openxmlformats.org/drawingml/2006/main" noGrp="1"/>
          </p:cNvSpPr>
          <p:nvPr/>
        </p:nvSpPr>
        <p:spPr>
          <a:xfrm xmlns:a="http://schemas.openxmlformats.org/drawingml/2006/main" flipH="0" flipV="0">
            <a:off x="9963150" y="5657850"/>
            <a:ext cx="266700" cy="0"/>
          </a:xfrm>
          <a:prstGeom xmlns:a="http://schemas.openxmlformats.org/drawingml/2006/main" prst="line">
            <a:avLst/>
          </a:prstGeom>
          <a:noFill xmlns:a="http://schemas.openxmlformats.org/drawingml/2006/main"/>
          <a:ln xmlns:a="http://schemas.openxmlformats.org/drawingml/2006/main" w="28575">
            <a:solidFill>
              <a:srgbClr val="A8ADB0"/>
            </a:solidFill>
            <a:prstDash val="solid"/>
          </a:ln>
        </p:spPr>
      </p:sp>
      <p:sp>
        <p:nvSpPr>
          <p:cNvPr id="80" name="Window elevation burner 1 grate V">
            <a:extLst xmlns:a="http://schemas.openxmlformats.org/drawingml/2006/main">
              <a:ext uri="{FF2B5EF4-FFF2-40B4-BE49-F238E27FC236}">
                <a16:creationId xmlns:a16="http://schemas.microsoft.com/office/drawing/2014/main" id="{ED7B8052-990B-4C98-8DFA-5A997C99A1AE}"/>
              </a:ext>
            </a:extLst>
          </p:cNvPr>
          <p:cNvSpPr>
            <a:spLocks xmlns:a="http://schemas.openxmlformats.org/drawingml/2006/main" noGrp="1"/>
          </p:cNvSpPr>
          <p:nvPr/>
        </p:nvSpPr>
        <p:spPr>
          <a:xfrm xmlns:a="http://schemas.openxmlformats.org/drawingml/2006/main" flipH="0" flipV="0">
            <a:off x="10096500" y="5524500"/>
            <a:ext cx="0" cy="266700"/>
          </a:xfrm>
          <a:prstGeom xmlns:a="http://schemas.openxmlformats.org/drawingml/2006/main" prst="line">
            <a:avLst/>
          </a:prstGeom>
          <a:noFill xmlns:a="http://schemas.openxmlformats.org/drawingml/2006/main"/>
          <a:ln xmlns:a="http://schemas.openxmlformats.org/drawingml/2006/main" w="28575">
            <a:solidFill>
              <a:srgbClr val="A8ADB0"/>
            </a:solidFill>
            <a:prstDash val="solid"/>
          </a:ln>
        </p:spPr>
      </p:sp>
      <p:sp>
        <p:nvSpPr>
          <p:cNvPr id="81" name="Window label">
            <a:extLst xmlns:a="http://schemas.openxmlformats.org/drawingml/2006/main">
              <a:ext uri="{FF2B5EF4-FFF2-40B4-BE49-F238E27FC236}">
                <a16:creationId xmlns:a16="http://schemas.microsoft.com/office/drawing/2014/main" id="{4B5C6F50-4115-4FCB-87CB-A75725422C38}"/>
              </a:ext>
            </a:extLst>
          </p:cNvPr>
          <p:cNvSpPr>
            <a:spLocks xmlns:a="http://schemas.openxmlformats.org/drawingml/2006/main" noGrp="1"/>
          </p:cNvSpPr>
          <p:nvPr/>
        </p:nvSpPr>
        <p:spPr>
          <a:xfrm xmlns:a="http://schemas.openxmlformats.org/drawingml/2006/main">
            <a:off x="5048250" y="4048125"/>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Window</a:t>
            </a:r>
          </a:p>
        </p:txBody>
      </p:sp>
      <p:sp>
        <p:nvSpPr>
          <p:cNvPr id="82" name="Chimney label">
            <a:extLst xmlns:a="http://schemas.openxmlformats.org/drawingml/2006/main">
              <a:ext uri="{FF2B5EF4-FFF2-40B4-BE49-F238E27FC236}">
                <a16:creationId xmlns:a16="http://schemas.microsoft.com/office/drawing/2014/main" id="{4B5F9425-E68D-4AFC-BEBF-44D3EE946BA9}"/>
              </a:ext>
            </a:extLst>
          </p:cNvPr>
          <p:cNvSpPr>
            <a:spLocks xmlns:a="http://schemas.openxmlformats.org/drawingml/2006/main" noGrp="1"/>
          </p:cNvSpPr>
          <p:nvPr/>
        </p:nvSpPr>
        <p:spPr>
          <a:xfrm xmlns:a="http://schemas.openxmlformats.org/drawingml/2006/main">
            <a:off x="8315325" y="3295650"/>
            <a:ext cx="2419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292B2D"/>
                </a:solidFill>
                <a:latin typeface="Helvetica Neue"/>
                <a:ea typeface="Helvetica Neue"/>
                <a:cs typeface="Helvetica Neue"/>
              </a:defRPr>
            </a:pPr>
            <a:r>
              <a:rPr sz="1800" b="1">
                <a:solidFill>
                  <a:srgbClr val="292B2D"/>
                </a:solidFill>
                <a:latin typeface="Helvetica Neue"/>
                <a:ea typeface="Helvetica Neue"/>
                <a:cs typeface="Helvetica Neue"/>
              </a:rPr>
              <a:t>Concealed chimney</a:t>
            </a:r>
          </a:p>
        </p:txBody>
      </p:sp>
      <p:sp>
        <p:nvSpPr>
          <p:cNvPr id="83" name="Window-drawer alignment datum">
            <a:extLst xmlns:a="http://schemas.openxmlformats.org/drawingml/2006/main">
              <a:ext uri="{FF2B5EF4-FFF2-40B4-BE49-F238E27FC236}">
                <a16:creationId xmlns:a16="http://schemas.microsoft.com/office/drawing/2014/main" id="{0904C99E-6D62-4A3F-87F4-66EE41574686}"/>
              </a:ext>
            </a:extLst>
          </p:cNvPr>
          <p:cNvSpPr>
            <a:spLocks xmlns:a="http://schemas.openxmlformats.org/drawingml/2006/main" noGrp="1"/>
          </p:cNvSpPr>
          <p:nvPr/>
        </p:nvSpPr>
        <p:spPr>
          <a:xfrm xmlns:a="http://schemas.openxmlformats.org/drawingml/2006/main" flipH="0" flipV="0">
            <a:off x="5905500" y="5572125"/>
            <a:ext cx="0" cy="2028825"/>
          </a:xfrm>
          <a:prstGeom xmlns:a="http://schemas.openxmlformats.org/drawingml/2006/main" prst="line">
            <a:avLst/>
          </a:prstGeom>
          <a:noFill xmlns:a="http://schemas.openxmlformats.org/drawingml/2006/main"/>
          <a:ln xmlns:a="http://schemas.openxmlformats.org/drawingml/2006/main" w="19050">
            <a:solidFill>
              <a:srgbClr val="457A90"/>
            </a:solidFill>
            <a:prstDash val="solid"/>
          </a:ln>
        </p:spPr>
      </p:sp>
      <p:sp>
        <p:nvSpPr>
          <p:cNvPr id="84" name="Alignment label">
            <a:extLst xmlns:a="http://schemas.openxmlformats.org/drawingml/2006/main">
              <a:ext uri="{FF2B5EF4-FFF2-40B4-BE49-F238E27FC236}">
                <a16:creationId xmlns:a16="http://schemas.microsoft.com/office/drawing/2014/main" id="{41888999-3373-4BD1-8930-CEE9C9D8A105}"/>
              </a:ext>
            </a:extLst>
          </p:cNvPr>
          <p:cNvSpPr>
            <a:spLocks xmlns:a="http://schemas.openxmlformats.org/drawingml/2006/main" noGrp="1"/>
          </p:cNvSpPr>
          <p:nvPr/>
        </p:nvSpPr>
        <p:spPr>
          <a:xfrm xmlns:a="http://schemas.openxmlformats.org/drawingml/2006/main">
            <a:off x="4371975" y="76962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457A90"/>
                </a:solidFill>
                <a:latin typeface="Helvetica Neue"/>
                <a:ea typeface="Helvetica Neue"/>
                <a:cs typeface="Helvetica Neue"/>
              </a:defRPr>
            </a:pPr>
            <a:r>
              <a:rPr sz="1575" b="1">
                <a:solidFill>
                  <a:srgbClr val="457A90"/>
                </a:solidFill>
                <a:latin typeface="Helvetica Neue"/>
                <a:ea typeface="Helvetica Neue"/>
                <a:cs typeface="Helvetica Neue"/>
              </a:rPr>
              <a:t>Window and drawer division</a:t>
            </a:r>
          </a:p>
        </p:txBody>
      </p:sp>
      <p:sp>
        <p:nvSpPr>
          <p:cNvPr id="85" name="Window-wall electrical outlet">
            <a:extLst xmlns:a="http://schemas.openxmlformats.org/drawingml/2006/main">
              <a:ext uri="{FF2B5EF4-FFF2-40B4-BE49-F238E27FC236}">
                <a16:creationId xmlns:a16="http://schemas.microsoft.com/office/drawing/2014/main" id="{E5A3BD5F-FBA3-4AD5-89E3-252121998696}"/>
              </a:ext>
            </a:extLst>
          </p:cNvPr>
          <p:cNvSpPr>
            <a:spLocks xmlns:a="http://schemas.openxmlformats.org/drawingml/2006/main" noGrp="1"/>
          </p:cNvSpPr>
          <p:nvPr/>
        </p:nvSpPr>
        <p:spPr>
          <a:xfrm xmlns:a="http://schemas.openxmlformats.org/drawingml/2006/main">
            <a:off x="8477250" y="5162550"/>
            <a:ext cx="323850" cy="209550"/>
          </a:xfrm>
          <a:prstGeom xmlns:a="http://schemas.openxmlformats.org/drawingml/2006/main" prst="rect">
            <a:avLst/>
          </a:prstGeom>
          <a:solidFill xmlns:a="http://schemas.openxmlformats.org/drawingml/2006/main">
            <a:srgbClr val="FFFFFF"/>
          </a:solidFill>
          <a:ln xmlns:a="http://schemas.openxmlformats.org/drawingml/2006/main" w="9525">
            <a:solidFill>
              <a:srgbClr val="A8ADB0"/>
            </a:solidFill>
            <a:prstDash val="solid"/>
          </a:ln>
        </p:spPr>
      </p:sp>
      <p:sp>
        <p:nvSpPr>
          <p:cNvPr id="86" name="Window-wall electrical outlet pin 0">
            <a:extLst xmlns:a="http://schemas.openxmlformats.org/drawingml/2006/main">
              <a:ext uri="{FF2B5EF4-FFF2-40B4-BE49-F238E27FC236}">
                <a16:creationId xmlns:a16="http://schemas.microsoft.com/office/drawing/2014/main" id="{D6F25053-2D94-407D-B4F3-3E1CFBAD33AC}"/>
              </a:ext>
            </a:extLst>
          </p:cNvPr>
          <p:cNvSpPr>
            <a:spLocks xmlns:a="http://schemas.openxmlformats.org/drawingml/2006/main" noGrp="1"/>
          </p:cNvSpPr>
          <p:nvPr/>
        </p:nvSpPr>
        <p:spPr>
          <a:xfrm xmlns:a="http://schemas.openxmlformats.org/drawingml/2006/main">
            <a:off x="8553450" y="5238750"/>
            <a:ext cx="19050" cy="47625"/>
          </a:xfrm>
          <a:prstGeom xmlns:a="http://schemas.openxmlformats.org/drawingml/2006/main" prst="rect">
            <a:avLst/>
          </a:prstGeom>
          <a:solidFill xmlns:a="http://schemas.openxmlformats.org/drawingml/2006/main">
            <a:srgbClr val="292B2D"/>
          </a:solidFill>
          <a:ln xmlns:a="http://schemas.openxmlformats.org/drawingml/2006/main" w="0">
            <a:noFill/>
            <a:prstDash val="solid"/>
          </a:ln>
        </p:spPr>
      </p:sp>
      <p:sp>
        <p:nvSpPr>
          <p:cNvPr id="87" name="Window-wall electrical outlet pin 1">
            <a:extLst xmlns:a="http://schemas.openxmlformats.org/drawingml/2006/main">
              <a:ext uri="{FF2B5EF4-FFF2-40B4-BE49-F238E27FC236}">
                <a16:creationId xmlns:a16="http://schemas.microsoft.com/office/drawing/2014/main" id="{182D95ED-F0D0-492F-A2C4-4C3FBFC8AF03}"/>
              </a:ext>
            </a:extLst>
          </p:cNvPr>
          <p:cNvSpPr>
            <a:spLocks xmlns:a="http://schemas.openxmlformats.org/drawingml/2006/main" noGrp="1"/>
          </p:cNvSpPr>
          <p:nvPr/>
        </p:nvSpPr>
        <p:spPr>
          <a:xfrm xmlns:a="http://schemas.openxmlformats.org/drawingml/2006/main">
            <a:off x="8629650" y="5238750"/>
            <a:ext cx="19050" cy="47625"/>
          </a:xfrm>
          <a:prstGeom xmlns:a="http://schemas.openxmlformats.org/drawingml/2006/main" prst="rect">
            <a:avLst/>
          </a:prstGeom>
          <a:solidFill xmlns:a="http://schemas.openxmlformats.org/drawingml/2006/main">
            <a:srgbClr val="292B2D"/>
          </a:solidFill>
          <a:ln xmlns:a="http://schemas.openxmlformats.org/drawingml/2006/main" w="0">
            <a:noFill/>
            <a:prstDash val="solid"/>
          </a:ln>
        </p:spPr>
      </p:sp>
      <p:sp>
        <p:nvSpPr>
          <p:cNvPr id="88" name="Window-wall electrical outlet pin 2">
            <a:extLst xmlns:a="http://schemas.openxmlformats.org/drawingml/2006/main">
              <a:ext uri="{FF2B5EF4-FFF2-40B4-BE49-F238E27FC236}">
                <a16:creationId xmlns:a16="http://schemas.microsoft.com/office/drawing/2014/main" id="{6AE24F0F-14D7-44CE-ADE5-FDBA4CC7C0DB}"/>
              </a:ext>
            </a:extLst>
          </p:cNvPr>
          <p:cNvSpPr>
            <a:spLocks xmlns:a="http://schemas.openxmlformats.org/drawingml/2006/main" noGrp="1"/>
          </p:cNvSpPr>
          <p:nvPr/>
        </p:nvSpPr>
        <p:spPr>
          <a:xfrm xmlns:a="http://schemas.openxmlformats.org/drawingml/2006/main">
            <a:off x="8715375" y="5238750"/>
            <a:ext cx="19050" cy="47625"/>
          </a:xfrm>
          <a:prstGeom xmlns:a="http://schemas.openxmlformats.org/drawingml/2006/main" prst="rect">
            <a:avLst/>
          </a:prstGeom>
          <a:solidFill xmlns:a="http://schemas.openxmlformats.org/drawingml/2006/main">
            <a:srgbClr val="292B2D"/>
          </a:solidFill>
          <a:ln xmlns:a="http://schemas.openxmlformats.org/drawingml/2006/main" w="0">
            <a:noFill/>
            <a:prstDash val="solid"/>
          </a:ln>
        </p:spPr>
      </p:sp>
    </p:spTree>
    <p:extLst>
      <p:ext uri="{BB962C8B-B14F-4D97-AF65-F5344CB8AC3E}">
        <p14:creationId xmlns:p14="http://schemas.microsoft.com/office/powerpoint/2010/main" val="316056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4" name="Title">
            <a:extLst xmlns:a="http://schemas.openxmlformats.org/drawingml/2006/main">
              <a:ext uri="{FF2B5EF4-FFF2-40B4-BE49-F238E27FC236}">
                <a16:creationId xmlns:a16="http://schemas.microsoft.com/office/drawing/2014/main" id="{69C6726C-7A87-453C-A7FE-08544BA90C27}"/>
              </a:ext>
            </a:extLst>
          </p:cNvPr>
          <p:cNvSpPr>
            <a:spLocks xmlns:a="http://schemas.openxmlformats.org/drawingml/2006/main" noGrp="1"/>
          </p:cNvSpPr>
          <p:nvPr/>
        </p:nvSpPr>
        <p:spPr>
          <a:xfrm xmlns:a="http://schemas.openxmlformats.org/drawingml/2006/main">
            <a:off x="609600" y="400050"/>
            <a:ext cx="1390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292B2D"/>
                </a:solidFill>
                <a:latin typeface="Helvetica Neue"/>
                <a:ea typeface="Helvetica Neue"/>
                <a:cs typeface="Helvetica Neue"/>
              </a:defRPr>
            </a:pPr>
            <a:r>
              <a:rPr sz="3150" b="1">
                <a:solidFill>
                  <a:srgbClr val="292B2D"/>
                </a:solidFill>
                <a:latin typeface="Helvetica Neue"/>
                <a:ea typeface="Helvetica Neue"/>
                <a:cs typeface="Helvetica Neue"/>
              </a:rPr>
              <a:t>RO wall</a:t>
            </a:r>
          </a:p>
        </p:txBody>
      </p:sp>
      <p:sp>
        <p:nvSpPr>
          <p:cNvPr id="2" name="Subtitle">
            <a:extLst xmlns:a="http://schemas.openxmlformats.org/drawingml/2006/main">
              <a:ext uri="{FF2B5EF4-FFF2-40B4-BE49-F238E27FC236}">
                <a16:creationId xmlns:a16="http://schemas.microsoft.com/office/drawing/2014/main" id="{6264D33B-09E5-438A-BA27-83B6EECFAAD6}"/>
              </a:ext>
            </a:extLst>
          </p:cNvPr>
          <p:cNvSpPr>
            <a:spLocks xmlns:a="http://schemas.openxmlformats.org/drawingml/2006/main" noGrp="1"/>
          </p:cNvSpPr>
          <p:nvPr/>
        </p:nvSpPr>
        <p:spPr>
          <a:xfrm xmlns:a="http://schemas.openxmlformats.org/drawingml/2006/main">
            <a:off x="628650" y="990600"/>
            <a:ext cx="1390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292B2D"/>
                </a:solidFill>
                <a:latin typeface="Helvetica Neue"/>
                <a:ea typeface="Helvetica Neue"/>
                <a:cs typeface="Helvetica Neue"/>
              </a:defRPr>
            </a:pPr>
            <a:r>
              <a:rPr sz="1725" b="0">
                <a:solidFill>
                  <a:srgbClr val="292B2D"/>
                </a:solidFill>
                <a:latin typeface="Helvetica Neue"/>
                <a:ea typeface="Helvetica Neue"/>
                <a:cs typeface="Helvetica Neue"/>
              </a:rPr>
              <a:t>Front elevation with closed shutters and direct RO tap access</a:t>
            </a:r>
          </a:p>
        </p:txBody>
      </p:sp>
      <p:sp>
        <p:nvSpPr>
          <p:cNvPr id="3" name="Title rule">
            <a:extLst xmlns:a="http://schemas.openxmlformats.org/drawingml/2006/main">
              <a:ext uri="{FF2B5EF4-FFF2-40B4-BE49-F238E27FC236}">
                <a16:creationId xmlns:a16="http://schemas.microsoft.com/office/drawing/2014/main" id="{22DDDA70-D6D6-4FEE-B8DA-9474C5D59D0E}"/>
              </a:ext>
            </a:extLst>
          </p:cNvPr>
          <p:cNvSpPr>
            <a:spLocks xmlns:a="http://schemas.openxmlformats.org/drawingml/2006/main" noGrp="1"/>
          </p:cNvSpPr>
          <p:nvPr/>
        </p:nvSpPr>
        <p:spPr>
          <a:xfrm xmlns:a="http://schemas.openxmlformats.org/drawingml/2006/main" flipH="0" flipV="0">
            <a:off x="628650" y="1419225"/>
            <a:ext cx="13982700" cy="0"/>
          </a:xfrm>
          <a:prstGeom xmlns:a="http://schemas.openxmlformats.org/drawingml/2006/main" prst="line">
            <a:avLst/>
          </a:prstGeom>
          <a:noFill xmlns:a="http://schemas.openxmlformats.org/drawingml/2006/main"/>
          <a:ln xmlns:a="http://schemas.openxmlformats.org/drawingml/2006/main" w="9525">
            <a:solidFill>
              <a:srgbClr val="CFC5B7"/>
            </a:solidFill>
            <a:prstDash val="solid"/>
          </a:ln>
        </p:spPr>
      </p:sp>
      <p:sp>
        <p:nvSpPr>
          <p:cNvPr id="4" name="Corrections heading">
            <a:extLst xmlns:a="http://schemas.openxmlformats.org/drawingml/2006/main">
              <a:ext uri="{FF2B5EF4-FFF2-40B4-BE49-F238E27FC236}">
                <a16:creationId xmlns:a16="http://schemas.microsoft.com/office/drawing/2014/main" id="{D6307559-5EA2-4DA0-A526-DDD84FC718E6}"/>
              </a:ext>
            </a:extLst>
          </p:cNvPr>
          <p:cNvSpPr>
            <a:spLocks xmlns:a="http://schemas.openxmlformats.org/drawingml/2006/main" noGrp="1"/>
          </p:cNvSpPr>
          <p:nvPr/>
        </p:nvSpPr>
        <p:spPr>
          <a:xfrm xmlns:a="http://schemas.openxmlformats.org/drawingml/2006/main">
            <a:off x="12334875" y="188595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292B2D"/>
                </a:solidFill>
                <a:latin typeface="Helvetica Neue"/>
                <a:ea typeface="Helvetica Neue"/>
                <a:cs typeface="Helvetica Neue"/>
              </a:defRPr>
            </a:pPr>
            <a:r>
              <a:rPr sz="1875" b="1">
                <a:solidFill>
                  <a:srgbClr val="292B2D"/>
                </a:solidFill>
                <a:latin typeface="Helvetica Neue"/>
                <a:ea typeface="Helvetica Neue"/>
                <a:cs typeface="Helvetica Neue"/>
              </a:rPr>
              <a:t>Your corrections</a:t>
            </a:r>
          </a:p>
        </p:txBody>
      </p:sp>
      <p:sp>
        <p:nvSpPr>
          <p:cNvPr id="5" name="Correction line 0">
            <a:extLst xmlns:a="http://schemas.openxmlformats.org/drawingml/2006/main">
              <a:ext uri="{FF2B5EF4-FFF2-40B4-BE49-F238E27FC236}">
                <a16:creationId xmlns:a16="http://schemas.microsoft.com/office/drawing/2014/main" id="{1C30E354-329C-42D3-9D2E-A89C15033E0C}"/>
              </a:ext>
            </a:extLst>
          </p:cNvPr>
          <p:cNvSpPr>
            <a:spLocks xmlns:a="http://schemas.openxmlformats.org/drawingml/2006/main" noGrp="1"/>
          </p:cNvSpPr>
          <p:nvPr/>
        </p:nvSpPr>
        <p:spPr>
          <a:xfrm xmlns:a="http://schemas.openxmlformats.org/drawingml/2006/main" flipH="0" flipV="0">
            <a:off x="12334875" y="24955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6" name="Correction line 1">
            <a:extLst xmlns:a="http://schemas.openxmlformats.org/drawingml/2006/main">
              <a:ext uri="{FF2B5EF4-FFF2-40B4-BE49-F238E27FC236}">
                <a16:creationId xmlns:a16="http://schemas.microsoft.com/office/drawing/2014/main" id="{7FEEAC4A-5213-45E5-AD7B-D3A896726370}"/>
              </a:ext>
            </a:extLst>
          </p:cNvPr>
          <p:cNvSpPr>
            <a:spLocks xmlns:a="http://schemas.openxmlformats.org/drawingml/2006/main" noGrp="1"/>
          </p:cNvSpPr>
          <p:nvPr/>
        </p:nvSpPr>
        <p:spPr>
          <a:xfrm xmlns:a="http://schemas.openxmlformats.org/drawingml/2006/main" flipH="0" flipV="0">
            <a:off x="12334875" y="31813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7" name="Correction line 2">
            <a:extLst xmlns:a="http://schemas.openxmlformats.org/drawingml/2006/main">
              <a:ext uri="{FF2B5EF4-FFF2-40B4-BE49-F238E27FC236}">
                <a16:creationId xmlns:a16="http://schemas.microsoft.com/office/drawing/2014/main" id="{F3A964E2-B997-426D-BC6E-DC9322196F10}"/>
              </a:ext>
            </a:extLst>
          </p:cNvPr>
          <p:cNvSpPr>
            <a:spLocks xmlns:a="http://schemas.openxmlformats.org/drawingml/2006/main" noGrp="1"/>
          </p:cNvSpPr>
          <p:nvPr/>
        </p:nvSpPr>
        <p:spPr>
          <a:xfrm xmlns:a="http://schemas.openxmlformats.org/drawingml/2006/main" flipH="0" flipV="0">
            <a:off x="12334875" y="38671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8" name="Correction line 3">
            <a:extLst xmlns:a="http://schemas.openxmlformats.org/drawingml/2006/main">
              <a:ext uri="{FF2B5EF4-FFF2-40B4-BE49-F238E27FC236}">
                <a16:creationId xmlns:a16="http://schemas.microsoft.com/office/drawing/2014/main" id="{125034BB-7327-4B0D-AD0E-10308BF42061}"/>
              </a:ext>
            </a:extLst>
          </p:cNvPr>
          <p:cNvSpPr>
            <a:spLocks xmlns:a="http://schemas.openxmlformats.org/drawingml/2006/main" noGrp="1"/>
          </p:cNvSpPr>
          <p:nvPr/>
        </p:nvSpPr>
        <p:spPr>
          <a:xfrm xmlns:a="http://schemas.openxmlformats.org/drawingml/2006/main" flipH="0" flipV="0">
            <a:off x="12334875" y="45529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9" name="Correction line 4">
            <a:extLst xmlns:a="http://schemas.openxmlformats.org/drawingml/2006/main">
              <a:ext uri="{FF2B5EF4-FFF2-40B4-BE49-F238E27FC236}">
                <a16:creationId xmlns:a16="http://schemas.microsoft.com/office/drawing/2014/main" id="{00CDE01A-1BCF-4A5B-BE97-99B0D73B6BE0}"/>
              </a:ext>
            </a:extLst>
          </p:cNvPr>
          <p:cNvSpPr>
            <a:spLocks xmlns:a="http://schemas.openxmlformats.org/drawingml/2006/main" noGrp="1"/>
          </p:cNvSpPr>
          <p:nvPr/>
        </p:nvSpPr>
        <p:spPr>
          <a:xfrm xmlns:a="http://schemas.openxmlformats.org/drawingml/2006/main" flipH="0" flipV="0">
            <a:off x="12334875" y="52387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10" name="Correction line 5">
            <a:extLst xmlns:a="http://schemas.openxmlformats.org/drawingml/2006/main">
              <a:ext uri="{FF2B5EF4-FFF2-40B4-BE49-F238E27FC236}">
                <a16:creationId xmlns:a16="http://schemas.microsoft.com/office/drawing/2014/main" id="{2E27357D-8AB9-4C9C-A267-EDF84A33E170}"/>
              </a:ext>
            </a:extLst>
          </p:cNvPr>
          <p:cNvSpPr>
            <a:spLocks xmlns:a="http://schemas.openxmlformats.org/drawingml/2006/main" noGrp="1"/>
          </p:cNvSpPr>
          <p:nvPr/>
        </p:nvSpPr>
        <p:spPr>
          <a:xfrm xmlns:a="http://schemas.openxmlformats.org/drawingml/2006/main" flipH="0" flipV="0">
            <a:off x="12334875" y="59245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11" name="Footer">
            <a:extLst xmlns:a="http://schemas.openxmlformats.org/drawingml/2006/main">
              <a:ext uri="{FF2B5EF4-FFF2-40B4-BE49-F238E27FC236}">
                <a16:creationId xmlns:a16="http://schemas.microsoft.com/office/drawing/2014/main" id="{B26647D3-C379-4E91-92AF-4E8B84E04579}"/>
              </a:ext>
            </a:extLst>
          </p:cNvPr>
          <p:cNvSpPr>
            <a:spLocks xmlns:a="http://schemas.openxmlformats.org/drawingml/2006/main" noGrp="1"/>
          </p:cNvSpPr>
          <p:nvPr/>
        </p:nvSpPr>
        <p:spPr>
          <a:xfrm xmlns:a="http://schemas.openxmlformats.org/drawingml/2006/main">
            <a:off x="628650" y="8048625"/>
            <a:ext cx="1381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635B52"/>
                </a:solidFill>
                <a:latin typeface="Helvetica Neue"/>
                <a:ea typeface="Helvetica Neue"/>
                <a:cs typeface="Helvetica Neue"/>
              </a:defRPr>
            </a:pPr>
            <a:r>
              <a:rPr sz="1500" b="0">
                <a:solidFill>
                  <a:srgbClr val="635B52"/>
                </a:solidFill>
                <a:latin typeface="Helvetica Neue"/>
                <a:ea typeface="Helvetica Neue"/>
                <a:cs typeface="Helvetica Neue"/>
              </a:rPr>
              <a:t>Editable schematic. Cabinet sizes provisional. Confirmed ceiling: 10 ft.</a:t>
            </a:r>
          </a:p>
        </p:txBody>
      </p:sp>
      <p:sp>
        <p:nvSpPr>
          <p:cNvPr id="12" name="Ceiling datum">
            <a:extLst xmlns:a="http://schemas.openxmlformats.org/drawingml/2006/main">
              <a:ext uri="{FF2B5EF4-FFF2-40B4-BE49-F238E27FC236}">
                <a16:creationId xmlns:a16="http://schemas.microsoft.com/office/drawing/2014/main" id="{922E7803-A056-4909-9CC5-A38C0B8B8BBF}"/>
              </a:ext>
            </a:extLst>
          </p:cNvPr>
          <p:cNvSpPr>
            <a:spLocks xmlns:a="http://schemas.openxmlformats.org/drawingml/2006/main" noGrp="1"/>
          </p:cNvSpPr>
          <p:nvPr/>
        </p:nvSpPr>
        <p:spPr>
          <a:xfrm xmlns:a="http://schemas.openxmlformats.org/drawingml/2006/main" flipH="0" flipV="0">
            <a:off x="666750" y="1714500"/>
            <a:ext cx="10858500" cy="0"/>
          </a:xfrm>
          <a:prstGeom xmlns:a="http://schemas.openxmlformats.org/drawingml/2006/main" prst="line">
            <a:avLst/>
          </a:prstGeom>
          <a:noFill xmlns:a="http://schemas.openxmlformats.org/drawingml/2006/main"/>
          <a:ln xmlns:a="http://schemas.openxmlformats.org/drawingml/2006/main" w="19050">
            <a:solidFill>
              <a:srgbClr val="68635C"/>
            </a:solidFill>
            <a:prstDash val="solid"/>
          </a:ln>
        </p:spPr>
      </p:sp>
      <p:sp>
        <p:nvSpPr>
          <p:cNvPr id="13" name="Floor datum">
            <a:extLst xmlns:a="http://schemas.openxmlformats.org/drawingml/2006/main">
              <a:ext uri="{FF2B5EF4-FFF2-40B4-BE49-F238E27FC236}">
                <a16:creationId xmlns:a16="http://schemas.microsoft.com/office/drawing/2014/main" id="{0479A566-1F44-4EB2-8893-976B092D6DB8}"/>
              </a:ext>
            </a:extLst>
          </p:cNvPr>
          <p:cNvSpPr>
            <a:spLocks xmlns:a="http://schemas.openxmlformats.org/drawingml/2006/main" noGrp="1"/>
          </p:cNvSpPr>
          <p:nvPr/>
        </p:nvSpPr>
        <p:spPr>
          <a:xfrm xmlns:a="http://schemas.openxmlformats.org/drawingml/2006/main" flipH="0" flipV="0">
            <a:off x="666750" y="7600950"/>
            <a:ext cx="10858500" cy="0"/>
          </a:xfrm>
          <a:prstGeom xmlns:a="http://schemas.openxmlformats.org/drawingml/2006/main" prst="line">
            <a:avLst/>
          </a:prstGeom>
          <a:noFill xmlns:a="http://schemas.openxmlformats.org/drawingml/2006/main"/>
          <a:ln xmlns:a="http://schemas.openxmlformats.org/drawingml/2006/main" w="19050">
            <a:solidFill>
              <a:srgbClr val="68635C"/>
            </a:solidFill>
            <a:prstDash val="solid"/>
          </a:ln>
        </p:spPr>
      </p:sp>
      <p:sp>
        <p:nvSpPr>
          <p:cNvPr id="14" name="Ceiling label">
            <a:extLst xmlns:a="http://schemas.openxmlformats.org/drawingml/2006/main">
              <a:ext uri="{FF2B5EF4-FFF2-40B4-BE49-F238E27FC236}">
                <a16:creationId xmlns:a16="http://schemas.microsoft.com/office/drawing/2014/main" id="{AA3A2F7D-7074-4AB0-85E6-39436CD8E4FA}"/>
              </a:ext>
            </a:extLst>
          </p:cNvPr>
          <p:cNvSpPr>
            <a:spLocks xmlns:a="http://schemas.openxmlformats.org/drawingml/2006/main" noGrp="1"/>
          </p:cNvSpPr>
          <p:nvPr/>
        </p:nvSpPr>
        <p:spPr>
          <a:xfrm xmlns:a="http://schemas.openxmlformats.org/drawingml/2006/main">
            <a:off x="666750" y="14382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92B2D"/>
                </a:solidFill>
                <a:latin typeface="Helvetica Neue"/>
                <a:ea typeface="Helvetica Neue"/>
                <a:cs typeface="Helvetica Neue"/>
              </a:defRPr>
            </a:pPr>
            <a:r>
              <a:rPr sz="1500" b="0">
                <a:solidFill>
                  <a:srgbClr val="292B2D"/>
                </a:solidFill>
                <a:latin typeface="Helvetica Neue"/>
                <a:ea typeface="Helvetica Neue"/>
                <a:cs typeface="Helvetica Neue"/>
              </a:rPr>
              <a:t>Ceiling</a:t>
            </a:r>
          </a:p>
        </p:txBody>
      </p:sp>
      <p:sp>
        <p:nvSpPr>
          <p:cNvPr id="15" name="R1 corner loft shutter">
            <a:extLst xmlns:a="http://schemas.openxmlformats.org/drawingml/2006/main">
              <a:ext uri="{FF2B5EF4-FFF2-40B4-BE49-F238E27FC236}">
                <a16:creationId xmlns:a16="http://schemas.microsoft.com/office/drawing/2014/main" id="{F01313AC-BD33-40B8-B1D8-C2A4CC901D57}"/>
              </a:ext>
            </a:extLst>
          </p:cNvPr>
          <p:cNvSpPr>
            <a:spLocks xmlns:a="http://schemas.openxmlformats.org/drawingml/2006/main" noGrp="1"/>
          </p:cNvSpPr>
          <p:nvPr/>
        </p:nvSpPr>
        <p:spPr>
          <a:xfrm xmlns:a="http://schemas.openxmlformats.org/drawingml/2006/main">
            <a:off x="666750" y="1714500"/>
            <a:ext cx="2762250" cy="1190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16" name="R1 corner loft handle">
            <a:extLst xmlns:a="http://schemas.openxmlformats.org/drawingml/2006/main">
              <a:ext uri="{FF2B5EF4-FFF2-40B4-BE49-F238E27FC236}">
                <a16:creationId xmlns:a16="http://schemas.microsoft.com/office/drawing/2014/main" id="{11163587-A125-4260-B0D4-52AEA4CDDD4C}"/>
              </a:ext>
            </a:extLst>
          </p:cNvPr>
          <p:cNvSpPr>
            <a:spLocks xmlns:a="http://schemas.openxmlformats.org/drawingml/2006/main" noGrp="1"/>
          </p:cNvSpPr>
          <p:nvPr/>
        </p:nvSpPr>
        <p:spPr>
          <a:xfrm xmlns:a="http://schemas.openxmlformats.org/drawingml/2006/main">
            <a:off x="1847850" y="2695575"/>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17" name="R1 corner lower shutter">
            <a:extLst xmlns:a="http://schemas.openxmlformats.org/drawingml/2006/main">
              <a:ext uri="{FF2B5EF4-FFF2-40B4-BE49-F238E27FC236}">
                <a16:creationId xmlns:a16="http://schemas.microsoft.com/office/drawing/2014/main" id="{C472D5A5-BD5E-4B53-BA4B-B6196FA0581A}"/>
              </a:ext>
            </a:extLst>
          </p:cNvPr>
          <p:cNvSpPr>
            <a:spLocks xmlns:a="http://schemas.openxmlformats.org/drawingml/2006/main" noGrp="1"/>
          </p:cNvSpPr>
          <p:nvPr/>
        </p:nvSpPr>
        <p:spPr>
          <a:xfrm xmlns:a="http://schemas.openxmlformats.org/drawingml/2006/main">
            <a:off x="666750" y="2905125"/>
            <a:ext cx="2762250" cy="1571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18" name="R1 corner lower handle">
            <a:extLst xmlns:a="http://schemas.openxmlformats.org/drawingml/2006/main">
              <a:ext uri="{FF2B5EF4-FFF2-40B4-BE49-F238E27FC236}">
                <a16:creationId xmlns:a16="http://schemas.microsoft.com/office/drawing/2014/main" id="{50024F11-DEEA-4849-B398-01F3FF6F78C3}"/>
              </a:ext>
            </a:extLst>
          </p:cNvPr>
          <p:cNvSpPr>
            <a:spLocks xmlns:a="http://schemas.openxmlformats.org/drawingml/2006/main" noGrp="1"/>
          </p:cNvSpPr>
          <p:nvPr/>
        </p:nvSpPr>
        <p:spPr>
          <a:xfrm xmlns:a="http://schemas.openxmlformats.org/drawingml/2006/main">
            <a:off x="1847850" y="42672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19" name="R2 sink loft L shutter">
            <a:extLst xmlns:a="http://schemas.openxmlformats.org/drawingml/2006/main">
              <a:ext uri="{FF2B5EF4-FFF2-40B4-BE49-F238E27FC236}">
                <a16:creationId xmlns:a16="http://schemas.microsoft.com/office/drawing/2014/main" id="{5F81CC0D-0F76-4DEF-8E84-B144057A8025}"/>
              </a:ext>
            </a:extLst>
          </p:cNvPr>
          <p:cNvSpPr>
            <a:spLocks xmlns:a="http://schemas.openxmlformats.org/drawingml/2006/main" noGrp="1"/>
          </p:cNvSpPr>
          <p:nvPr/>
        </p:nvSpPr>
        <p:spPr>
          <a:xfrm xmlns:a="http://schemas.openxmlformats.org/drawingml/2006/main">
            <a:off x="3429000" y="1714500"/>
            <a:ext cx="1952625" cy="1190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20" name="R2 sink loft L handle">
            <a:extLst xmlns:a="http://schemas.openxmlformats.org/drawingml/2006/main">
              <a:ext uri="{FF2B5EF4-FFF2-40B4-BE49-F238E27FC236}">
                <a16:creationId xmlns:a16="http://schemas.microsoft.com/office/drawing/2014/main" id="{FA82EBB4-6E1D-48C9-A288-555588A18A35}"/>
              </a:ext>
            </a:extLst>
          </p:cNvPr>
          <p:cNvSpPr>
            <a:spLocks xmlns:a="http://schemas.openxmlformats.org/drawingml/2006/main" noGrp="1"/>
          </p:cNvSpPr>
          <p:nvPr/>
        </p:nvSpPr>
        <p:spPr>
          <a:xfrm xmlns:a="http://schemas.openxmlformats.org/drawingml/2006/main">
            <a:off x="4205288" y="2695575"/>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21" name="R2 sink loft R shutter">
            <a:extLst xmlns:a="http://schemas.openxmlformats.org/drawingml/2006/main">
              <a:ext uri="{FF2B5EF4-FFF2-40B4-BE49-F238E27FC236}">
                <a16:creationId xmlns:a16="http://schemas.microsoft.com/office/drawing/2014/main" id="{960FA9C6-FF45-4A63-AAA7-DB9ED36875A6}"/>
              </a:ext>
            </a:extLst>
          </p:cNvPr>
          <p:cNvSpPr>
            <a:spLocks xmlns:a="http://schemas.openxmlformats.org/drawingml/2006/main" noGrp="1"/>
          </p:cNvSpPr>
          <p:nvPr/>
        </p:nvSpPr>
        <p:spPr>
          <a:xfrm xmlns:a="http://schemas.openxmlformats.org/drawingml/2006/main">
            <a:off x="5381625" y="1714500"/>
            <a:ext cx="1952625" cy="1190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22" name="R2 sink loft R handle">
            <a:extLst xmlns:a="http://schemas.openxmlformats.org/drawingml/2006/main">
              <a:ext uri="{FF2B5EF4-FFF2-40B4-BE49-F238E27FC236}">
                <a16:creationId xmlns:a16="http://schemas.microsoft.com/office/drawing/2014/main" id="{010E4BBC-4E2C-437C-B2A4-07E4A7F295C8}"/>
              </a:ext>
            </a:extLst>
          </p:cNvPr>
          <p:cNvSpPr>
            <a:spLocks xmlns:a="http://schemas.openxmlformats.org/drawingml/2006/main" noGrp="1"/>
          </p:cNvSpPr>
          <p:nvPr/>
        </p:nvSpPr>
        <p:spPr>
          <a:xfrm xmlns:a="http://schemas.openxmlformats.org/drawingml/2006/main">
            <a:off x="6157913" y="2695575"/>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23" name="R2 drying rack shutter">
            <a:extLst xmlns:a="http://schemas.openxmlformats.org/drawingml/2006/main">
              <a:ext uri="{FF2B5EF4-FFF2-40B4-BE49-F238E27FC236}">
                <a16:creationId xmlns:a16="http://schemas.microsoft.com/office/drawing/2014/main" id="{47468BF6-6008-4E41-80C3-5038A49C8B87}"/>
              </a:ext>
            </a:extLst>
          </p:cNvPr>
          <p:cNvSpPr>
            <a:spLocks xmlns:a="http://schemas.openxmlformats.org/drawingml/2006/main" noGrp="1"/>
          </p:cNvSpPr>
          <p:nvPr/>
        </p:nvSpPr>
        <p:spPr>
          <a:xfrm xmlns:a="http://schemas.openxmlformats.org/drawingml/2006/main">
            <a:off x="3429000" y="2905125"/>
            <a:ext cx="3905250" cy="1571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24" name="R2 drying rack handle">
            <a:extLst xmlns:a="http://schemas.openxmlformats.org/drawingml/2006/main">
              <a:ext uri="{FF2B5EF4-FFF2-40B4-BE49-F238E27FC236}">
                <a16:creationId xmlns:a16="http://schemas.microsoft.com/office/drawing/2014/main" id="{7D7630D6-A8F7-47D1-A172-5B7EE3253F8D}"/>
              </a:ext>
            </a:extLst>
          </p:cNvPr>
          <p:cNvSpPr>
            <a:spLocks xmlns:a="http://schemas.openxmlformats.org/drawingml/2006/main" noGrp="1"/>
          </p:cNvSpPr>
          <p:nvPr/>
        </p:nvSpPr>
        <p:spPr>
          <a:xfrm xmlns:a="http://schemas.openxmlformats.org/drawingml/2006/main">
            <a:off x="5181600" y="42672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25" name="R2 drying rack label">
            <a:extLst xmlns:a="http://schemas.openxmlformats.org/drawingml/2006/main">
              <a:ext uri="{FF2B5EF4-FFF2-40B4-BE49-F238E27FC236}">
                <a16:creationId xmlns:a16="http://schemas.microsoft.com/office/drawing/2014/main" id="{4E5E70E1-6C32-421D-9823-5B85A4CEC061}"/>
              </a:ext>
            </a:extLst>
          </p:cNvPr>
          <p:cNvSpPr>
            <a:spLocks xmlns:a="http://schemas.openxmlformats.org/drawingml/2006/main" noGrp="1"/>
          </p:cNvSpPr>
          <p:nvPr/>
        </p:nvSpPr>
        <p:spPr>
          <a:xfrm xmlns:a="http://schemas.openxmlformats.org/drawingml/2006/main">
            <a:off x="3524250" y="3495675"/>
            <a:ext cx="3714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292B2D"/>
                </a:solidFill>
                <a:latin typeface="Helvetica Neue"/>
                <a:ea typeface="Helvetica Neue"/>
                <a:cs typeface="Helvetica Neue"/>
              </a:defRPr>
            </a:pPr>
            <a:r>
              <a:rPr sz="1725" b="1">
                <a:solidFill>
                  <a:srgbClr val="292B2D"/>
                </a:solidFill>
                <a:latin typeface="Helvetica Neue"/>
                <a:ea typeface="Helvetica Neue"/>
                <a:cs typeface="Helvetica Neue"/>
              </a:rPr>
              <a:t>Dish rack</a:t>
            </a:r>
          </a:p>
        </p:txBody>
      </p:sp>
      <p:sp>
        <p:nvSpPr>
          <p:cNvPr id="26" name="R3 RO loft shutter">
            <a:extLst xmlns:a="http://schemas.openxmlformats.org/drawingml/2006/main">
              <a:ext uri="{FF2B5EF4-FFF2-40B4-BE49-F238E27FC236}">
                <a16:creationId xmlns:a16="http://schemas.microsoft.com/office/drawing/2014/main" id="{AD258702-0E12-4954-8DF5-027C54C7B401}"/>
              </a:ext>
            </a:extLst>
          </p:cNvPr>
          <p:cNvSpPr>
            <a:spLocks xmlns:a="http://schemas.openxmlformats.org/drawingml/2006/main" noGrp="1"/>
          </p:cNvSpPr>
          <p:nvPr/>
        </p:nvSpPr>
        <p:spPr>
          <a:xfrm xmlns:a="http://schemas.openxmlformats.org/drawingml/2006/main">
            <a:off x="7334250" y="1714500"/>
            <a:ext cx="1476375" cy="1190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27" name="R3 RO loft handle">
            <a:extLst xmlns:a="http://schemas.openxmlformats.org/drawingml/2006/main">
              <a:ext uri="{FF2B5EF4-FFF2-40B4-BE49-F238E27FC236}">
                <a16:creationId xmlns:a16="http://schemas.microsoft.com/office/drawing/2014/main" id="{FF8987A5-41D5-4A09-8699-B03F732275C5}"/>
              </a:ext>
            </a:extLst>
          </p:cNvPr>
          <p:cNvSpPr>
            <a:spLocks xmlns:a="http://schemas.openxmlformats.org/drawingml/2006/main" noGrp="1"/>
          </p:cNvSpPr>
          <p:nvPr/>
        </p:nvSpPr>
        <p:spPr>
          <a:xfrm xmlns:a="http://schemas.openxmlformats.org/drawingml/2006/main">
            <a:off x="7872413" y="2695575"/>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28" name="R3 RO closed shutter shutter">
            <a:extLst xmlns:a="http://schemas.openxmlformats.org/drawingml/2006/main">
              <a:ext uri="{FF2B5EF4-FFF2-40B4-BE49-F238E27FC236}">
                <a16:creationId xmlns:a16="http://schemas.microsoft.com/office/drawing/2014/main" id="{FE2BF178-FBF0-4855-8413-8ABD60AF717E}"/>
              </a:ext>
            </a:extLst>
          </p:cNvPr>
          <p:cNvSpPr>
            <a:spLocks xmlns:a="http://schemas.openxmlformats.org/drawingml/2006/main" noGrp="1"/>
          </p:cNvSpPr>
          <p:nvPr/>
        </p:nvSpPr>
        <p:spPr>
          <a:xfrm xmlns:a="http://schemas.openxmlformats.org/drawingml/2006/main">
            <a:off x="7334250" y="2905125"/>
            <a:ext cx="1476375" cy="1571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29" name="R3 RO closed shutter handle">
            <a:extLst xmlns:a="http://schemas.openxmlformats.org/drawingml/2006/main">
              <a:ext uri="{FF2B5EF4-FFF2-40B4-BE49-F238E27FC236}">
                <a16:creationId xmlns:a16="http://schemas.microsoft.com/office/drawing/2014/main" id="{B985B42A-FD4F-4D40-9FAA-80A16648EC64}"/>
              </a:ext>
            </a:extLst>
          </p:cNvPr>
          <p:cNvSpPr>
            <a:spLocks xmlns:a="http://schemas.openxmlformats.org/drawingml/2006/main" noGrp="1"/>
          </p:cNvSpPr>
          <p:nvPr/>
        </p:nvSpPr>
        <p:spPr>
          <a:xfrm xmlns:a="http://schemas.openxmlformats.org/drawingml/2006/main">
            <a:off x="7872413" y="42672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30" name="R3 direct tap cut-out cut-out">
            <a:extLst xmlns:a="http://schemas.openxmlformats.org/drawingml/2006/main">
              <a:ext uri="{FF2B5EF4-FFF2-40B4-BE49-F238E27FC236}">
                <a16:creationId xmlns:a16="http://schemas.microsoft.com/office/drawing/2014/main" id="{0B83803B-03DA-4DAA-8D79-2162CC641DFE}"/>
              </a:ext>
            </a:extLst>
          </p:cNvPr>
          <p:cNvSpPr>
            <a:spLocks xmlns:a="http://schemas.openxmlformats.org/drawingml/2006/main" noGrp="1"/>
          </p:cNvSpPr>
          <p:nvPr/>
        </p:nvSpPr>
        <p:spPr>
          <a:xfrm xmlns:a="http://schemas.openxmlformats.org/drawingml/2006/main">
            <a:off x="7777163" y="3590925"/>
            <a:ext cx="590550" cy="809625"/>
          </a:xfrm>
          <a:prstGeom xmlns:a="http://schemas.openxmlformats.org/drawingml/2006/main" prst="rect">
            <a:avLst/>
          </a:prstGeom>
          <a:solidFill xmlns:a="http://schemas.openxmlformats.org/drawingml/2006/main">
            <a:srgbClr val="5C4D40"/>
          </a:solidFill>
          <a:ln xmlns:a="http://schemas.openxmlformats.org/drawingml/2006/main" w="9525">
            <a:solidFill>
              <a:srgbClr val="6B5543"/>
            </a:solidFill>
            <a:prstDash val="solid"/>
          </a:ln>
        </p:spPr>
      </p:sp>
      <p:sp>
        <p:nvSpPr>
          <p:cNvPr id="31" name="R3 direct tap cut-out dispenser stem">
            <a:extLst xmlns:a="http://schemas.openxmlformats.org/drawingml/2006/main">
              <a:ext uri="{FF2B5EF4-FFF2-40B4-BE49-F238E27FC236}">
                <a16:creationId xmlns:a16="http://schemas.microsoft.com/office/drawing/2014/main" id="{61F1CAC5-2B81-45E1-9C95-64EC1A915C7C}"/>
              </a:ext>
            </a:extLst>
          </p:cNvPr>
          <p:cNvSpPr>
            <a:spLocks xmlns:a="http://schemas.openxmlformats.org/drawingml/2006/main" noGrp="1"/>
          </p:cNvSpPr>
          <p:nvPr/>
        </p:nvSpPr>
        <p:spPr>
          <a:xfrm xmlns:a="http://schemas.openxmlformats.org/drawingml/2006/main">
            <a:off x="8034338" y="3686175"/>
            <a:ext cx="76200" cy="190500"/>
          </a:xfrm>
          <a:prstGeom xmlns:a="http://schemas.openxmlformats.org/drawingml/2006/main" prst="rect">
            <a:avLst/>
          </a:prstGeom>
          <a:solidFill xmlns:a="http://schemas.openxmlformats.org/drawingml/2006/main">
            <a:srgbClr val="A8ADB0"/>
          </a:solidFill>
          <a:ln xmlns:a="http://schemas.openxmlformats.org/drawingml/2006/main" w="4763">
            <a:solidFill>
              <a:srgbClr val="FFFFFF"/>
            </a:solidFill>
            <a:prstDash val="solid"/>
          </a:ln>
        </p:spPr>
      </p:sp>
      <p:sp>
        <p:nvSpPr>
          <p:cNvPr id="32" name="R3 direct tap cut-out tap lever">
            <a:extLst xmlns:a="http://schemas.openxmlformats.org/drawingml/2006/main">
              <a:ext uri="{FF2B5EF4-FFF2-40B4-BE49-F238E27FC236}">
                <a16:creationId xmlns:a16="http://schemas.microsoft.com/office/drawing/2014/main" id="{D29D6B81-FB6A-4EDB-9F04-13BC82EBEB0C}"/>
              </a:ext>
            </a:extLst>
          </p:cNvPr>
          <p:cNvSpPr>
            <a:spLocks xmlns:a="http://schemas.openxmlformats.org/drawingml/2006/main" noGrp="1"/>
          </p:cNvSpPr>
          <p:nvPr/>
        </p:nvSpPr>
        <p:spPr>
          <a:xfrm xmlns:a="http://schemas.openxmlformats.org/drawingml/2006/main" flipH="0" flipV="0">
            <a:off x="8072438" y="3733800"/>
            <a:ext cx="123825" cy="0"/>
          </a:xfrm>
          <a:prstGeom xmlns:a="http://schemas.openxmlformats.org/drawingml/2006/main" prst="line">
            <a:avLst/>
          </a:prstGeom>
          <a:noFill xmlns:a="http://schemas.openxmlformats.org/drawingml/2006/main"/>
          <a:ln xmlns:a="http://schemas.openxmlformats.org/drawingml/2006/main" w="28575">
            <a:solidFill>
              <a:srgbClr val="292B2D"/>
            </a:solidFill>
            <a:prstDash val="solid"/>
          </a:ln>
        </p:spPr>
      </p:sp>
      <p:sp>
        <p:nvSpPr>
          <p:cNvPr id="33" name="R3 direct tap cut-out spout">
            <a:extLst xmlns:a="http://schemas.openxmlformats.org/drawingml/2006/main">
              <a:ext uri="{FF2B5EF4-FFF2-40B4-BE49-F238E27FC236}">
                <a16:creationId xmlns:a16="http://schemas.microsoft.com/office/drawing/2014/main" id="{4E863DC0-AF3E-4424-A88B-B85416D1E115}"/>
              </a:ext>
            </a:extLst>
          </p:cNvPr>
          <p:cNvSpPr>
            <a:spLocks xmlns:a="http://schemas.openxmlformats.org/drawingml/2006/main" noGrp="1"/>
          </p:cNvSpPr>
          <p:nvPr/>
        </p:nvSpPr>
        <p:spPr>
          <a:xfrm xmlns:a="http://schemas.openxmlformats.org/drawingml/2006/main">
            <a:off x="8053388" y="3848100"/>
            <a:ext cx="38100" cy="114300"/>
          </a:xfrm>
          <a:prstGeom xmlns:a="http://schemas.openxmlformats.org/drawingml/2006/main" prst="rect">
            <a:avLst/>
          </a:prstGeom>
          <a:solidFill xmlns:a="http://schemas.openxmlformats.org/drawingml/2006/main">
            <a:srgbClr val="A8ADB0"/>
          </a:solidFill>
          <a:ln xmlns:a="http://schemas.openxmlformats.org/drawingml/2006/main" w="0">
            <a:noFill/>
            <a:prstDash val="solid"/>
          </a:ln>
        </p:spPr>
      </p:sp>
      <p:sp>
        <p:nvSpPr>
          <p:cNvPr id="34" name="R3 direct tap cut-out glass">
            <a:extLst xmlns:a="http://schemas.openxmlformats.org/drawingml/2006/main">
              <a:ext uri="{FF2B5EF4-FFF2-40B4-BE49-F238E27FC236}">
                <a16:creationId xmlns:a16="http://schemas.microsoft.com/office/drawing/2014/main" id="{9628E5BF-BA21-42D0-9AE3-C5F9E2A3C6C7}"/>
              </a:ext>
            </a:extLst>
          </p:cNvPr>
          <p:cNvSpPr>
            <a:spLocks xmlns:a="http://schemas.openxmlformats.org/drawingml/2006/main" noGrp="1"/>
          </p:cNvSpPr>
          <p:nvPr/>
        </p:nvSpPr>
        <p:spPr>
          <a:xfrm xmlns:a="http://schemas.openxmlformats.org/drawingml/2006/main">
            <a:off x="7948613" y="4067175"/>
            <a:ext cx="247650" cy="285750"/>
          </a:xfrm>
          <a:prstGeom xmlns:a="http://schemas.openxmlformats.org/drawingml/2006/main" prst="rect">
            <a:avLst/>
          </a:prstGeom>
          <a:noFill xmlns:a="http://schemas.openxmlformats.org/drawingml/2006/main"/>
          <a:ln xmlns:a="http://schemas.openxmlformats.org/drawingml/2006/main" w="9525">
            <a:solidFill>
              <a:srgbClr val="E0E7E8"/>
            </a:solidFill>
            <a:prstDash val="solid"/>
          </a:ln>
        </p:spPr>
      </p:sp>
      <p:sp>
        <p:nvSpPr>
          <p:cNvPr id="35" name="R3 direct tap cut-out tray">
            <a:extLst xmlns:a="http://schemas.openxmlformats.org/drawingml/2006/main">
              <a:ext uri="{FF2B5EF4-FFF2-40B4-BE49-F238E27FC236}">
                <a16:creationId xmlns:a16="http://schemas.microsoft.com/office/drawing/2014/main" id="{CB3F7412-E4DC-4715-BBFE-4D287CD99F24}"/>
              </a:ext>
            </a:extLst>
          </p:cNvPr>
          <p:cNvSpPr>
            <a:spLocks xmlns:a="http://schemas.openxmlformats.org/drawingml/2006/main" noGrp="1"/>
          </p:cNvSpPr>
          <p:nvPr/>
        </p:nvSpPr>
        <p:spPr>
          <a:xfrm xmlns:a="http://schemas.openxmlformats.org/drawingml/2006/main" flipH="0" flipV="0">
            <a:off x="7834313" y="4371975"/>
            <a:ext cx="476250" cy="0"/>
          </a:xfrm>
          <a:prstGeom xmlns:a="http://schemas.openxmlformats.org/drawingml/2006/main" prst="line">
            <a:avLst/>
          </a:prstGeom>
          <a:noFill xmlns:a="http://schemas.openxmlformats.org/drawingml/2006/main"/>
          <a:ln xmlns:a="http://schemas.openxmlformats.org/drawingml/2006/main" w="28575">
            <a:solidFill>
              <a:srgbClr val="A8ADB0"/>
            </a:solidFill>
            <a:prstDash val="solid"/>
          </a:ln>
        </p:spPr>
      </p:sp>
      <p:sp>
        <p:nvSpPr>
          <p:cNvPr id="36" name="R4 fridge loft L shutter">
            <a:extLst xmlns:a="http://schemas.openxmlformats.org/drawingml/2006/main">
              <a:ext uri="{FF2B5EF4-FFF2-40B4-BE49-F238E27FC236}">
                <a16:creationId xmlns:a16="http://schemas.microsoft.com/office/drawing/2014/main" id="{AF67224A-D4EF-4C87-BDDD-2E48013DDDED}"/>
              </a:ext>
            </a:extLst>
          </p:cNvPr>
          <p:cNvSpPr>
            <a:spLocks xmlns:a="http://schemas.openxmlformats.org/drawingml/2006/main" noGrp="1"/>
          </p:cNvSpPr>
          <p:nvPr/>
        </p:nvSpPr>
        <p:spPr>
          <a:xfrm xmlns:a="http://schemas.openxmlformats.org/drawingml/2006/main">
            <a:off x="8810625" y="1714500"/>
            <a:ext cx="1357313" cy="1238250"/>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37" name="R4 fridge loft L handle">
            <a:extLst xmlns:a="http://schemas.openxmlformats.org/drawingml/2006/main">
              <a:ext uri="{FF2B5EF4-FFF2-40B4-BE49-F238E27FC236}">
                <a16:creationId xmlns:a16="http://schemas.microsoft.com/office/drawing/2014/main" id="{6E7D1E1A-D5A7-4FEC-897F-EBF90EE4C716}"/>
              </a:ext>
            </a:extLst>
          </p:cNvPr>
          <p:cNvSpPr>
            <a:spLocks xmlns:a="http://schemas.openxmlformats.org/drawingml/2006/main" noGrp="1"/>
          </p:cNvSpPr>
          <p:nvPr/>
        </p:nvSpPr>
        <p:spPr>
          <a:xfrm xmlns:a="http://schemas.openxmlformats.org/drawingml/2006/main">
            <a:off x="9289256" y="27432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38" name="R4 fridge loft R shutter">
            <a:extLst xmlns:a="http://schemas.openxmlformats.org/drawingml/2006/main">
              <a:ext uri="{FF2B5EF4-FFF2-40B4-BE49-F238E27FC236}">
                <a16:creationId xmlns:a16="http://schemas.microsoft.com/office/drawing/2014/main" id="{9F9816B8-121A-4BAE-939F-4FD5C2EB0CC1}"/>
              </a:ext>
            </a:extLst>
          </p:cNvPr>
          <p:cNvSpPr>
            <a:spLocks xmlns:a="http://schemas.openxmlformats.org/drawingml/2006/main" noGrp="1"/>
          </p:cNvSpPr>
          <p:nvPr/>
        </p:nvSpPr>
        <p:spPr>
          <a:xfrm xmlns:a="http://schemas.openxmlformats.org/drawingml/2006/main">
            <a:off x="10167938" y="1714500"/>
            <a:ext cx="1357313" cy="1238250"/>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39" name="R4 fridge loft R handle">
            <a:extLst xmlns:a="http://schemas.openxmlformats.org/drawingml/2006/main">
              <a:ext uri="{FF2B5EF4-FFF2-40B4-BE49-F238E27FC236}">
                <a16:creationId xmlns:a16="http://schemas.microsoft.com/office/drawing/2014/main" id="{FD23D8AB-A274-4F4F-9104-420A82E11260}"/>
              </a:ext>
            </a:extLst>
          </p:cNvPr>
          <p:cNvSpPr>
            <a:spLocks xmlns:a="http://schemas.openxmlformats.org/drawingml/2006/main" noGrp="1"/>
          </p:cNvSpPr>
          <p:nvPr/>
        </p:nvSpPr>
        <p:spPr>
          <a:xfrm xmlns:a="http://schemas.openxmlformats.org/drawingml/2006/main">
            <a:off x="10646569" y="27432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40" name="RO-wall backsplash">
            <a:extLst xmlns:a="http://schemas.openxmlformats.org/drawingml/2006/main">
              <a:ext uri="{FF2B5EF4-FFF2-40B4-BE49-F238E27FC236}">
                <a16:creationId xmlns:a16="http://schemas.microsoft.com/office/drawing/2014/main" id="{43276583-7E80-4AA2-9264-FCA32B77231F}"/>
              </a:ext>
            </a:extLst>
          </p:cNvPr>
          <p:cNvSpPr>
            <a:spLocks xmlns:a="http://schemas.openxmlformats.org/drawingml/2006/main" noGrp="1"/>
          </p:cNvSpPr>
          <p:nvPr/>
        </p:nvSpPr>
        <p:spPr>
          <a:xfrm xmlns:a="http://schemas.openxmlformats.org/drawingml/2006/main">
            <a:off x="666750" y="4524375"/>
            <a:ext cx="8143875" cy="1285875"/>
          </a:xfrm>
          <a:prstGeom xmlns:a="http://schemas.openxmlformats.org/drawingml/2006/main" prst="rect">
            <a:avLst/>
          </a:prstGeom>
          <a:solidFill xmlns:a="http://schemas.openxmlformats.org/drawingml/2006/main">
            <a:srgbClr val="F6F3ED"/>
          </a:solidFill>
          <a:ln xmlns:a="http://schemas.openxmlformats.org/drawingml/2006/main" w="0">
            <a:noFill/>
            <a:prstDash val="solid"/>
          </a:ln>
        </p:spPr>
      </p:sp>
      <p:sp>
        <p:nvSpPr>
          <p:cNvPr id="41" name="RO-wall continuous task strip">
            <a:extLst xmlns:a="http://schemas.openxmlformats.org/drawingml/2006/main">
              <a:ext uri="{FF2B5EF4-FFF2-40B4-BE49-F238E27FC236}">
                <a16:creationId xmlns:a16="http://schemas.microsoft.com/office/drawing/2014/main" id="{7CCDBBB1-0262-4729-BD36-CB1B91B198B7}"/>
              </a:ext>
            </a:extLst>
          </p:cNvPr>
          <p:cNvSpPr>
            <a:spLocks xmlns:a="http://schemas.openxmlformats.org/drawingml/2006/main" noGrp="1"/>
          </p:cNvSpPr>
          <p:nvPr/>
        </p:nvSpPr>
        <p:spPr>
          <a:xfrm xmlns:a="http://schemas.openxmlformats.org/drawingml/2006/main" flipH="0" flipV="0">
            <a:off x="666750" y="4514850"/>
            <a:ext cx="8143875" cy="0"/>
          </a:xfrm>
          <a:prstGeom xmlns:a="http://schemas.openxmlformats.org/drawingml/2006/main" prst="line">
            <a:avLst/>
          </a:prstGeom>
          <a:noFill xmlns:a="http://schemas.openxmlformats.org/drawingml/2006/main"/>
          <a:ln xmlns:a="http://schemas.openxmlformats.org/drawingml/2006/main" w="47625">
            <a:solidFill>
              <a:srgbClr val="F5C96D"/>
            </a:solidFill>
            <a:prstDash val="solid"/>
          </a:ln>
        </p:spPr>
      </p:sp>
      <p:sp>
        <p:nvSpPr>
          <p:cNvPr id="42" name="RO-wall outlet">
            <a:extLst xmlns:a="http://schemas.openxmlformats.org/drawingml/2006/main">
              <a:ext uri="{FF2B5EF4-FFF2-40B4-BE49-F238E27FC236}">
                <a16:creationId xmlns:a16="http://schemas.microsoft.com/office/drawing/2014/main" id="{24D4C3AB-3C17-467A-9AB7-E9C6993DAD0D}"/>
              </a:ext>
            </a:extLst>
          </p:cNvPr>
          <p:cNvSpPr>
            <a:spLocks xmlns:a="http://schemas.openxmlformats.org/drawingml/2006/main" noGrp="1"/>
          </p:cNvSpPr>
          <p:nvPr/>
        </p:nvSpPr>
        <p:spPr>
          <a:xfrm xmlns:a="http://schemas.openxmlformats.org/drawingml/2006/main">
            <a:off x="8143875" y="5067300"/>
            <a:ext cx="323850" cy="209550"/>
          </a:xfrm>
          <a:prstGeom xmlns:a="http://schemas.openxmlformats.org/drawingml/2006/main" prst="rect">
            <a:avLst/>
          </a:prstGeom>
          <a:solidFill xmlns:a="http://schemas.openxmlformats.org/drawingml/2006/main">
            <a:srgbClr val="FFFFFF"/>
          </a:solidFill>
          <a:ln xmlns:a="http://schemas.openxmlformats.org/drawingml/2006/main" w="9525">
            <a:solidFill>
              <a:srgbClr val="A8ADB0"/>
            </a:solidFill>
            <a:prstDash val="solid"/>
          </a:ln>
        </p:spPr>
      </p:sp>
      <p:sp>
        <p:nvSpPr>
          <p:cNvPr id="43" name="RO-wall outlet pin 0">
            <a:extLst xmlns:a="http://schemas.openxmlformats.org/drawingml/2006/main">
              <a:ext uri="{FF2B5EF4-FFF2-40B4-BE49-F238E27FC236}">
                <a16:creationId xmlns:a16="http://schemas.microsoft.com/office/drawing/2014/main" id="{3626A673-F029-487F-B3BF-AC8782461DAF}"/>
              </a:ext>
            </a:extLst>
          </p:cNvPr>
          <p:cNvSpPr>
            <a:spLocks xmlns:a="http://schemas.openxmlformats.org/drawingml/2006/main" noGrp="1"/>
          </p:cNvSpPr>
          <p:nvPr/>
        </p:nvSpPr>
        <p:spPr>
          <a:xfrm xmlns:a="http://schemas.openxmlformats.org/drawingml/2006/main">
            <a:off x="8220075" y="5143500"/>
            <a:ext cx="19050" cy="47625"/>
          </a:xfrm>
          <a:prstGeom xmlns:a="http://schemas.openxmlformats.org/drawingml/2006/main" prst="rect">
            <a:avLst/>
          </a:prstGeom>
          <a:solidFill xmlns:a="http://schemas.openxmlformats.org/drawingml/2006/main">
            <a:srgbClr val="292B2D"/>
          </a:solidFill>
          <a:ln xmlns:a="http://schemas.openxmlformats.org/drawingml/2006/main" w="0">
            <a:noFill/>
            <a:prstDash val="solid"/>
          </a:ln>
        </p:spPr>
      </p:sp>
      <p:sp>
        <p:nvSpPr>
          <p:cNvPr id="44" name="RO-wall outlet pin 1">
            <a:extLst xmlns:a="http://schemas.openxmlformats.org/drawingml/2006/main">
              <a:ext uri="{FF2B5EF4-FFF2-40B4-BE49-F238E27FC236}">
                <a16:creationId xmlns:a16="http://schemas.microsoft.com/office/drawing/2014/main" id="{909795D0-AAD4-4547-9333-F5E8B27B6581}"/>
              </a:ext>
            </a:extLst>
          </p:cNvPr>
          <p:cNvSpPr>
            <a:spLocks xmlns:a="http://schemas.openxmlformats.org/drawingml/2006/main" noGrp="1"/>
          </p:cNvSpPr>
          <p:nvPr/>
        </p:nvSpPr>
        <p:spPr>
          <a:xfrm xmlns:a="http://schemas.openxmlformats.org/drawingml/2006/main">
            <a:off x="8296275" y="5143500"/>
            <a:ext cx="19050" cy="47625"/>
          </a:xfrm>
          <a:prstGeom xmlns:a="http://schemas.openxmlformats.org/drawingml/2006/main" prst="rect">
            <a:avLst/>
          </a:prstGeom>
          <a:solidFill xmlns:a="http://schemas.openxmlformats.org/drawingml/2006/main">
            <a:srgbClr val="292B2D"/>
          </a:solidFill>
          <a:ln xmlns:a="http://schemas.openxmlformats.org/drawingml/2006/main" w="0">
            <a:noFill/>
            <a:prstDash val="solid"/>
          </a:ln>
        </p:spPr>
      </p:sp>
      <p:sp>
        <p:nvSpPr>
          <p:cNvPr id="45" name="RO-wall outlet pin 2">
            <a:extLst xmlns:a="http://schemas.openxmlformats.org/drawingml/2006/main">
              <a:ext uri="{FF2B5EF4-FFF2-40B4-BE49-F238E27FC236}">
                <a16:creationId xmlns:a16="http://schemas.microsoft.com/office/drawing/2014/main" id="{CD326926-57BD-4FD1-95C2-646A0EB98FAC}"/>
              </a:ext>
            </a:extLst>
          </p:cNvPr>
          <p:cNvSpPr>
            <a:spLocks xmlns:a="http://schemas.openxmlformats.org/drawingml/2006/main" noGrp="1"/>
          </p:cNvSpPr>
          <p:nvPr/>
        </p:nvSpPr>
        <p:spPr>
          <a:xfrm xmlns:a="http://schemas.openxmlformats.org/drawingml/2006/main">
            <a:off x="8382000" y="5143500"/>
            <a:ext cx="19050" cy="47625"/>
          </a:xfrm>
          <a:prstGeom xmlns:a="http://schemas.openxmlformats.org/drawingml/2006/main" prst="rect">
            <a:avLst/>
          </a:prstGeom>
          <a:solidFill xmlns:a="http://schemas.openxmlformats.org/drawingml/2006/main">
            <a:srgbClr val="292B2D"/>
          </a:solidFill>
          <a:ln xmlns:a="http://schemas.openxmlformats.org/drawingml/2006/main" w="0">
            <a:noFill/>
            <a:prstDash val="solid"/>
          </a:ln>
        </p:spPr>
      </p:sp>
      <p:sp>
        <p:nvSpPr>
          <p:cNvPr id="46" name="RO-wall counter">
            <a:extLst xmlns:a="http://schemas.openxmlformats.org/drawingml/2006/main">
              <a:ext uri="{FF2B5EF4-FFF2-40B4-BE49-F238E27FC236}">
                <a16:creationId xmlns:a16="http://schemas.microsoft.com/office/drawing/2014/main" id="{5AF9CAE3-BEC7-494F-A89F-44D45C3CAC44}"/>
              </a:ext>
            </a:extLst>
          </p:cNvPr>
          <p:cNvSpPr>
            <a:spLocks xmlns:a="http://schemas.openxmlformats.org/drawingml/2006/main" noGrp="1"/>
          </p:cNvSpPr>
          <p:nvPr/>
        </p:nvSpPr>
        <p:spPr>
          <a:xfrm xmlns:a="http://schemas.openxmlformats.org/drawingml/2006/main">
            <a:off x="666750" y="5810250"/>
            <a:ext cx="8143875" cy="133350"/>
          </a:xfrm>
          <a:prstGeom xmlns:a="http://schemas.openxmlformats.org/drawingml/2006/main" prst="rect">
            <a:avLst/>
          </a:prstGeom>
          <a:solidFill xmlns:a="http://schemas.openxmlformats.org/drawingml/2006/main">
            <a:srgbClr val="292B2D"/>
          </a:solidFill>
          <a:ln xmlns:a="http://schemas.openxmlformats.org/drawingml/2006/main" w="9525">
            <a:solidFill>
              <a:srgbClr val="292B2D"/>
            </a:solidFill>
            <a:prstDash val="solid"/>
          </a:ln>
        </p:spPr>
      </p:sp>
      <p:sp>
        <p:nvSpPr>
          <p:cNvPr id="47" name="R2 double-bowl sink full rim">
            <a:extLst xmlns:a="http://schemas.openxmlformats.org/drawingml/2006/main">
              <a:ext uri="{FF2B5EF4-FFF2-40B4-BE49-F238E27FC236}">
                <a16:creationId xmlns:a16="http://schemas.microsoft.com/office/drawing/2014/main" id="{2B751171-C174-41F1-9BB0-53B56B4A8D88}"/>
              </a:ext>
            </a:extLst>
          </p:cNvPr>
          <p:cNvSpPr>
            <a:spLocks xmlns:a="http://schemas.openxmlformats.org/drawingml/2006/main" noGrp="1"/>
          </p:cNvSpPr>
          <p:nvPr/>
        </p:nvSpPr>
        <p:spPr>
          <a:xfrm xmlns:a="http://schemas.openxmlformats.org/drawingml/2006/main">
            <a:off x="3429000" y="5715000"/>
            <a:ext cx="3905250" cy="190500"/>
          </a:xfrm>
          <a:prstGeom xmlns:a="http://schemas.openxmlformats.org/drawingml/2006/main" prst="rect">
            <a:avLst/>
          </a:prstGeom>
          <a:solidFill xmlns:a="http://schemas.openxmlformats.org/drawingml/2006/main">
            <a:srgbClr val="A8ADB0"/>
          </a:solidFill>
          <a:ln xmlns:a="http://schemas.openxmlformats.org/drawingml/2006/main" w="9525">
            <a:solidFill>
              <a:srgbClr val="292B2D"/>
            </a:solidFill>
            <a:prstDash val="solid"/>
          </a:ln>
        </p:spPr>
      </p:sp>
      <p:sp>
        <p:nvSpPr>
          <p:cNvPr id="48" name="R2 double-bowl sink bowl left">
            <a:extLst xmlns:a="http://schemas.openxmlformats.org/drawingml/2006/main">
              <a:ext uri="{FF2B5EF4-FFF2-40B4-BE49-F238E27FC236}">
                <a16:creationId xmlns:a16="http://schemas.microsoft.com/office/drawing/2014/main" id="{56BE5185-F2EE-4524-9D5B-5BCC132557F6}"/>
              </a:ext>
            </a:extLst>
          </p:cNvPr>
          <p:cNvSpPr>
            <a:spLocks xmlns:a="http://schemas.openxmlformats.org/drawingml/2006/main" noGrp="1"/>
          </p:cNvSpPr>
          <p:nvPr/>
        </p:nvSpPr>
        <p:spPr>
          <a:xfrm xmlns:a="http://schemas.openxmlformats.org/drawingml/2006/main">
            <a:off x="3495675" y="5753100"/>
            <a:ext cx="1838325" cy="114300"/>
          </a:xfrm>
          <a:prstGeom xmlns:a="http://schemas.openxmlformats.org/drawingml/2006/main" prst="rect">
            <a:avLst/>
          </a:prstGeom>
          <a:solidFill xmlns:a="http://schemas.openxmlformats.org/drawingml/2006/main">
            <a:srgbClr val="1C3042"/>
          </a:solidFill>
          <a:ln xmlns:a="http://schemas.openxmlformats.org/drawingml/2006/main" w="9525">
            <a:solidFill>
              <a:srgbClr val="A8ADB0"/>
            </a:solidFill>
            <a:prstDash val="solid"/>
          </a:ln>
        </p:spPr>
      </p:sp>
      <p:sp>
        <p:nvSpPr>
          <p:cNvPr id="49" name="R2 double-bowl sink bowl right">
            <a:extLst xmlns:a="http://schemas.openxmlformats.org/drawingml/2006/main">
              <a:ext uri="{FF2B5EF4-FFF2-40B4-BE49-F238E27FC236}">
                <a16:creationId xmlns:a16="http://schemas.microsoft.com/office/drawing/2014/main" id="{059B40C5-5AE4-47CF-BA6D-C3840B2BE178}"/>
              </a:ext>
            </a:extLst>
          </p:cNvPr>
          <p:cNvSpPr>
            <a:spLocks xmlns:a="http://schemas.openxmlformats.org/drawingml/2006/main" noGrp="1"/>
          </p:cNvSpPr>
          <p:nvPr/>
        </p:nvSpPr>
        <p:spPr>
          <a:xfrm xmlns:a="http://schemas.openxmlformats.org/drawingml/2006/main">
            <a:off x="5429250" y="5753100"/>
            <a:ext cx="1838325" cy="114300"/>
          </a:xfrm>
          <a:prstGeom xmlns:a="http://schemas.openxmlformats.org/drawingml/2006/main" prst="rect">
            <a:avLst/>
          </a:prstGeom>
          <a:solidFill xmlns:a="http://schemas.openxmlformats.org/drawingml/2006/main">
            <a:srgbClr val="1C3042"/>
          </a:solidFill>
          <a:ln xmlns:a="http://schemas.openxmlformats.org/drawingml/2006/main" w="9525">
            <a:solidFill>
              <a:srgbClr val="A8ADB0"/>
            </a:solidFill>
            <a:prstDash val="solid"/>
          </a:ln>
        </p:spPr>
      </p:sp>
      <p:sp>
        <p:nvSpPr>
          <p:cNvPr id="50" name="R2 double-bowl sink mixer">
            <a:extLst xmlns:a="http://schemas.openxmlformats.org/drawingml/2006/main">
              <a:ext uri="{FF2B5EF4-FFF2-40B4-BE49-F238E27FC236}">
                <a16:creationId xmlns:a16="http://schemas.microsoft.com/office/drawing/2014/main" id="{D6BF9919-DA48-4B97-A5B9-81650726976D}"/>
              </a:ext>
            </a:extLst>
          </p:cNvPr>
          <p:cNvSpPr>
            <a:spLocks xmlns:a="http://schemas.openxmlformats.org/drawingml/2006/main" noGrp="1"/>
          </p:cNvSpPr>
          <p:nvPr/>
        </p:nvSpPr>
        <p:spPr>
          <a:xfrm xmlns:a="http://schemas.openxmlformats.org/drawingml/2006/main">
            <a:off x="5381625" y="5095875"/>
            <a:ext cx="291465" cy="600075"/>
          </a:xfrm>
          <a:custGeom xmlns:a="http://schemas.openxmlformats.org/drawingml/2006/main">
            <a:pathLst>
              <a:path w="291465" h="600075">
                <a:moveTo>
                  <a:pt x="0" y="666750"/>
                </a:moveTo>
                <a:lnTo>
                  <a:pt x="0" y="190500"/>
                </a:lnTo>
                <a:lnTo>
                  <a:pt x="47625" y="66675"/>
                </a:lnTo>
                <a:lnTo>
                  <a:pt x="152400" y="0"/>
                </a:lnTo>
                <a:lnTo>
                  <a:pt x="266700" y="38100"/>
                </a:lnTo>
                <a:lnTo>
                  <a:pt x="323850" y="133350"/>
                </a:lnTo>
                <a:lnTo>
                  <a:pt x="323850" y="257175"/>
                </a:lnTo>
              </a:path>
            </a:pathLst>
          </a:custGeom>
          <a:noFill xmlns:a="http://schemas.openxmlformats.org/drawingml/2006/main"/>
          <a:ln xmlns:a="http://schemas.openxmlformats.org/drawingml/2006/main" w="38100">
            <a:solidFill>
              <a:srgbClr val="A8ADB0"/>
            </a:solidFill>
          </a:ln>
        </p:spPr>
      </p:sp>
      <p:sp>
        <p:nvSpPr>
          <p:cNvPr id="51" name="R2 double-bowl sink base">
            <a:extLst xmlns:a="http://schemas.openxmlformats.org/drawingml/2006/main">
              <a:ext uri="{FF2B5EF4-FFF2-40B4-BE49-F238E27FC236}">
                <a16:creationId xmlns:a16="http://schemas.microsoft.com/office/drawing/2014/main" id="{80FD78F2-B374-4F3E-97ED-9153C70988CB}"/>
              </a:ext>
            </a:extLst>
          </p:cNvPr>
          <p:cNvSpPr>
            <a:spLocks xmlns:a="http://schemas.openxmlformats.org/drawingml/2006/main" noGrp="1"/>
          </p:cNvSpPr>
          <p:nvPr/>
        </p:nvSpPr>
        <p:spPr>
          <a:xfrm xmlns:a="http://schemas.openxmlformats.org/drawingml/2006/main">
            <a:off x="5305425" y="5695950"/>
            <a:ext cx="171450" cy="38100"/>
          </a:xfrm>
          <a:prstGeom xmlns:a="http://schemas.openxmlformats.org/drawingml/2006/main" prst="rect">
            <a:avLst/>
          </a:prstGeom>
          <a:solidFill xmlns:a="http://schemas.openxmlformats.org/drawingml/2006/main">
            <a:srgbClr val="A8ADB0"/>
          </a:solidFill>
          <a:ln xmlns:a="http://schemas.openxmlformats.org/drawingml/2006/main" w="4763">
            <a:solidFill>
              <a:srgbClr val="6B5543"/>
            </a:solidFill>
            <a:prstDash val="solid"/>
          </a:ln>
        </p:spPr>
      </p:sp>
      <p:sp>
        <p:nvSpPr>
          <p:cNvPr id="52" name="R1 corner access shutter">
            <a:extLst xmlns:a="http://schemas.openxmlformats.org/drawingml/2006/main">
              <a:ext uri="{FF2B5EF4-FFF2-40B4-BE49-F238E27FC236}">
                <a16:creationId xmlns:a16="http://schemas.microsoft.com/office/drawing/2014/main" id="{27B87943-C747-48C3-A338-82F92F32905E}"/>
              </a:ext>
            </a:extLst>
          </p:cNvPr>
          <p:cNvSpPr>
            <a:spLocks xmlns:a="http://schemas.openxmlformats.org/drawingml/2006/main" noGrp="1"/>
          </p:cNvSpPr>
          <p:nvPr/>
        </p:nvSpPr>
        <p:spPr>
          <a:xfrm xmlns:a="http://schemas.openxmlformats.org/drawingml/2006/main">
            <a:off x="666750" y="5943600"/>
            <a:ext cx="2762250" cy="1543050"/>
          </a:xfrm>
          <a:prstGeom xmlns:a="http://schemas.openxmlformats.org/drawingml/2006/main" prst="rect">
            <a:avLst/>
          </a:prstGeom>
          <a:solidFill xmlns:a="http://schemas.openxmlformats.org/drawingml/2006/main">
            <a:srgbClr val="875B3D"/>
          </a:solidFill>
          <a:ln xmlns:a="http://schemas.openxmlformats.org/drawingml/2006/main" w="14288">
            <a:solidFill>
              <a:srgbClr val="6B5543"/>
            </a:solidFill>
            <a:prstDash val="solid"/>
          </a:ln>
        </p:spPr>
      </p:sp>
      <p:sp>
        <p:nvSpPr>
          <p:cNvPr id="53" name="R1 corner access handle">
            <a:extLst xmlns:a="http://schemas.openxmlformats.org/drawingml/2006/main">
              <a:ext uri="{FF2B5EF4-FFF2-40B4-BE49-F238E27FC236}">
                <a16:creationId xmlns:a16="http://schemas.microsoft.com/office/drawing/2014/main" id="{0F23058D-30AA-47D0-A630-094BE22B3E1C}"/>
              </a:ext>
            </a:extLst>
          </p:cNvPr>
          <p:cNvSpPr>
            <a:spLocks xmlns:a="http://schemas.openxmlformats.org/drawingml/2006/main" noGrp="1"/>
          </p:cNvSpPr>
          <p:nvPr/>
        </p:nvSpPr>
        <p:spPr>
          <a:xfrm xmlns:a="http://schemas.openxmlformats.org/drawingml/2006/main">
            <a:off x="1847850" y="72771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54" name="R1 corner access label">
            <a:extLst xmlns:a="http://schemas.openxmlformats.org/drawingml/2006/main">
              <a:ext uri="{FF2B5EF4-FFF2-40B4-BE49-F238E27FC236}">
                <a16:creationId xmlns:a16="http://schemas.microsoft.com/office/drawing/2014/main" id="{E05019DE-92B8-4039-B1DF-79EDE50FE722}"/>
              </a:ext>
            </a:extLst>
          </p:cNvPr>
          <p:cNvSpPr>
            <a:spLocks xmlns:a="http://schemas.openxmlformats.org/drawingml/2006/main" noGrp="1"/>
          </p:cNvSpPr>
          <p:nvPr/>
        </p:nvSpPr>
        <p:spPr>
          <a:xfrm xmlns:a="http://schemas.openxmlformats.org/drawingml/2006/main">
            <a:off x="762000" y="63912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Corner access</a:t>
            </a:r>
          </a:p>
        </p:txBody>
      </p:sp>
      <p:sp>
        <p:nvSpPr>
          <p:cNvPr id="55" name="R2 sink base left shutter">
            <a:extLst xmlns:a="http://schemas.openxmlformats.org/drawingml/2006/main">
              <a:ext uri="{FF2B5EF4-FFF2-40B4-BE49-F238E27FC236}">
                <a16:creationId xmlns:a16="http://schemas.microsoft.com/office/drawing/2014/main" id="{6470AC12-856E-4F1C-A13A-FD1BB2BE102C}"/>
              </a:ext>
            </a:extLst>
          </p:cNvPr>
          <p:cNvSpPr>
            <a:spLocks xmlns:a="http://schemas.openxmlformats.org/drawingml/2006/main" noGrp="1"/>
          </p:cNvSpPr>
          <p:nvPr/>
        </p:nvSpPr>
        <p:spPr>
          <a:xfrm xmlns:a="http://schemas.openxmlformats.org/drawingml/2006/main">
            <a:off x="3429000" y="5943600"/>
            <a:ext cx="1952625" cy="1543050"/>
          </a:xfrm>
          <a:prstGeom xmlns:a="http://schemas.openxmlformats.org/drawingml/2006/main" prst="rect">
            <a:avLst/>
          </a:prstGeom>
          <a:solidFill xmlns:a="http://schemas.openxmlformats.org/drawingml/2006/main">
            <a:srgbClr val="875B3D"/>
          </a:solidFill>
          <a:ln xmlns:a="http://schemas.openxmlformats.org/drawingml/2006/main" w="14288">
            <a:solidFill>
              <a:srgbClr val="6B5543"/>
            </a:solidFill>
            <a:prstDash val="solid"/>
          </a:ln>
        </p:spPr>
      </p:sp>
      <p:sp>
        <p:nvSpPr>
          <p:cNvPr id="56" name="R2 sink base left handle">
            <a:extLst xmlns:a="http://schemas.openxmlformats.org/drawingml/2006/main">
              <a:ext uri="{FF2B5EF4-FFF2-40B4-BE49-F238E27FC236}">
                <a16:creationId xmlns:a16="http://schemas.microsoft.com/office/drawing/2014/main" id="{E3968AD7-60E6-4D93-AAD0-9D0506F0234A}"/>
              </a:ext>
            </a:extLst>
          </p:cNvPr>
          <p:cNvSpPr>
            <a:spLocks xmlns:a="http://schemas.openxmlformats.org/drawingml/2006/main" noGrp="1"/>
          </p:cNvSpPr>
          <p:nvPr/>
        </p:nvSpPr>
        <p:spPr>
          <a:xfrm xmlns:a="http://schemas.openxmlformats.org/drawingml/2006/main">
            <a:off x="4205288" y="72771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57" name="R2 sink base right shutter">
            <a:extLst xmlns:a="http://schemas.openxmlformats.org/drawingml/2006/main">
              <a:ext uri="{FF2B5EF4-FFF2-40B4-BE49-F238E27FC236}">
                <a16:creationId xmlns:a16="http://schemas.microsoft.com/office/drawing/2014/main" id="{1253A259-C844-425F-8ED5-C964E7775651}"/>
              </a:ext>
            </a:extLst>
          </p:cNvPr>
          <p:cNvSpPr>
            <a:spLocks xmlns:a="http://schemas.openxmlformats.org/drawingml/2006/main" noGrp="1"/>
          </p:cNvSpPr>
          <p:nvPr/>
        </p:nvSpPr>
        <p:spPr>
          <a:xfrm xmlns:a="http://schemas.openxmlformats.org/drawingml/2006/main">
            <a:off x="5381625" y="5943600"/>
            <a:ext cx="1952625" cy="1543050"/>
          </a:xfrm>
          <a:prstGeom xmlns:a="http://schemas.openxmlformats.org/drawingml/2006/main" prst="rect">
            <a:avLst/>
          </a:prstGeom>
          <a:solidFill xmlns:a="http://schemas.openxmlformats.org/drawingml/2006/main">
            <a:srgbClr val="875B3D"/>
          </a:solidFill>
          <a:ln xmlns:a="http://schemas.openxmlformats.org/drawingml/2006/main" w="14288">
            <a:solidFill>
              <a:srgbClr val="6B5543"/>
            </a:solidFill>
            <a:prstDash val="solid"/>
          </a:ln>
        </p:spPr>
      </p:sp>
      <p:sp>
        <p:nvSpPr>
          <p:cNvPr id="58" name="R2 sink base right handle">
            <a:extLst xmlns:a="http://schemas.openxmlformats.org/drawingml/2006/main">
              <a:ext uri="{FF2B5EF4-FFF2-40B4-BE49-F238E27FC236}">
                <a16:creationId xmlns:a16="http://schemas.microsoft.com/office/drawing/2014/main" id="{BD8F4EC5-7E71-4DFD-BA76-D9C779A6F5B3}"/>
              </a:ext>
            </a:extLst>
          </p:cNvPr>
          <p:cNvSpPr>
            <a:spLocks xmlns:a="http://schemas.openxmlformats.org/drawingml/2006/main" noGrp="1"/>
          </p:cNvSpPr>
          <p:nvPr/>
        </p:nvSpPr>
        <p:spPr>
          <a:xfrm xmlns:a="http://schemas.openxmlformats.org/drawingml/2006/main">
            <a:off x="6157913" y="72771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59" name="R3 mini geyser shutter">
            <a:extLst xmlns:a="http://schemas.openxmlformats.org/drawingml/2006/main">
              <a:ext uri="{FF2B5EF4-FFF2-40B4-BE49-F238E27FC236}">
                <a16:creationId xmlns:a16="http://schemas.microsoft.com/office/drawing/2014/main" id="{2734FAA4-5FD9-4E0A-A6C0-351B6CA75443}"/>
              </a:ext>
            </a:extLst>
          </p:cNvPr>
          <p:cNvSpPr>
            <a:spLocks xmlns:a="http://schemas.openxmlformats.org/drawingml/2006/main" noGrp="1"/>
          </p:cNvSpPr>
          <p:nvPr/>
        </p:nvSpPr>
        <p:spPr>
          <a:xfrm xmlns:a="http://schemas.openxmlformats.org/drawingml/2006/main">
            <a:off x="7334250" y="5943600"/>
            <a:ext cx="1476375" cy="1543050"/>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60" name="R3 mini geyser handle">
            <a:extLst xmlns:a="http://schemas.openxmlformats.org/drawingml/2006/main">
              <a:ext uri="{FF2B5EF4-FFF2-40B4-BE49-F238E27FC236}">
                <a16:creationId xmlns:a16="http://schemas.microsoft.com/office/drawing/2014/main" id="{2C102F7B-0372-418F-AAE7-6C4788326F40}"/>
              </a:ext>
            </a:extLst>
          </p:cNvPr>
          <p:cNvSpPr>
            <a:spLocks xmlns:a="http://schemas.openxmlformats.org/drawingml/2006/main" noGrp="1"/>
          </p:cNvSpPr>
          <p:nvPr/>
        </p:nvSpPr>
        <p:spPr>
          <a:xfrm xmlns:a="http://schemas.openxmlformats.org/drawingml/2006/main">
            <a:off x="7872413" y="72771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61" name="R3 mini geyser label">
            <a:extLst xmlns:a="http://schemas.openxmlformats.org/drawingml/2006/main">
              <a:ext uri="{FF2B5EF4-FFF2-40B4-BE49-F238E27FC236}">
                <a16:creationId xmlns:a16="http://schemas.microsoft.com/office/drawing/2014/main" id="{3285FCFF-775C-4B2A-B812-EC55A5037586}"/>
              </a:ext>
            </a:extLst>
          </p:cNvPr>
          <p:cNvSpPr>
            <a:spLocks xmlns:a="http://schemas.openxmlformats.org/drawingml/2006/main" noGrp="1"/>
          </p:cNvSpPr>
          <p:nvPr/>
        </p:nvSpPr>
        <p:spPr>
          <a:xfrm xmlns:a="http://schemas.openxmlformats.org/drawingml/2006/main">
            <a:off x="7381875" y="632460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292B2D"/>
                </a:solidFill>
                <a:latin typeface="Helvetica Neue"/>
                <a:ea typeface="Helvetica Neue"/>
                <a:cs typeface="Helvetica Neue"/>
              </a:defRPr>
            </a:pPr>
            <a:r>
              <a:rPr sz="1575" b="1">
                <a:solidFill>
                  <a:srgbClr val="292B2D"/>
                </a:solidFill>
                <a:latin typeface="Helvetica Neue"/>
                <a:ea typeface="Helvetica Neue"/>
                <a:cs typeface="Helvetica Neue"/>
              </a:rPr>
              <a:t>Geyser</a:t>
            </a:r>
          </a:p>
        </p:txBody>
      </p:sp>
      <p:sp>
        <p:nvSpPr>
          <p:cNvPr id="62" name="RO base plinth">
            <a:extLst xmlns:a="http://schemas.openxmlformats.org/drawingml/2006/main">
              <a:ext uri="{FF2B5EF4-FFF2-40B4-BE49-F238E27FC236}">
                <a16:creationId xmlns:a16="http://schemas.microsoft.com/office/drawing/2014/main" id="{5804553A-062B-4782-A83F-BDEBBCF87ACF}"/>
              </a:ext>
            </a:extLst>
          </p:cNvPr>
          <p:cNvSpPr>
            <a:spLocks xmlns:a="http://schemas.openxmlformats.org/drawingml/2006/main" noGrp="1"/>
          </p:cNvSpPr>
          <p:nvPr/>
        </p:nvSpPr>
        <p:spPr>
          <a:xfrm xmlns:a="http://schemas.openxmlformats.org/drawingml/2006/main">
            <a:off x="666750" y="7486650"/>
            <a:ext cx="8143875" cy="114300"/>
          </a:xfrm>
          <a:prstGeom xmlns:a="http://schemas.openxmlformats.org/drawingml/2006/main" prst="rect">
            <a:avLst/>
          </a:prstGeom>
          <a:solidFill xmlns:a="http://schemas.openxmlformats.org/drawingml/2006/main">
            <a:srgbClr val="292B2D"/>
          </a:solidFill>
          <a:ln xmlns:a="http://schemas.openxmlformats.org/drawingml/2006/main" w="9525">
            <a:solidFill>
              <a:srgbClr val="292B2D"/>
            </a:solidFill>
            <a:prstDash val="solid"/>
          </a:ln>
        </p:spPr>
      </p:sp>
      <p:sp>
        <p:nvSpPr>
          <p:cNvPr id="63" name="R4 refrigerator upper">
            <a:extLst xmlns:a="http://schemas.openxmlformats.org/drawingml/2006/main">
              <a:ext uri="{FF2B5EF4-FFF2-40B4-BE49-F238E27FC236}">
                <a16:creationId xmlns:a16="http://schemas.microsoft.com/office/drawing/2014/main" id="{BE74607F-9F79-42F2-A238-70699A70A85E}"/>
              </a:ext>
            </a:extLst>
          </p:cNvPr>
          <p:cNvSpPr>
            <a:spLocks xmlns:a="http://schemas.openxmlformats.org/drawingml/2006/main" noGrp="1"/>
          </p:cNvSpPr>
          <p:nvPr/>
        </p:nvSpPr>
        <p:spPr>
          <a:xfrm xmlns:a="http://schemas.openxmlformats.org/drawingml/2006/main">
            <a:off x="8810625" y="3143250"/>
            <a:ext cx="2714625" cy="1428750"/>
          </a:xfrm>
          <a:prstGeom xmlns:a="http://schemas.openxmlformats.org/drawingml/2006/main" prst="rect">
            <a:avLst/>
          </a:prstGeom>
          <a:solidFill xmlns:a="http://schemas.openxmlformats.org/drawingml/2006/main">
            <a:srgbClr val="A8ADB0"/>
          </a:solidFill>
          <a:ln xmlns:a="http://schemas.openxmlformats.org/drawingml/2006/main" w="19050">
            <a:solidFill>
              <a:srgbClr val="292B2D"/>
            </a:solidFill>
            <a:prstDash val="solid"/>
          </a:ln>
        </p:spPr>
      </p:sp>
      <p:sp>
        <p:nvSpPr>
          <p:cNvPr id="64" name="R4 refrigerator lower">
            <a:extLst xmlns:a="http://schemas.openxmlformats.org/drawingml/2006/main">
              <a:ext uri="{FF2B5EF4-FFF2-40B4-BE49-F238E27FC236}">
                <a16:creationId xmlns:a16="http://schemas.microsoft.com/office/drawing/2014/main" id="{F52713D2-46FE-4BFF-AC84-AA39A85AF9D2}"/>
              </a:ext>
            </a:extLst>
          </p:cNvPr>
          <p:cNvSpPr>
            <a:spLocks xmlns:a="http://schemas.openxmlformats.org/drawingml/2006/main" noGrp="1"/>
          </p:cNvSpPr>
          <p:nvPr/>
        </p:nvSpPr>
        <p:spPr>
          <a:xfrm xmlns:a="http://schemas.openxmlformats.org/drawingml/2006/main">
            <a:off x="8810625" y="4572000"/>
            <a:ext cx="2714625" cy="3028950"/>
          </a:xfrm>
          <a:prstGeom xmlns:a="http://schemas.openxmlformats.org/drawingml/2006/main" prst="rect">
            <a:avLst/>
          </a:prstGeom>
          <a:solidFill xmlns:a="http://schemas.openxmlformats.org/drawingml/2006/main">
            <a:srgbClr val="A8ADB0"/>
          </a:solidFill>
          <a:ln xmlns:a="http://schemas.openxmlformats.org/drawingml/2006/main" w="19050">
            <a:solidFill>
              <a:srgbClr val="292B2D"/>
            </a:solidFill>
            <a:prstDash val="solid"/>
          </a:ln>
        </p:spPr>
      </p:sp>
      <p:sp>
        <p:nvSpPr>
          <p:cNvPr id="65" name="R4 upper handle">
            <a:extLst xmlns:a="http://schemas.openxmlformats.org/drawingml/2006/main">
              <a:ext uri="{FF2B5EF4-FFF2-40B4-BE49-F238E27FC236}">
                <a16:creationId xmlns:a16="http://schemas.microsoft.com/office/drawing/2014/main" id="{C4D93C3A-329A-4E9A-88BF-047F2F04666C}"/>
              </a:ext>
            </a:extLst>
          </p:cNvPr>
          <p:cNvSpPr>
            <a:spLocks xmlns:a="http://schemas.openxmlformats.org/drawingml/2006/main" noGrp="1"/>
          </p:cNvSpPr>
          <p:nvPr/>
        </p:nvSpPr>
        <p:spPr>
          <a:xfrm xmlns:a="http://schemas.openxmlformats.org/drawingml/2006/main" flipH="0" flipV="0">
            <a:off x="8953500" y="3495675"/>
            <a:ext cx="0" cy="600075"/>
          </a:xfrm>
          <a:prstGeom xmlns:a="http://schemas.openxmlformats.org/drawingml/2006/main" prst="line">
            <a:avLst/>
          </a:prstGeom>
          <a:noFill xmlns:a="http://schemas.openxmlformats.org/drawingml/2006/main"/>
          <a:ln xmlns:a="http://schemas.openxmlformats.org/drawingml/2006/main" w="38100">
            <a:solidFill>
              <a:srgbClr val="292B2D"/>
            </a:solidFill>
            <a:prstDash val="solid"/>
          </a:ln>
        </p:spPr>
      </p:sp>
      <p:sp>
        <p:nvSpPr>
          <p:cNvPr id="66" name="R4 lower handle">
            <a:extLst xmlns:a="http://schemas.openxmlformats.org/drawingml/2006/main">
              <a:ext uri="{FF2B5EF4-FFF2-40B4-BE49-F238E27FC236}">
                <a16:creationId xmlns:a16="http://schemas.microsoft.com/office/drawing/2014/main" id="{83F2DD7C-B712-4C1D-89CC-FE8A02F63225}"/>
              </a:ext>
            </a:extLst>
          </p:cNvPr>
          <p:cNvSpPr>
            <a:spLocks xmlns:a="http://schemas.openxmlformats.org/drawingml/2006/main" noGrp="1"/>
          </p:cNvSpPr>
          <p:nvPr/>
        </p:nvSpPr>
        <p:spPr>
          <a:xfrm xmlns:a="http://schemas.openxmlformats.org/drawingml/2006/main" flipH="0" flipV="0">
            <a:off x="8953500" y="4857750"/>
            <a:ext cx="0" cy="952500"/>
          </a:xfrm>
          <a:prstGeom xmlns:a="http://schemas.openxmlformats.org/drawingml/2006/main" prst="line">
            <a:avLst/>
          </a:prstGeom>
          <a:noFill xmlns:a="http://schemas.openxmlformats.org/drawingml/2006/main"/>
          <a:ln xmlns:a="http://schemas.openxmlformats.org/drawingml/2006/main" w="38100">
            <a:solidFill>
              <a:srgbClr val="292B2D"/>
            </a:solidFill>
            <a:prstDash val="solid"/>
          </a:ln>
        </p:spPr>
      </p:sp>
      <p:sp>
        <p:nvSpPr>
          <p:cNvPr id="67" name="Refrigerator label">
            <a:extLst xmlns:a="http://schemas.openxmlformats.org/drawingml/2006/main">
              <a:ext uri="{FF2B5EF4-FFF2-40B4-BE49-F238E27FC236}">
                <a16:creationId xmlns:a16="http://schemas.microsoft.com/office/drawing/2014/main" id="{163E35B6-2398-4E0F-B756-0F84392AC982}"/>
              </a:ext>
            </a:extLst>
          </p:cNvPr>
          <p:cNvSpPr>
            <a:spLocks xmlns:a="http://schemas.openxmlformats.org/drawingml/2006/main" noGrp="1"/>
          </p:cNvSpPr>
          <p:nvPr/>
        </p:nvSpPr>
        <p:spPr>
          <a:xfrm xmlns:a="http://schemas.openxmlformats.org/drawingml/2006/main">
            <a:off x="9001125" y="6105525"/>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1">
                <a:solidFill>
                  <a:srgbClr val="292B2D"/>
                </a:solidFill>
                <a:latin typeface="Helvetica Neue"/>
                <a:ea typeface="Helvetica Neue"/>
                <a:cs typeface="Helvetica Neue"/>
              </a:defRPr>
            </a:pPr>
            <a:r>
              <a:rPr sz="2025" b="1">
                <a:solidFill>
                  <a:srgbClr val="292B2D"/>
                </a:solidFill>
                <a:latin typeface="Helvetica Neue"/>
                <a:ea typeface="Helvetica Neue"/>
                <a:cs typeface="Helvetica Neue"/>
              </a:rPr>
              <a:t>Fridge</a:t>
            </a:r>
          </a:p>
        </p:txBody>
      </p:sp>
      <p:sp>
        <p:nvSpPr>
          <p:cNvPr id="68" name="Sink/rack left alignment">
            <a:extLst xmlns:a="http://schemas.openxmlformats.org/drawingml/2006/main">
              <a:ext uri="{FF2B5EF4-FFF2-40B4-BE49-F238E27FC236}">
                <a16:creationId xmlns:a16="http://schemas.microsoft.com/office/drawing/2014/main" id="{222A87DA-6ACB-4940-A38D-536E1F84C486}"/>
              </a:ext>
            </a:extLst>
          </p:cNvPr>
          <p:cNvSpPr>
            <a:spLocks xmlns:a="http://schemas.openxmlformats.org/drawingml/2006/main" noGrp="1"/>
          </p:cNvSpPr>
          <p:nvPr/>
        </p:nvSpPr>
        <p:spPr>
          <a:xfrm xmlns:a="http://schemas.openxmlformats.org/drawingml/2006/main" flipH="0" flipV="0">
            <a:off x="3429000" y="4514850"/>
            <a:ext cx="0" cy="1181100"/>
          </a:xfrm>
          <a:prstGeom xmlns:a="http://schemas.openxmlformats.org/drawingml/2006/main" prst="line">
            <a:avLst/>
          </a:prstGeom>
          <a:noFill xmlns:a="http://schemas.openxmlformats.org/drawingml/2006/main"/>
          <a:ln xmlns:a="http://schemas.openxmlformats.org/drawingml/2006/main" w="15240">
            <a:solidFill>
              <a:srgbClr val="457A90"/>
            </a:solidFill>
            <a:prstDash val="solid"/>
          </a:ln>
        </p:spPr>
      </p:sp>
      <p:sp>
        <p:nvSpPr>
          <p:cNvPr id="69" name="Sink/rack right alignment">
            <a:extLst xmlns:a="http://schemas.openxmlformats.org/drawingml/2006/main">
              <a:ext uri="{FF2B5EF4-FFF2-40B4-BE49-F238E27FC236}">
                <a16:creationId xmlns:a16="http://schemas.microsoft.com/office/drawing/2014/main" id="{7BF943DE-CD3F-42DE-B3F5-1C5306BA9B0A}"/>
              </a:ext>
            </a:extLst>
          </p:cNvPr>
          <p:cNvSpPr>
            <a:spLocks xmlns:a="http://schemas.openxmlformats.org/drawingml/2006/main" noGrp="1"/>
          </p:cNvSpPr>
          <p:nvPr/>
        </p:nvSpPr>
        <p:spPr>
          <a:xfrm xmlns:a="http://schemas.openxmlformats.org/drawingml/2006/main" flipH="0" flipV="0">
            <a:off x="7334250" y="4514850"/>
            <a:ext cx="0" cy="1181100"/>
          </a:xfrm>
          <a:prstGeom xmlns:a="http://schemas.openxmlformats.org/drawingml/2006/main" prst="line">
            <a:avLst/>
          </a:prstGeom>
          <a:noFill xmlns:a="http://schemas.openxmlformats.org/drawingml/2006/main"/>
          <a:ln xmlns:a="http://schemas.openxmlformats.org/drawingml/2006/main" w="15240">
            <a:solidFill>
              <a:srgbClr val="457A90"/>
            </a:solidFill>
            <a:prstDash val="solid"/>
          </a:ln>
        </p:spPr>
      </p:sp>
      <p:sp>
        <p:nvSpPr>
          <p:cNvPr id="70" name="Rack sink alignment label">
            <a:extLst xmlns:a="http://schemas.openxmlformats.org/drawingml/2006/main">
              <a:ext uri="{FF2B5EF4-FFF2-40B4-BE49-F238E27FC236}">
                <a16:creationId xmlns:a16="http://schemas.microsoft.com/office/drawing/2014/main" id="{CF736421-BA51-4F99-BB85-B93011CA4C19}"/>
              </a:ext>
            </a:extLst>
          </p:cNvPr>
          <p:cNvSpPr>
            <a:spLocks xmlns:a="http://schemas.openxmlformats.org/drawingml/2006/main" noGrp="1"/>
          </p:cNvSpPr>
          <p:nvPr/>
        </p:nvSpPr>
        <p:spPr>
          <a:xfrm xmlns:a="http://schemas.openxmlformats.org/drawingml/2006/main">
            <a:off x="3543300" y="4667250"/>
            <a:ext cx="36766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457A90"/>
                </a:solidFill>
                <a:latin typeface="Helvetica Neue"/>
                <a:ea typeface="Helvetica Neue"/>
                <a:cs typeface="Helvetica Neue"/>
              </a:defRPr>
            </a:pPr>
            <a:r>
              <a:rPr sz="1650" b="1">
                <a:solidFill>
                  <a:srgbClr val="457A90"/>
                </a:solidFill>
                <a:latin typeface="Helvetica Neue"/>
                <a:ea typeface="Helvetica Neue"/>
                <a:cs typeface="Helvetica Neue"/>
              </a:rPr>
              <a:t>Rack and sink share one width</a:t>
            </a:r>
          </a:p>
        </p:txBody>
      </p:sp>
      <p:sp>
        <p:nvSpPr>
          <p:cNvPr id="71" name="R1 module caption">
            <a:extLst xmlns:a="http://schemas.openxmlformats.org/drawingml/2006/main">
              <a:ext uri="{FF2B5EF4-FFF2-40B4-BE49-F238E27FC236}">
                <a16:creationId xmlns:a16="http://schemas.microsoft.com/office/drawing/2014/main" id="{22C882A3-E394-4B41-B555-DEE2C5B1B6DA}"/>
              </a:ext>
            </a:extLst>
          </p:cNvPr>
          <p:cNvSpPr>
            <a:spLocks xmlns:a="http://schemas.openxmlformats.org/drawingml/2006/main" noGrp="1"/>
          </p:cNvSpPr>
          <p:nvPr/>
        </p:nvSpPr>
        <p:spPr>
          <a:xfrm xmlns:a="http://schemas.openxmlformats.org/drawingml/2006/main">
            <a:off x="866775" y="76866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92B2D"/>
                </a:solidFill>
                <a:latin typeface="Helvetica Neue"/>
                <a:ea typeface="Helvetica Neue"/>
                <a:cs typeface="Helvetica Neue"/>
              </a:defRPr>
            </a:pPr>
            <a:r>
              <a:rPr sz="1575" b="0">
                <a:solidFill>
                  <a:srgbClr val="292B2D"/>
                </a:solidFill>
                <a:latin typeface="Helvetica Neue"/>
                <a:ea typeface="Helvetica Neue"/>
                <a:cs typeface="Helvetica Neue"/>
              </a:rPr>
              <a:t>R1  Corner</a:t>
            </a:r>
          </a:p>
        </p:txBody>
      </p:sp>
      <p:sp>
        <p:nvSpPr>
          <p:cNvPr id="72" name="R2 module caption">
            <a:extLst xmlns:a="http://schemas.openxmlformats.org/drawingml/2006/main">
              <a:ext uri="{FF2B5EF4-FFF2-40B4-BE49-F238E27FC236}">
                <a16:creationId xmlns:a16="http://schemas.microsoft.com/office/drawing/2014/main" id="{9DFA4012-25CF-44DB-B474-416E581592BE}"/>
              </a:ext>
            </a:extLst>
          </p:cNvPr>
          <p:cNvSpPr>
            <a:spLocks xmlns:a="http://schemas.openxmlformats.org/drawingml/2006/main" noGrp="1"/>
          </p:cNvSpPr>
          <p:nvPr/>
        </p:nvSpPr>
        <p:spPr>
          <a:xfrm xmlns:a="http://schemas.openxmlformats.org/drawingml/2006/main">
            <a:off x="3829050" y="7686675"/>
            <a:ext cx="3257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92B2D"/>
                </a:solidFill>
                <a:latin typeface="Helvetica Neue"/>
                <a:ea typeface="Helvetica Neue"/>
                <a:cs typeface="Helvetica Neue"/>
              </a:defRPr>
            </a:pPr>
            <a:r>
              <a:rPr sz="1575" b="0">
                <a:solidFill>
                  <a:srgbClr val="292B2D"/>
                </a:solidFill>
                <a:latin typeface="Helvetica Neue"/>
                <a:ea typeface="Helvetica Neue"/>
                <a:cs typeface="Helvetica Neue"/>
              </a:rPr>
              <a:t>R2  Sink and rack</a:t>
            </a:r>
          </a:p>
        </p:txBody>
      </p:sp>
      <p:sp>
        <p:nvSpPr>
          <p:cNvPr id="73" name="R3 module caption">
            <a:extLst xmlns:a="http://schemas.openxmlformats.org/drawingml/2006/main">
              <a:ext uri="{FF2B5EF4-FFF2-40B4-BE49-F238E27FC236}">
                <a16:creationId xmlns:a16="http://schemas.microsoft.com/office/drawing/2014/main" id="{FA7F4403-FB9F-4DE5-95D9-D6D58349A5E6}"/>
              </a:ext>
            </a:extLst>
          </p:cNvPr>
          <p:cNvSpPr>
            <a:spLocks xmlns:a="http://schemas.openxmlformats.org/drawingml/2006/main" noGrp="1"/>
          </p:cNvSpPr>
          <p:nvPr/>
        </p:nvSpPr>
        <p:spPr>
          <a:xfrm xmlns:a="http://schemas.openxmlformats.org/drawingml/2006/main">
            <a:off x="7181850" y="7686675"/>
            <a:ext cx="1762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92B2D"/>
                </a:solidFill>
                <a:latin typeface="Helvetica Neue"/>
                <a:ea typeface="Helvetica Neue"/>
                <a:cs typeface="Helvetica Neue"/>
              </a:defRPr>
            </a:pPr>
            <a:r>
              <a:rPr sz="1425" b="0">
                <a:solidFill>
                  <a:srgbClr val="292B2D"/>
                </a:solidFill>
                <a:latin typeface="Helvetica Neue"/>
                <a:ea typeface="Helvetica Neue"/>
                <a:cs typeface="Helvetica Neue"/>
              </a:rPr>
              <a:t>R3  RO / geyser</a:t>
            </a:r>
          </a:p>
        </p:txBody>
      </p:sp>
    </p:spTree>
    <p:extLst>
      <p:ext uri="{BB962C8B-B14F-4D97-AF65-F5344CB8AC3E}">
        <p14:creationId xmlns:p14="http://schemas.microsoft.com/office/powerpoint/2010/main" val="7918448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5" name="Title">
            <a:extLst xmlns:a="http://schemas.openxmlformats.org/drawingml/2006/main">
              <a:ext uri="{FF2B5EF4-FFF2-40B4-BE49-F238E27FC236}">
                <a16:creationId xmlns:a16="http://schemas.microsoft.com/office/drawing/2014/main" id="{7FC71A15-0249-4336-98A2-84883CD1813A}"/>
              </a:ext>
            </a:extLst>
          </p:cNvPr>
          <p:cNvSpPr>
            <a:spLocks xmlns:a="http://schemas.openxmlformats.org/drawingml/2006/main" noGrp="1"/>
          </p:cNvSpPr>
          <p:nvPr/>
        </p:nvSpPr>
        <p:spPr>
          <a:xfrm xmlns:a="http://schemas.openxmlformats.org/drawingml/2006/main">
            <a:off x="609600" y="400050"/>
            <a:ext cx="1390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292B2D"/>
                </a:solidFill>
                <a:latin typeface="Helvetica Neue"/>
                <a:ea typeface="Helvetica Neue"/>
                <a:cs typeface="Helvetica Neue"/>
              </a:defRPr>
            </a:pPr>
            <a:r>
              <a:rPr sz="3150" b="1">
                <a:solidFill>
                  <a:srgbClr val="292B2D"/>
                </a:solidFill>
                <a:latin typeface="Helvetica Neue"/>
                <a:ea typeface="Helvetica Neue"/>
                <a:cs typeface="Helvetica Neue"/>
              </a:rPr>
              <a:t>RO wall access</a:t>
            </a:r>
          </a:p>
        </p:txBody>
      </p:sp>
      <p:sp>
        <p:nvSpPr>
          <p:cNvPr id="2" name="Subtitle">
            <a:extLst xmlns:a="http://schemas.openxmlformats.org/drawingml/2006/main">
              <a:ext uri="{FF2B5EF4-FFF2-40B4-BE49-F238E27FC236}">
                <a16:creationId xmlns:a16="http://schemas.microsoft.com/office/drawing/2014/main" id="{94EE2458-2E0A-4D5A-989C-B44B6AD5C7F5}"/>
              </a:ext>
            </a:extLst>
          </p:cNvPr>
          <p:cNvSpPr>
            <a:spLocks xmlns:a="http://schemas.openxmlformats.org/drawingml/2006/main" noGrp="1"/>
          </p:cNvSpPr>
          <p:nvPr/>
        </p:nvSpPr>
        <p:spPr>
          <a:xfrm xmlns:a="http://schemas.openxmlformats.org/drawingml/2006/main">
            <a:off x="628650" y="990600"/>
            <a:ext cx="1390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292B2D"/>
                </a:solidFill>
                <a:latin typeface="Helvetica Neue"/>
                <a:ea typeface="Helvetica Neue"/>
                <a:cs typeface="Helvetica Neue"/>
              </a:defRPr>
            </a:pPr>
            <a:r>
              <a:rPr sz="1725" b="0">
                <a:solidFill>
                  <a:srgbClr val="292B2D"/>
                </a:solidFill>
                <a:latin typeface="Helvetica Neue"/>
                <a:ea typeface="Helvetica Neue"/>
                <a:cs typeface="Helvetica Neue"/>
              </a:rPr>
              <a:t>Matching modules with shutters open for storage and service access</a:t>
            </a:r>
          </a:p>
        </p:txBody>
      </p:sp>
      <p:sp>
        <p:nvSpPr>
          <p:cNvPr id="3" name="Title rule">
            <a:extLst xmlns:a="http://schemas.openxmlformats.org/drawingml/2006/main">
              <a:ext uri="{FF2B5EF4-FFF2-40B4-BE49-F238E27FC236}">
                <a16:creationId xmlns:a16="http://schemas.microsoft.com/office/drawing/2014/main" id="{ABBAFA04-FC53-475F-9185-35435F8256A5}"/>
              </a:ext>
            </a:extLst>
          </p:cNvPr>
          <p:cNvSpPr>
            <a:spLocks xmlns:a="http://schemas.openxmlformats.org/drawingml/2006/main" noGrp="1"/>
          </p:cNvSpPr>
          <p:nvPr/>
        </p:nvSpPr>
        <p:spPr>
          <a:xfrm xmlns:a="http://schemas.openxmlformats.org/drawingml/2006/main" flipH="0" flipV="0">
            <a:off x="628650" y="1419225"/>
            <a:ext cx="13982700" cy="0"/>
          </a:xfrm>
          <a:prstGeom xmlns:a="http://schemas.openxmlformats.org/drawingml/2006/main" prst="line">
            <a:avLst/>
          </a:prstGeom>
          <a:noFill xmlns:a="http://schemas.openxmlformats.org/drawingml/2006/main"/>
          <a:ln xmlns:a="http://schemas.openxmlformats.org/drawingml/2006/main" w="9525">
            <a:solidFill>
              <a:srgbClr val="CFC5B7"/>
            </a:solidFill>
            <a:prstDash val="solid"/>
          </a:ln>
        </p:spPr>
      </p:sp>
      <p:sp>
        <p:nvSpPr>
          <p:cNvPr id="4" name="Corrections heading">
            <a:extLst xmlns:a="http://schemas.openxmlformats.org/drawingml/2006/main">
              <a:ext uri="{FF2B5EF4-FFF2-40B4-BE49-F238E27FC236}">
                <a16:creationId xmlns:a16="http://schemas.microsoft.com/office/drawing/2014/main" id="{BE9563C8-14B4-41B9-8C8C-560CE8771931}"/>
              </a:ext>
            </a:extLst>
          </p:cNvPr>
          <p:cNvSpPr>
            <a:spLocks xmlns:a="http://schemas.openxmlformats.org/drawingml/2006/main" noGrp="1"/>
          </p:cNvSpPr>
          <p:nvPr/>
        </p:nvSpPr>
        <p:spPr>
          <a:xfrm xmlns:a="http://schemas.openxmlformats.org/drawingml/2006/main">
            <a:off x="12334875" y="188595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292B2D"/>
                </a:solidFill>
                <a:latin typeface="Helvetica Neue"/>
                <a:ea typeface="Helvetica Neue"/>
                <a:cs typeface="Helvetica Neue"/>
              </a:defRPr>
            </a:pPr>
            <a:r>
              <a:rPr sz="1875" b="1">
                <a:solidFill>
                  <a:srgbClr val="292B2D"/>
                </a:solidFill>
                <a:latin typeface="Helvetica Neue"/>
                <a:ea typeface="Helvetica Neue"/>
                <a:cs typeface="Helvetica Neue"/>
              </a:rPr>
              <a:t>Your corrections</a:t>
            </a:r>
          </a:p>
        </p:txBody>
      </p:sp>
      <p:sp>
        <p:nvSpPr>
          <p:cNvPr id="5" name="Correction line 0">
            <a:extLst xmlns:a="http://schemas.openxmlformats.org/drawingml/2006/main">
              <a:ext uri="{FF2B5EF4-FFF2-40B4-BE49-F238E27FC236}">
                <a16:creationId xmlns:a16="http://schemas.microsoft.com/office/drawing/2014/main" id="{C802B0EB-4E88-45EE-9E69-240C24B56334}"/>
              </a:ext>
            </a:extLst>
          </p:cNvPr>
          <p:cNvSpPr>
            <a:spLocks xmlns:a="http://schemas.openxmlformats.org/drawingml/2006/main" noGrp="1"/>
          </p:cNvSpPr>
          <p:nvPr/>
        </p:nvSpPr>
        <p:spPr>
          <a:xfrm xmlns:a="http://schemas.openxmlformats.org/drawingml/2006/main" flipH="0" flipV="0">
            <a:off x="12334875" y="24955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6" name="Correction line 1">
            <a:extLst xmlns:a="http://schemas.openxmlformats.org/drawingml/2006/main">
              <a:ext uri="{FF2B5EF4-FFF2-40B4-BE49-F238E27FC236}">
                <a16:creationId xmlns:a16="http://schemas.microsoft.com/office/drawing/2014/main" id="{73B273F8-2B14-4E3E-B97A-B0337C247603}"/>
              </a:ext>
            </a:extLst>
          </p:cNvPr>
          <p:cNvSpPr>
            <a:spLocks xmlns:a="http://schemas.openxmlformats.org/drawingml/2006/main" noGrp="1"/>
          </p:cNvSpPr>
          <p:nvPr/>
        </p:nvSpPr>
        <p:spPr>
          <a:xfrm xmlns:a="http://schemas.openxmlformats.org/drawingml/2006/main" flipH="0" flipV="0">
            <a:off x="12334875" y="31813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7" name="Correction line 2">
            <a:extLst xmlns:a="http://schemas.openxmlformats.org/drawingml/2006/main">
              <a:ext uri="{FF2B5EF4-FFF2-40B4-BE49-F238E27FC236}">
                <a16:creationId xmlns:a16="http://schemas.microsoft.com/office/drawing/2014/main" id="{160CAC13-9691-496C-9B55-8164B2E6AF35}"/>
              </a:ext>
            </a:extLst>
          </p:cNvPr>
          <p:cNvSpPr>
            <a:spLocks xmlns:a="http://schemas.openxmlformats.org/drawingml/2006/main" noGrp="1"/>
          </p:cNvSpPr>
          <p:nvPr/>
        </p:nvSpPr>
        <p:spPr>
          <a:xfrm xmlns:a="http://schemas.openxmlformats.org/drawingml/2006/main" flipH="0" flipV="0">
            <a:off x="12334875" y="38671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8" name="Correction line 3">
            <a:extLst xmlns:a="http://schemas.openxmlformats.org/drawingml/2006/main">
              <a:ext uri="{FF2B5EF4-FFF2-40B4-BE49-F238E27FC236}">
                <a16:creationId xmlns:a16="http://schemas.microsoft.com/office/drawing/2014/main" id="{75C16962-9E04-4BB8-BC46-56A2DC3EC9D1}"/>
              </a:ext>
            </a:extLst>
          </p:cNvPr>
          <p:cNvSpPr>
            <a:spLocks xmlns:a="http://schemas.openxmlformats.org/drawingml/2006/main" noGrp="1"/>
          </p:cNvSpPr>
          <p:nvPr/>
        </p:nvSpPr>
        <p:spPr>
          <a:xfrm xmlns:a="http://schemas.openxmlformats.org/drawingml/2006/main" flipH="0" flipV="0">
            <a:off x="12334875" y="45529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9" name="Correction line 4">
            <a:extLst xmlns:a="http://schemas.openxmlformats.org/drawingml/2006/main">
              <a:ext uri="{FF2B5EF4-FFF2-40B4-BE49-F238E27FC236}">
                <a16:creationId xmlns:a16="http://schemas.microsoft.com/office/drawing/2014/main" id="{FD105BC4-279F-4F33-868C-95E3E143D86C}"/>
              </a:ext>
            </a:extLst>
          </p:cNvPr>
          <p:cNvSpPr>
            <a:spLocks xmlns:a="http://schemas.openxmlformats.org/drawingml/2006/main" noGrp="1"/>
          </p:cNvSpPr>
          <p:nvPr/>
        </p:nvSpPr>
        <p:spPr>
          <a:xfrm xmlns:a="http://schemas.openxmlformats.org/drawingml/2006/main" flipH="0" flipV="0">
            <a:off x="12334875" y="52387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10" name="Correction line 5">
            <a:extLst xmlns:a="http://schemas.openxmlformats.org/drawingml/2006/main">
              <a:ext uri="{FF2B5EF4-FFF2-40B4-BE49-F238E27FC236}">
                <a16:creationId xmlns:a16="http://schemas.microsoft.com/office/drawing/2014/main" id="{A8DC90FB-7C47-4D68-B223-74E5C039711D}"/>
              </a:ext>
            </a:extLst>
          </p:cNvPr>
          <p:cNvSpPr>
            <a:spLocks xmlns:a="http://schemas.openxmlformats.org/drawingml/2006/main" noGrp="1"/>
          </p:cNvSpPr>
          <p:nvPr/>
        </p:nvSpPr>
        <p:spPr>
          <a:xfrm xmlns:a="http://schemas.openxmlformats.org/drawingml/2006/main" flipH="0" flipV="0">
            <a:off x="12334875" y="59245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11" name="Footer">
            <a:extLst xmlns:a="http://schemas.openxmlformats.org/drawingml/2006/main">
              <a:ext uri="{FF2B5EF4-FFF2-40B4-BE49-F238E27FC236}">
                <a16:creationId xmlns:a16="http://schemas.microsoft.com/office/drawing/2014/main" id="{FDBF2047-D812-4909-8468-06D9DC4D44D5}"/>
              </a:ext>
            </a:extLst>
          </p:cNvPr>
          <p:cNvSpPr>
            <a:spLocks xmlns:a="http://schemas.openxmlformats.org/drawingml/2006/main" noGrp="1"/>
          </p:cNvSpPr>
          <p:nvPr/>
        </p:nvSpPr>
        <p:spPr>
          <a:xfrm xmlns:a="http://schemas.openxmlformats.org/drawingml/2006/main">
            <a:off x="628650" y="8048625"/>
            <a:ext cx="1381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635B52"/>
                </a:solidFill>
                <a:latin typeface="Helvetica Neue"/>
                <a:ea typeface="Helvetica Neue"/>
                <a:cs typeface="Helvetica Neue"/>
              </a:defRPr>
            </a:pPr>
            <a:r>
              <a:rPr sz="1500" b="0">
                <a:solidFill>
                  <a:srgbClr val="635B52"/>
                </a:solidFill>
                <a:latin typeface="Helvetica Neue"/>
                <a:ea typeface="Helvetica Neue"/>
                <a:cs typeface="Helvetica Neue"/>
              </a:rPr>
              <a:t>Editable schematic. Cabinet sizes provisional. Confirmed ceiling: 10 ft.</a:t>
            </a:r>
          </a:p>
        </p:txBody>
      </p:sp>
      <p:sp>
        <p:nvSpPr>
          <p:cNvPr id="12" name="Ceiling datum">
            <a:extLst xmlns:a="http://schemas.openxmlformats.org/drawingml/2006/main">
              <a:ext uri="{FF2B5EF4-FFF2-40B4-BE49-F238E27FC236}">
                <a16:creationId xmlns:a16="http://schemas.microsoft.com/office/drawing/2014/main" id="{356F92CB-8FA1-4400-8F81-F5FA6832EBEB}"/>
              </a:ext>
            </a:extLst>
          </p:cNvPr>
          <p:cNvSpPr>
            <a:spLocks xmlns:a="http://schemas.openxmlformats.org/drawingml/2006/main" noGrp="1"/>
          </p:cNvSpPr>
          <p:nvPr/>
        </p:nvSpPr>
        <p:spPr>
          <a:xfrm xmlns:a="http://schemas.openxmlformats.org/drawingml/2006/main" flipH="0" flipV="0">
            <a:off x="666750" y="1714500"/>
            <a:ext cx="10858500" cy="0"/>
          </a:xfrm>
          <a:prstGeom xmlns:a="http://schemas.openxmlformats.org/drawingml/2006/main" prst="line">
            <a:avLst/>
          </a:prstGeom>
          <a:noFill xmlns:a="http://schemas.openxmlformats.org/drawingml/2006/main"/>
          <a:ln xmlns:a="http://schemas.openxmlformats.org/drawingml/2006/main" w="19050">
            <a:solidFill>
              <a:srgbClr val="68635C"/>
            </a:solidFill>
            <a:prstDash val="solid"/>
          </a:ln>
        </p:spPr>
      </p:sp>
      <p:sp>
        <p:nvSpPr>
          <p:cNvPr id="13" name="Floor datum">
            <a:extLst xmlns:a="http://schemas.openxmlformats.org/drawingml/2006/main">
              <a:ext uri="{FF2B5EF4-FFF2-40B4-BE49-F238E27FC236}">
                <a16:creationId xmlns:a16="http://schemas.microsoft.com/office/drawing/2014/main" id="{EBF46D35-C3CA-44FC-9F41-518AD784CC22}"/>
              </a:ext>
            </a:extLst>
          </p:cNvPr>
          <p:cNvSpPr>
            <a:spLocks xmlns:a="http://schemas.openxmlformats.org/drawingml/2006/main" noGrp="1"/>
          </p:cNvSpPr>
          <p:nvPr/>
        </p:nvSpPr>
        <p:spPr>
          <a:xfrm xmlns:a="http://schemas.openxmlformats.org/drawingml/2006/main" flipH="0" flipV="0">
            <a:off x="666750" y="7600950"/>
            <a:ext cx="10858500" cy="0"/>
          </a:xfrm>
          <a:prstGeom xmlns:a="http://schemas.openxmlformats.org/drawingml/2006/main" prst="line">
            <a:avLst/>
          </a:prstGeom>
          <a:noFill xmlns:a="http://schemas.openxmlformats.org/drawingml/2006/main"/>
          <a:ln xmlns:a="http://schemas.openxmlformats.org/drawingml/2006/main" w="19050">
            <a:solidFill>
              <a:srgbClr val="68635C"/>
            </a:solidFill>
            <a:prstDash val="solid"/>
          </a:ln>
        </p:spPr>
      </p:sp>
      <p:sp>
        <p:nvSpPr>
          <p:cNvPr id="14" name="Ceiling label">
            <a:extLst xmlns:a="http://schemas.openxmlformats.org/drawingml/2006/main">
              <a:ext uri="{FF2B5EF4-FFF2-40B4-BE49-F238E27FC236}">
                <a16:creationId xmlns:a16="http://schemas.microsoft.com/office/drawing/2014/main" id="{84F4197D-5BAE-4C29-A668-3E21FF50BE94}"/>
              </a:ext>
            </a:extLst>
          </p:cNvPr>
          <p:cNvSpPr>
            <a:spLocks xmlns:a="http://schemas.openxmlformats.org/drawingml/2006/main" noGrp="1"/>
          </p:cNvSpPr>
          <p:nvPr/>
        </p:nvSpPr>
        <p:spPr>
          <a:xfrm xmlns:a="http://schemas.openxmlformats.org/drawingml/2006/main">
            <a:off x="666750" y="14382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92B2D"/>
                </a:solidFill>
                <a:latin typeface="Helvetica Neue"/>
                <a:ea typeface="Helvetica Neue"/>
                <a:cs typeface="Helvetica Neue"/>
              </a:defRPr>
            </a:pPr>
            <a:r>
              <a:rPr sz="1500" b="0">
                <a:solidFill>
                  <a:srgbClr val="292B2D"/>
                </a:solidFill>
                <a:latin typeface="Helvetica Neue"/>
                <a:ea typeface="Helvetica Neue"/>
                <a:cs typeface="Helvetica Neue"/>
              </a:rPr>
              <a:t>Ceiling</a:t>
            </a:r>
          </a:p>
        </p:txBody>
      </p:sp>
      <p:sp>
        <p:nvSpPr>
          <p:cNvPr id="15" name="R1 corner loft shutter">
            <a:extLst xmlns:a="http://schemas.openxmlformats.org/drawingml/2006/main">
              <a:ext uri="{FF2B5EF4-FFF2-40B4-BE49-F238E27FC236}">
                <a16:creationId xmlns:a16="http://schemas.microsoft.com/office/drawing/2014/main" id="{4FEC37F6-8DBD-477C-9467-2A0477A33F8D}"/>
              </a:ext>
            </a:extLst>
          </p:cNvPr>
          <p:cNvSpPr>
            <a:spLocks xmlns:a="http://schemas.openxmlformats.org/drawingml/2006/main" noGrp="1"/>
          </p:cNvSpPr>
          <p:nvPr/>
        </p:nvSpPr>
        <p:spPr>
          <a:xfrm xmlns:a="http://schemas.openxmlformats.org/drawingml/2006/main">
            <a:off x="666750" y="1714500"/>
            <a:ext cx="2762250" cy="1190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16" name="R1 corner loft handle">
            <a:extLst xmlns:a="http://schemas.openxmlformats.org/drawingml/2006/main">
              <a:ext uri="{FF2B5EF4-FFF2-40B4-BE49-F238E27FC236}">
                <a16:creationId xmlns:a16="http://schemas.microsoft.com/office/drawing/2014/main" id="{26CA3F0E-9A08-4AD7-BEAF-5B6E5D18DD62}"/>
              </a:ext>
            </a:extLst>
          </p:cNvPr>
          <p:cNvSpPr>
            <a:spLocks xmlns:a="http://schemas.openxmlformats.org/drawingml/2006/main" noGrp="1"/>
          </p:cNvSpPr>
          <p:nvPr/>
        </p:nvSpPr>
        <p:spPr>
          <a:xfrm xmlns:a="http://schemas.openxmlformats.org/drawingml/2006/main">
            <a:off x="1847850" y="2695575"/>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17" name="R1 corner lower shutter">
            <a:extLst xmlns:a="http://schemas.openxmlformats.org/drawingml/2006/main">
              <a:ext uri="{FF2B5EF4-FFF2-40B4-BE49-F238E27FC236}">
                <a16:creationId xmlns:a16="http://schemas.microsoft.com/office/drawing/2014/main" id="{202C526F-11C2-490D-B774-27561345BDD0}"/>
              </a:ext>
            </a:extLst>
          </p:cNvPr>
          <p:cNvSpPr>
            <a:spLocks xmlns:a="http://schemas.openxmlformats.org/drawingml/2006/main" noGrp="1"/>
          </p:cNvSpPr>
          <p:nvPr/>
        </p:nvSpPr>
        <p:spPr>
          <a:xfrm xmlns:a="http://schemas.openxmlformats.org/drawingml/2006/main">
            <a:off x="666750" y="2905125"/>
            <a:ext cx="2762250" cy="1571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18" name="R1 corner lower handle">
            <a:extLst xmlns:a="http://schemas.openxmlformats.org/drawingml/2006/main">
              <a:ext uri="{FF2B5EF4-FFF2-40B4-BE49-F238E27FC236}">
                <a16:creationId xmlns:a16="http://schemas.microsoft.com/office/drawing/2014/main" id="{1D4CFDF0-27B4-47D0-B719-D329713DC972}"/>
              </a:ext>
            </a:extLst>
          </p:cNvPr>
          <p:cNvSpPr>
            <a:spLocks xmlns:a="http://schemas.openxmlformats.org/drawingml/2006/main" noGrp="1"/>
          </p:cNvSpPr>
          <p:nvPr/>
        </p:nvSpPr>
        <p:spPr>
          <a:xfrm xmlns:a="http://schemas.openxmlformats.org/drawingml/2006/main">
            <a:off x="1847850" y="42672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19" name="R2 sink loft L shutter">
            <a:extLst xmlns:a="http://schemas.openxmlformats.org/drawingml/2006/main">
              <a:ext uri="{FF2B5EF4-FFF2-40B4-BE49-F238E27FC236}">
                <a16:creationId xmlns:a16="http://schemas.microsoft.com/office/drawing/2014/main" id="{A7E3E168-B966-49BC-B541-E69BF97D4642}"/>
              </a:ext>
            </a:extLst>
          </p:cNvPr>
          <p:cNvSpPr>
            <a:spLocks xmlns:a="http://schemas.openxmlformats.org/drawingml/2006/main" noGrp="1"/>
          </p:cNvSpPr>
          <p:nvPr/>
        </p:nvSpPr>
        <p:spPr>
          <a:xfrm xmlns:a="http://schemas.openxmlformats.org/drawingml/2006/main">
            <a:off x="3429000" y="1714500"/>
            <a:ext cx="1952625" cy="1190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20" name="R2 sink loft L handle">
            <a:extLst xmlns:a="http://schemas.openxmlformats.org/drawingml/2006/main">
              <a:ext uri="{FF2B5EF4-FFF2-40B4-BE49-F238E27FC236}">
                <a16:creationId xmlns:a16="http://schemas.microsoft.com/office/drawing/2014/main" id="{2B8D1147-5907-48BC-9499-855704C815AA}"/>
              </a:ext>
            </a:extLst>
          </p:cNvPr>
          <p:cNvSpPr>
            <a:spLocks xmlns:a="http://schemas.openxmlformats.org/drawingml/2006/main" noGrp="1"/>
          </p:cNvSpPr>
          <p:nvPr/>
        </p:nvSpPr>
        <p:spPr>
          <a:xfrm xmlns:a="http://schemas.openxmlformats.org/drawingml/2006/main">
            <a:off x="4205288" y="2695575"/>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21" name="R2 sink loft R shutter">
            <a:extLst xmlns:a="http://schemas.openxmlformats.org/drawingml/2006/main">
              <a:ext uri="{FF2B5EF4-FFF2-40B4-BE49-F238E27FC236}">
                <a16:creationId xmlns:a16="http://schemas.microsoft.com/office/drawing/2014/main" id="{CD5FDF6E-2F05-4987-B4E9-8F2F54BB9716}"/>
              </a:ext>
            </a:extLst>
          </p:cNvPr>
          <p:cNvSpPr>
            <a:spLocks xmlns:a="http://schemas.openxmlformats.org/drawingml/2006/main" noGrp="1"/>
          </p:cNvSpPr>
          <p:nvPr/>
        </p:nvSpPr>
        <p:spPr>
          <a:xfrm xmlns:a="http://schemas.openxmlformats.org/drawingml/2006/main">
            <a:off x="5381625" y="1714500"/>
            <a:ext cx="1952625" cy="1190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22" name="R2 sink loft R handle">
            <a:extLst xmlns:a="http://schemas.openxmlformats.org/drawingml/2006/main">
              <a:ext uri="{FF2B5EF4-FFF2-40B4-BE49-F238E27FC236}">
                <a16:creationId xmlns:a16="http://schemas.microsoft.com/office/drawing/2014/main" id="{136D73B5-781E-4F7C-970D-8E2433F6E324}"/>
              </a:ext>
            </a:extLst>
          </p:cNvPr>
          <p:cNvSpPr>
            <a:spLocks xmlns:a="http://schemas.openxmlformats.org/drawingml/2006/main" noGrp="1"/>
          </p:cNvSpPr>
          <p:nvPr/>
        </p:nvSpPr>
        <p:spPr>
          <a:xfrm xmlns:a="http://schemas.openxmlformats.org/drawingml/2006/main">
            <a:off x="6157913" y="2695575"/>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23" name="R2 drying rack carcass">
            <a:extLst xmlns:a="http://schemas.openxmlformats.org/drawingml/2006/main">
              <a:ext uri="{FF2B5EF4-FFF2-40B4-BE49-F238E27FC236}">
                <a16:creationId xmlns:a16="http://schemas.microsoft.com/office/drawing/2014/main" id="{A14029C0-A00C-4440-B16B-4E9DBDE272E2}"/>
              </a:ext>
            </a:extLst>
          </p:cNvPr>
          <p:cNvSpPr>
            <a:spLocks xmlns:a="http://schemas.openxmlformats.org/drawingml/2006/main" noGrp="1"/>
          </p:cNvSpPr>
          <p:nvPr/>
        </p:nvSpPr>
        <p:spPr>
          <a:xfrm xmlns:a="http://schemas.openxmlformats.org/drawingml/2006/main">
            <a:off x="3429000" y="2905125"/>
            <a:ext cx="3905250" cy="1571625"/>
          </a:xfrm>
          <a:prstGeom xmlns:a="http://schemas.openxmlformats.org/drawingml/2006/main" prst="rect">
            <a:avLst/>
          </a:prstGeom>
          <a:solidFill xmlns:a="http://schemas.openxmlformats.org/drawingml/2006/main">
            <a:srgbClr val="E7D7C2"/>
          </a:solidFill>
          <a:ln xmlns:a="http://schemas.openxmlformats.org/drawingml/2006/main" w="14288">
            <a:solidFill>
              <a:srgbClr val="6B5543"/>
            </a:solidFill>
            <a:prstDash val="solid"/>
          </a:ln>
        </p:spPr>
      </p:sp>
      <p:sp>
        <p:nvSpPr>
          <p:cNvPr id="24" name="R2 drying rack lift shutter">
            <a:extLst xmlns:a="http://schemas.openxmlformats.org/drawingml/2006/main">
              <a:ext uri="{FF2B5EF4-FFF2-40B4-BE49-F238E27FC236}">
                <a16:creationId xmlns:a16="http://schemas.microsoft.com/office/drawing/2014/main" id="{09A79F2C-DC71-4058-8567-C114C6937ECD}"/>
              </a:ext>
            </a:extLst>
          </p:cNvPr>
          <p:cNvSpPr>
            <a:spLocks xmlns:a="http://schemas.openxmlformats.org/drawingml/2006/main" noGrp="1"/>
          </p:cNvSpPr>
          <p:nvPr/>
        </p:nvSpPr>
        <p:spPr>
          <a:xfrm xmlns:a="http://schemas.openxmlformats.org/drawingml/2006/main">
            <a:off x="3381375" y="2600325"/>
            <a:ext cx="4000500" cy="266700"/>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25" name="R2 drying rack lift handle">
            <a:extLst xmlns:a="http://schemas.openxmlformats.org/drawingml/2006/main">
              <a:ext uri="{FF2B5EF4-FFF2-40B4-BE49-F238E27FC236}">
                <a16:creationId xmlns:a16="http://schemas.microsoft.com/office/drawing/2014/main" id="{705595A7-0A43-4701-B7DC-EB03CDCF5CDB}"/>
              </a:ext>
            </a:extLst>
          </p:cNvPr>
          <p:cNvSpPr>
            <a:spLocks xmlns:a="http://schemas.openxmlformats.org/drawingml/2006/main" noGrp="1"/>
          </p:cNvSpPr>
          <p:nvPr/>
        </p:nvSpPr>
        <p:spPr>
          <a:xfrm xmlns:a="http://schemas.openxmlformats.org/drawingml/2006/main">
            <a:off x="5181600" y="2733675"/>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26" name="R2 drying rack stay L">
            <a:extLst xmlns:a="http://schemas.openxmlformats.org/drawingml/2006/main">
              <a:ext uri="{FF2B5EF4-FFF2-40B4-BE49-F238E27FC236}">
                <a16:creationId xmlns:a16="http://schemas.microsoft.com/office/drawing/2014/main" id="{10741183-4B59-461C-906E-2C8A17D745D6}"/>
              </a:ext>
            </a:extLst>
          </p:cNvPr>
          <p:cNvSpPr>
            <a:spLocks xmlns:a="http://schemas.openxmlformats.org/drawingml/2006/main" noGrp="1"/>
          </p:cNvSpPr>
          <p:nvPr/>
        </p:nvSpPr>
        <p:spPr>
          <a:xfrm xmlns:a="http://schemas.openxmlformats.org/drawingml/2006/main" flipH="0" flipV="0">
            <a:off x="3571875" y="2838450"/>
            <a:ext cx="95250" cy="333375"/>
          </a:xfrm>
          <a:prstGeom xmlns:a="http://schemas.openxmlformats.org/drawingml/2006/main" prst="line">
            <a:avLst/>
          </a:prstGeom>
          <a:noFill xmlns:a="http://schemas.openxmlformats.org/drawingml/2006/main"/>
          <a:ln xmlns:a="http://schemas.openxmlformats.org/drawingml/2006/main" w="28575">
            <a:solidFill>
              <a:srgbClr val="292B2D"/>
            </a:solidFill>
            <a:prstDash val="solid"/>
          </a:ln>
        </p:spPr>
      </p:sp>
      <p:sp>
        <p:nvSpPr>
          <p:cNvPr id="27" name="R2 drying rack stay R">
            <a:extLst xmlns:a="http://schemas.openxmlformats.org/drawingml/2006/main">
              <a:ext uri="{FF2B5EF4-FFF2-40B4-BE49-F238E27FC236}">
                <a16:creationId xmlns:a16="http://schemas.microsoft.com/office/drawing/2014/main" id="{D12326A4-B60D-436E-A2E7-FA713E011CB9}"/>
              </a:ext>
            </a:extLst>
          </p:cNvPr>
          <p:cNvSpPr>
            <a:spLocks xmlns:a="http://schemas.openxmlformats.org/drawingml/2006/main" noGrp="1"/>
          </p:cNvSpPr>
          <p:nvPr/>
        </p:nvSpPr>
        <p:spPr>
          <a:xfrm xmlns:a="http://schemas.openxmlformats.org/drawingml/2006/main" flipH="1" flipV="0">
            <a:off x="7096125" y="2838450"/>
            <a:ext cx="95250" cy="333375"/>
          </a:xfrm>
          <a:prstGeom xmlns:a="http://schemas.openxmlformats.org/drawingml/2006/main" prst="line">
            <a:avLst/>
          </a:prstGeom>
          <a:noFill xmlns:a="http://schemas.openxmlformats.org/drawingml/2006/main"/>
          <a:ln xmlns:a="http://schemas.openxmlformats.org/drawingml/2006/main" w="28575">
            <a:solidFill>
              <a:srgbClr val="292B2D"/>
            </a:solidFill>
            <a:prstDash val="solid"/>
          </a:ln>
        </p:spPr>
      </p:sp>
      <p:sp>
        <p:nvSpPr>
          <p:cNvPr id="28" name="R2 drying rack plate 0">
            <a:extLst xmlns:a="http://schemas.openxmlformats.org/drawingml/2006/main">
              <a:ext uri="{FF2B5EF4-FFF2-40B4-BE49-F238E27FC236}">
                <a16:creationId xmlns:a16="http://schemas.microsoft.com/office/drawing/2014/main" id="{BAC2B5BF-0B86-4B59-BB01-A4CC3743B078}"/>
              </a:ext>
            </a:extLst>
          </p:cNvPr>
          <p:cNvSpPr>
            <a:spLocks xmlns:a="http://schemas.openxmlformats.org/drawingml/2006/main" noGrp="1"/>
          </p:cNvSpPr>
          <p:nvPr/>
        </p:nvSpPr>
        <p:spPr>
          <a:xfrm xmlns:a="http://schemas.openxmlformats.org/drawingml/2006/main">
            <a:off x="3695700" y="3152775"/>
            <a:ext cx="171450" cy="533400"/>
          </a:xfrm>
          <a:prstGeom xmlns:a="http://schemas.openxmlformats.org/drawingml/2006/main" prst="ellipse">
            <a:avLst/>
          </a:prstGeom>
          <a:solidFill xmlns:a="http://schemas.openxmlformats.org/drawingml/2006/main">
            <a:srgbClr val="70858B"/>
          </a:solidFill>
          <a:ln xmlns:a="http://schemas.openxmlformats.org/drawingml/2006/main" w="9525">
            <a:solidFill>
              <a:srgbClr val="A8ADB0"/>
            </a:solidFill>
            <a:prstDash val="solid"/>
          </a:ln>
        </p:spPr>
      </p:sp>
      <p:sp>
        <p:nvSpPr>
          <p:cNvPr id="29" name="R2 drying rack plate 1">
            <a:extLst xmlns:a="http://schemas.openxmlformats.org/drawingml/2006/main">
              <a:ext uri="{FF2B5EF4-FFF2-40B4-BE49-F238E27FC236}">
                <a16:creationId xmlns:a16="http://schemas.microsoft.com/office/drawing/2014/main" id="{7F1CDA34-D7FE-4938-85AE-740EFECD8058}"/>
              </a:ext>
            </a:extLst>
          </p:cNvPr>
          <p:cNvSpPr>
            <a:spLocks xmlns:a="http://schemas.openxmlformats.org/drawingml/2006/main" noGrp="1"/>
          </p:cNvSpPr>
          <p:nvPr/>
        </p:nvSpPr>
        <p:spPr>
          <a:xfrm xmlns:a="http://schemas.openxmlformats.org/drawingml/2006/main">
            <a:off x="4060825" y="3152775"/>
            <a:ext cx="171450" cy="533400"/>
          </a:xfrm>
          <a:prstGeom xmlns:a="http://schemas.openxmlformats.org/drawingml/2006/main" prst="ellipse">
            <a:avLst/>
          </a:prstGeom>
          <a:solidFill xmlns:a="http://schemas.openxmlformats.org/drawingml/2006/main">
            <a:srgbClr val="F8F7F2"/>
          </a:solidFill>
          <a:ln xmlns:a="http://schemas.openxmlformats.org/drawingml/2006/main" w="9525">
            <a:solidFill>
              <a:srgbClr val="A8ADB0"/>
            </a:solidFill>
            <a:prstDash val="solid"/>
          </a:ln>
        </p:spPr>
      </p:sp>
      <p:sp>
        <p:nvSpPr>
          <p:cNvPr id="30" name="R2 drying rack plate 2">
            <a:extLst xmlns:a="http://schemas.openxmlformats.org/drawingml/2006/main">
              <a:ext uri="{FF2B5EF4-FFF2-40B4-BE49-F238E27FC236}">
                <a16:creationId xmlns:a16="http://schemas.microsoft.com/office/drawing/2014/main" id="{27F5A512-37DA-4C7A-8128-F0E01DB6C648}"/>
              </a:ext>
            </a:extLst>
          </p:cNvPr>
          <p:cNvSpPr>
            <a:spLocks xmlns:a="http://schemas.openxmlformats.org/drawingml/2006/main" noGrp="1"/>
          </p:cNvSpPr>
          <p:nvPr/>
        </p:nvSpPr>
        <p:spPr>
          <a:xfrm xmlns:a="http://schemas.openxmlformats.org/drawingml/2006/main">
            <a:off x="4425950" y="3152775"/>
            <a:ext cx="171450" cy="533400"/>
          </a:xfrm>
          <a:prstGeom xmlns:a="http://schemas.openxmlformats.org/drawingml/2006/main" prst="ellipse">
            <a:avLst/>
          </a:prstGeom>
          <a:solidFill xmlns:a="http://schemas.openxmlformats.org/drawingml/2006/main">
            <a:srgbClr val="F8F7F2"/>
          </a:solidFill>
          <a:ln xmlns:a="http://schemas.openxmlformats.org/drawingml/2006/main" w="9525">
            <a:solidFill>
              <a:srgbClr val="A8ADB0"/>
            </a:solidFill>
            <a:prstDash val="solid"/>
          </a:ln>
        </p:spPr>
      </p:sp>
      <p:sp>
        <p:nvSpPr>
          <p:cNvPr id="31" name="R2 drying rack plate 3">
            <a:extLst xmlns:a="http://schemas.openxmlformats.org/drawingml/2006/main">
              <a:ext uri="{FF2B5EF4-FFF2-40B4-BE49-F238E27FC236}">
                <a16:creationId xmlns:a16="http://schemas.microsoft.com/office/drawing/2014/main" id="{57E6DBF0-FA5B-4EC6-B082-70CF30FB54E7}"/>
              </a:ext>
            </a:extLst>
          </p:cNvPr>
          <p:cNvSpPr>
            <a:spLocks xmlns:a="http://schemas.openxmlformats.org/drawingml/2006/main" noGrp="1"/>
          </p:cNvSpPr>
          <p:nvPr/>
        </p:nvSpPr>
        <p:spPr>
          <a:xfrm xmlns:a="http://schemas.openxmlformats.org/drawingml/2006/main">
            <a:off x="4791075" y="3152775"/>
            <a:ext cx="171450" cy="533400"/>
          </a:xfrm>
          <a:prstGeom xmlns:a="http://schemas.openxmlformats.org/drawingml/2006/main" prst="ellipse">
            <a:avLst/>
          </a:prstGeom>
          <a:solidFill xmlns:a="http://schemas.openxmlformats.org/drawingml/2006/main">
            <a:srgbClr val="70858B"/>
          </a:solidFill>
          <a:ln xmlns:a="http://schemas.openxmlformats.org/drawingml/2006/main" w="9525">
            <a:solidFill>
              <a:srgbClr val="A8ADB0"/>
            </a:solidFill>
            <a:prstDash val="solid"/>
          </a:ln>
        </p:spPr>
      </p:sp>
      <p:sp>
        <p:nvSpPr>
          <p:cNvPr id="32" name="R2 drying rack plate 4">
            <a:extLst xmlns:a="http://schemas.openxmlformats.org/drawingml/2006/main">
              <a:ext uri="{FF2B5EF4-FFF2-40B4-BE49-F238E27FC236}">
                <a16:creationId xmlns:a16="http://schemas.microsoft.com/office/drawing/2014/main" id="{E3CC65F8-53A8-4832-BD04-9E037D263814}"/>
              </a:ext>
            </a:extLst>
          </p:cNvPr>
          <p:cNvSpPr>
            <a:spLocks xmlns:a="http://schemas.openxmlformats.org/drawingml/2006/main" noGrp="1"/>
          </p:cNvSpPr>
          <p:nvPr/>
        </p:nvSpPr>
        <p:spPr>
          <a:xfrm xmlns:a="http://schemas.openxmlformats.org/drawingml/2006/main">
            <a:off x="5156200" y="3152775"/>
            <a:ext cx="171450" cy="533400"/>
          </a:xfrm>
          <a:prstGeom xmlns:a="http://schemas.openxmlformats.org/drawingml/2006/main" prst="ellipse">
            <a:avLst/>
          </a:prstGeom>
          <a:solidFill xmlns:a="http://schemas.openxmlformats.org/drawingml/2006/main">
            <a:srgbClr val="F8F7F2"/>
          </a:solidFill>
          <a:ln xmlns:a="http://schemas.openxmlformats.org/drawingml/2006/main" w="9525">
            <a:solidFill>
              <a:srgbClr val="A8ADB0"/>
            </a:solidFill>
            <a:prstDash val="solid"/>
          </a:ln>
        </p:spPr>
      </p:sp>
      <p:sp>
        <p:nvSpPr>
          <p:cNvPr id="33" name="R2 drying rack plate 5">
            <a:extLst xmlns:a="http://schemas.openxmlformats.org/drawingml/2006/main">
              <a:ext uri="{FF2B5EF4-FFF2-40B4-BE49-F238E27FC236}">
                <a16:creationId xmlns:a16="http://schemas.microsoft.com/office/drawing/2014/main" id="{1B2880B3-B887-49B8-BD16-D069E186C643}"/>
              </a:ext>
            </a:extLst>
          </p:cNvPr>
          <p:cNvSpPr>
            <a:spLocks xmlns:a="http://schemas.openxmlformats.org/drawingml/2006/main" noGrp="1"/>
          </p:cNvSpPr>
          <p:nvPr/>
        </p:nvSpPr>
        <p:spPr>
          <a:xfrm xmlns:a="http://schemas.openxmlformats.org/drawingml/2006/main">
            <a:off x="5521325" y="3152775"/>
            <a:ext cx="171450" cy="533400"/>
          </a:xfrm>
          <a:prstGeom xmlns:a="http://schemas.openxmlformats.org/drawingml/2006/main" prst="ellipse">
            <a:avLst/>
          </a:prstGeom>
          <a:solidFill xmlns:a="http://schemas.openxmlformats.org/drawingml/2006/main">
            <a:srgbClr val="F8F7F2"/>
          </a:solidFill>
          <a:ln xmlns:a="http://schemas.openxmlformats.org/drawingml/2006/main" w="9525">
            <a:solidFill>
              <a:srgbClr val="A8ADB0"/>
            </a:solidFill>
            <a:prstDash val="solid"/>
          </a:ln>
        </p:spPr>
      </p:sp>
      <p:sp>
        <p:nvSpPr>
          <p:cNvPr id="34" name="R2 drying rack plate 6">
            <a:extLst xmlns:a="http://schemas.openxmlformats.org/drawingml/2006/main">
              <a:ext uri="{FF2B5EF4-FFF2-40B4-BE49-F238E27FC236}">
                <a16:creationId xmlns:a16="http://schemas.microsoft.com/office/drawing/2014/main" id="{262C25B9-00FC-4654-BDB2-5A41CC9F4A4A}"/>
              </a:ext>
            </a:extLst>
          </p:cNvPr>
          <p:cNvSpPr>
            <a:spLocks xmlns:a="http://schemas.openxmlformats.org/drawingml/2006/main" noGrp="1"/>
          </p:cNvSpPr>
          <p:nvPr/>
        </p:nvSpPr>
        <p:spPr>
          <a:xfrm xmlns:a="http://schemas.openxmlformats.org/drawingml/2006/main">
            <a:off x="5886450" y="3152775"/>
            <a:ext cx="171450" cy="533400"/>
          </a:xfrm>
          <a:prstGeom xmlns:a="http://schemas.openxmlformats.org/drawingml/2006/main" prst="ellipse">
            <a:avLst/>
          </a:prstGeom>
          <a:solidFill xmlns:a="http://schemas.openxmlformats.org/drawingml/2006/main">
            <a:srgbClr val="70858B"/>
          </a:solidFill>
          <a:ln xmlns:a="http://schemas.openxmlformats.org/drawingml/2006/main" w="9525">
            <a:solidFill>
              <a:srgbClr val="A8ADB0"/>
            </a:solidFill>
            <a:prstDash val="solid"/>
          </a:ln>
        </p:spPr>
      </p:sp>
      <p:sp>
        <p:nvSpPr>
          <p:cNvPr id="35" name="R2 drying rack plate 7">
            <a:extLst xmlns:a="http://schemas.openxmlformats.org/drawingml/2006/main">
              <a:ext uri="{FF2B5EF4-FFF2-40B4-BE49-F238E27FC236}">
                <a16:creationId xmlns:a16="http://schemas.microsoft.com/office/drawing/2014/main" id="{2E662EFB-5B96-4A3B-A2F4-114237AFAFDD}"/>
              </a:ext>
            </a:extLst>
          </p:cNvPr>
          <p:cNvSpPr>
            <a:spLocks xmlns:a="http://schemas.openxmlformats.org/drawingml/2006/main" noGrp="1"/>
          </p:cNvSpPr>
          <p:nvPr/>
        </p:nvSpPr>
        <p:spPr>
          <a:xfrm xmlns:a="http://schemas.openxmlformats.org/drawingml/2006/main">
            <a:off x="6251575" y="3152775"/>
            <a:ext cx="171450" cy="533400"/>
          </a:xfrm>
          <a:prstGeom xmlns:a="http://schemas.openxmlformats.org/drawingml/2006/main" prst="ellipse">
            <a:avLst/>
          </a:prstGeom>
          <a:solidFill xmlns:a="http://schemas.openxmlformats.org/drawingml/2006/main">
            <a:srgbClr val="F8F7F2"/>
          </a:solidFill>
          <a:ln xmlns:a="http://schemas.openxmlformats.org/drawingml/2006/main" w="9525">
            <a:solidFill>
              <a:srgbClr val="A8ADB0"/>
            </a:solidFill>
            <a:prstDash val="solid"/>
          </a:ln>
        </p:spPr>
      </p:sp>
      <p:sp>
        <p:nvSpPr>
          <p:cNvPr id="36" name="R2 drying rack plate 8">
            <a:extLst xmlns:a="http://schemas.openxmlformats.org/drawingml/2006/main">
              <a:ext uri="{FF2B5EF4-FFF2-40B4-BE49-F238E27FC236}">
                <a16:creationId xmlns:a16="http://schemas.microsoft.com/office/drawing/2014/main" id="{81310DE9-AA02-4C6D-AB68-9B8AC0B4D6C1}"/>
              </a:ext>
            </a:extLst>
          </p:cNvPr>
          <p:cNvSpPr>
            <a:spLocks xmlns:a="http://schemas.openxmlformats.org/drawingml/2006/main" noGrp="1"/>
          </p:cNvSpPr>
          <p:nvPr/>
        </p:nvSpPr>
        <p:spPr>
          <a:xfrm xmlns:a="http://schemas.openxmlformats.org/drawingml/2006/main">
            <a:off x="6616700" y="3152775"/>
            <a:ext cx="171450" cy="533400"/>
          </a:xfrm>
          <a:prstGeom xmlns:a="http://schemas.openxmlformats.org/drawingml/2006/main" prst="ellipse">
            <a:avLst/>
          </a:prstGeom>
          <a:solidFill xmlns:a="http://schemas.openxmlformats.org/drawingml/2006/main">
            <a:srgbClr val="F8F7F2"/>
          </a:solidFill>
          <a:ln xmlns:a="http://schemas.openxmlformats.org/drawingml/2006/main" w="9525">
            <a:solidFill>
              <a:srgbClr val="A8ADB0"/>
            </a:solidFill>
            <a:prstDash val="solid"/>
          </a:ln>
        </p:spPr>
      </p:sp>
      <p:sp>
        <p:nvSpPr>
          <p:cNvPr id="37" name="R2 drying rack cup 0">
            <a:extLst xmlns:a="http://schemas.openxmlformats.org/drawingml/2006/main">
              <a:ext uri="{FF2B5EF4-FFF2-40B4-BE49-F238E27FC236}">
                <a16:creationId xmlns:a16="http://schemas.microsoft.com/office/drawing/2014/main" id="{491FC8A2-5B2C-45A3-BC05-FE8E734C8EAA}"/>
              </a:ext>
            </a:extLst>
          </p:cNvPr>
          <p:cNvSpPr>
            <a:spLocks xmlns:a="http://schemas.openxmlformats.org/drawingml/2006/main" noGrp="1"/>
          </p:cNvSpPr>
          <p:nvPr/>
        </p:nvSpPr>
        <p:spPr>
          <a:xfrm xmlns:a="http://schemas.openxmlformats.org/drawingml/2006/main">
            <a:off x="3714750" y="3895725"/>
            <a:ext cx="23812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A8ADB0"/>
            </a:solidFill>
            <a:prstDash val="solid"/>
          </a:ln>
        </p:spPr>
      </p:sp>
      <p:sp>
        <p:nvSpPr>
          <p:cNvPr id="38" name="R2 drying rack cup handle 0">
            <a:extLst xmlns:a="http://schemas.openxmlformats.org/drawingml/2006/main">
              <a:ext uri="{FF2B5EF4-FFF2-40B4-BE49-F238E27FC236}">
                <a16:creationId xmlns:a16="http://schemas.microsoft.com/office/drawing/2014/main" id="{D8E10233-2619-4CC6-B027-2B1DC8272E51}"/>
              </a:ext>
            </a:extLst>
          </p:cNvPr>
          <p:cNvSpPr>
            <a:spLocks xmlns:a="http://schemas.openxmlformats.org/drawingml/2006/main" noGrp="1"/>
          </p:cNvSpPr>
          <p:nvPr/>
        </p:nvSpPr>
        <p:spPr>
          <a:xfrm xmlns:a="http://schemas.openxmlformats.org/drawingml/2006/main">
            <a:off x="3914775" y="3952875"/>
            <a:ext cx="104775" cy="114300"/>
          </a:xfrm>
          <a:prstGeom xmlns:a="http://schemas.openxmlformats.org/drawingml/2006/main" prst="ellipse">
            <a:avLst/>
          </a:prstGeom>
          <a:noFill xmlns:a="http://schemas.openxmlformats.org/drawingml/2006/main"/>
          <a:ln xmlns:a="http://schemas.openxmlformats.org/drawingml/2006/main" w="9525">
            <a:solidFill>
              <a:srgbClr val="A8ADB0"/>
            </a:solidFill>
            <a:prstDash val="solid"/>
          </a:ln>
        </p:spPr>
      </p:sp>
      <p:sp>
        <p:nvSpPr>
          <p:cNvPr id="39" name="R2 drying rack cup 1">
            <a:extLst xmlns:a="http://schemas.openxmlformats.org/drawingml/2006/main">
              <a:ext uri="{FF2B5EF4-FFF2-40B4-BE49-F238E27FC236}">
                <a16:creationId xmlns:a16="http://schemas.microsoft.com/office/drawing/2014/main" id="{F781254B-5D61-4BCC-9FA4-E3BAC34744FE}"/>
              </a:ext>
            </a:extLst>
          </p:cNvPr>
          <p:cNvSpPr>
            <a:spLocks xmlns:a="http://schemas.openxmlformats.org/drawingml/2006/main" noGrp="1"/>
          </p:cNvSpPr>
          <p:nvPr/>
        </p:nvSpPr>
        <p:spPr>
          <a:xfrm xmlns:a="http://schemas.openxmlformats.org/drawingml/2006/main">
            <a:off x="4377690" y="3895725"/>
            <a:ext cx="23812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A8ADB0"/>
            </a:solidFill>
            <a:prstDash val="solid"/>
          </a:ln>
        </p:spPr>
      </p:sp>
      <p:sp>
        <p:nvSpPr>
          <p:cNvPr id="40" name="R2 drying rack cup handle 1">
            <a:extLst xmlns:a="http://schemas.openxmlformats.org/drawingml/2006/main">
              <a:ext uri="{FF2B5EF4-FFF2-40B4-BE49-F238E27FC236}">
                <a16:creationId xmlns:a16="http://schemas.microsoft.com/office/drawing/2014/main" id="{453ABA84-A45C-4DBB-AC27-DBA6B262C703}"/>
              </a:ext>
            </a:extLst>
          </p:cNvPr>
          <p:cNvSpPr>
            <a:spLocks xmlns:a="http://schemas.openxmlformats.org/drawingml/2006/main" noGrp="1"/>
          </p:cNvSpPr>
          <p:nvPr/>
        </p:nvSpPr>
        <p:spPr>
          <a:xfrm xmlns:a="http://schemas.openxmlformats.org/drawingml/2006/main">
            <a:off x="4577715" y="3952875"/>
            <a:ext cx="104775" cy="114300"/>
          </a:xfrm>
          <a:prstGeom xmlns:a="http://schemas.openxmlformats.org/drawingml/2006/main" prst="ellipse">
            <a:avLst/>
          </a:prstGeom>
          <a:noFill xmlns:a="http://schemas.openxmlformats.org/drawingml/2006/main"/>
          <a:ln xmlns:a="http://schemas.openxmlformats.org/drawingml/2006/main" w="9525">
            <a:solidFill>
              <a:srgbClr val="A8ADB0"/>
            </a:solidFill>
            <a:prstDash val="solid"/>
          </a:ln>
        </p:spPr>
      </p:sp>
      <p:sp>
        <p:nvSpPr>
          <p:cNvPr id="41" name="R2 drying rack cup 2">
            <a:extLst xmlns:a="http://schemas.openxmlformats.org/drawingml/2006/main">
              <a:ext uri="{FF2B5EF4-FFF2-40B4-BE49-F238E27FC236}">
                <a16:creationId xmlns:a16="http://schemas.microsoft.com/office/drawing/2014/main" id="{0C394703-5DFA-4759-AE6C-70C76BA71E0C}"/>
              </a:ext>
            </a:extLst>
          </p:cNvPr>
          <p:cNvSpPr>
            <a:spLocks xmlns:a="http://schemas.openxmlformats.org/drawingml/2006/main" noGrp="1"/>
          </p:cNvSpPr>
          <p:nvPr/>
        </p:nvSpPr>
        <p:spPr>
          <a:xfrm xmlns:a="http://schemas.openxmlformats.org/drawingml/2006/main">
            <a:off x="5040630" y="3895725"/>
            <a:ext cx="23812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A8ADB0"/>
            </a:solidFill>
            <a:prstDash val="solid"/>
          </a:ln>
        </p:spPr>
      </p:sp>
      <p:sp>
        <p:nvSpPr>
          <p:cNvPr id="42" name="R2 drying rack cup handle 2">
            <a:extLst xmlns:a="http://schemas.openxmlformats.org/drawingml/2006/main">
              <a:ext uri="{FF2B5EF4-FFF2-40B4-BE49-F238E27FC236}">
                <a16:creationId xmlns:a16="http://schemas.microsoft.com/office/drawing/2014/main" id="{1AAC9343-6BE4-409C-B067-42BADBC2E9CC}"/>
              </a:ext>
            </a:extLst>
          </p:cNvPr>
          <p:cNvSpPr>
            <a:spLocks xmlns:a="http://schemas.openxmlformats.org/drawingml/2006/main" noGrp="1"/>
          </p:cNvSpPr>
          <p:nvPr/>
        </p:nvSpPr>
        <p:spPr>
          <a:xfrm xmlns:a="http://schemas.openxmlformats.org/drawingml/2006/main">
            <a:off x="5240655" y="3952875"/>
            <a:ext cx="104775" cy="114300"/>
          </a:xfrm>
          <a:prstGeom xmlns:a="http://schemas.openxmlformats.org/drawingml/2006/main" prst="ellipse">
            <a:avLst/>
          </a:prstGeom>
          <a:noFill xmlns:a="http://schemas.openxmlformats.org/drawingml/2006/main"/>
          <a:ln xmlns:a="http://schemas.openxmlformats.org/drawingml/2006/main" w="9525">
            <a:solidFill>
              <a:srgbClr val="A8ADB0"/>
            </a:solidFill>
            <a:prstDash val="solid"/>
          </a:ln>
        </p:spPr>
      </p:sp>
      <p:sp>
        <p:nvSpPr>
          <p:cNvPr id="43" name="R2 drying rack cup 3">
            <a:extLst xmlns:a="http://schemas.openxmlformats.org/drawingml/2006/main">
              <a:ext uri="{FF2B5EF4-FFF2-40B4-BE49-F238E27FC236}">
                <a16:creationId xmlns:a16="http://schemas.microsoft.com/office/drawing/2014/main" id="{C8E9CA7D-28D7-4F08-9453-D42ADD9F1C24}"/>
              </a:ext>
            </a:extLst>
          </p:cNvPr>
          <p:cNvSpPr>
            <a:spLocks xmlns:a="http://schemas.openxmlformats.org/drawingml/2006/main" noGrp="1"/>
          </p:cNvSpPr>
          <p:nvPr/>
        </p:nvSpPr>
        <p:spPr>
          <a:xfrm xmlns:a="http://schemas.openxmlformats.org/drawingml/2006/main">
            <a:off x="5703570" y="3895725"/>
            <a:ext cx="23812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A8ADB0"/>
            </a:solidFill>
            <a:prstDash val="solid"/>
          </a:ln>
        </p:spPr>
      </p:sp>
      <p:sp>
        <p:nvSpPr>
          <p:cNvPr id="44" name="R2 drying rack cup handle 3">
            <a:extLst xmlns:a="http://schemas.openxmlformats.org/drawingml/2006/main">
              <a:ext uri="{FF2B5EF4-FFF2-40B4-BE49-F238E27FC236}">
                <a16:creationId xmlns:a16="http://schemas.microsoft.com/office/drawing/2014/main" id="{E6821C8D-C146-4A32-8A16-2A5971395D68}"/>
              </a:ext>
            </a:extLst>
          </p:cNvPr>
          <p:cNvSpPr>
            <a:spLocks xmlns:a="http://schemas.openxmlformats.org/drawingml/2006/main" noGrp="1"/>
          </p:cNvSpPr>
          <p:nvPr/>
        </p:nvSpPr>
        <p:spPr>
          <a:xfrm xmlns:a="http://schemas.openxmlformats.org/drawingml/2006/main">
            <a:off x="5903595" y="3952875"/>
            <a:ext cx="104775" cy="114300"/>
          </a:xfrm>
          <a:prstGeom xmlns:a="http://schemas.openxmlformats.org/drawingml/2006/main" prst="ellipse">
            <a:avLst/>
          </a:prstGeom>
          <a:noFill xmlns:a="http://schemas.openxmlformats.org/drawingml/2006/main"/>
          <a:ln xmlns:a="http://schemas.openxmlformats.org/drawingml/2006/main" w="9525">
            <a:solidFill>
              <a:srgbClr val="A8ADB0"/>
            </a:solidFill>
            <a:prstDash val="solid"/>
          </a:ln>
        </p:spPr>
      </p:sp>
      <p:sp>
        <p:nvSpPr>
          <p:cNvPr id="45" name="R2 drying rack cup 4">
            <a:extLst xmlns:a="http://schemas.openxmlformats.org/drawingml/2006/main">
              <a:ext uri="{FF2B5EF4-FFF2-40B4-BE49-F238E27FC236}">
                <a16:creationId xmlns:a16="http://schemas.microsoft.com/office/drawing/2014/main" id="{9998E8DB-1D23-4AF8-B387-C947F09FDB29}"/>
              </a:ext>
            </a:extLst>
          </p:cNvPr>
          <p:cNvSpPr>
            <a:spLocks xmlns:a="http://schemas.openxmlformats.org/drawingml/2006/main" noGrp="1"/>
          </p:cNvSpPr>
          <p:nvPr/>
        </p:nvSpPr>
        <p:spPr>
          <a:xfrm xmlns:a="http://schemas.openxmlformats.org/drawingml/2006/main">
            <a:off x="6366510" y="3895725"/>
            <a:ext cx="23812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A8ADB0"/>
            </a:solidFill>
            <a:prstDash val="solid"/>
          </a:ln>
        </p:spPr>
      </p:sp>
      <p:sp>
        <p:nvSpPr>
          <p:cNvPr id="46" name="R2 drying rack cup handle 4">
            <a:extLst xmlns:a="http://schemas.openxmlformats.org/drawingml/2006/main">
              <a:ext uri="{FF2B5EF4-FFF2-40B4-BE49-F238E27FC236}">
                <a16:creationId xmlns:a16="http://schemas.microsoft.com/office/drawing/2014/main" id="{7D178A6E-8969-4EE4-9BCB-211D9F566F2B}"/>
              </a:ext>
            </a:extLst>
          </p:cNvPr>
          <p:cNvSpPr>
            <a:spLocks xmlns:a="http://schemas.openxmlformats.org/drawingml/2006/main" noGrp="1"/>
          </p:cNvSpPr>
          <p:nvPr/>
        </p:nvSpPr>
        <p:spPr>
          <a:xfrm xmlns:a="http://schemas.openxmlformats.org/drawingml/2006/main">
            <a:off x="6566535" y="3952875"/>
            <a:ext cx="104775" cy="114300"/>
          </a:xfrm>
          <a:prstGeom xmlns:a="http://schemas.openxmlformats.org/drawingml/2006/main" prst="ellipse">
            <a:avLst/>
          </a:prstGeom>
          <a:noFill xmlns:a="http://schemas.openxmlformats.org/drawingml/2006/main"/>
          <a:ln xmlns:a="http://schemas.openxmlformats.org/drawingml/2006/main" w="9525">
            <a:solidFill>
              <a:srgbClr val="A8ADB0"/>
            </a:solidFill>
            <a:prstDash val="solid"/>
          </a:ln>
        </p:spPr>
      </p:sp>
      <p:sp>
        <p:nvSpPr>
          <p:cNvPr id="47" name="R2 drying rack rack 0">
            <a:extLst xmlns:a="http://schemas.openxmlformats.org/drawingml/2006/main">
              <a:ext uri="{FF2B5EF4-FFF2-40B4-BE49-F238E27FC236}">
                <a16:creationId xmlns:a16="http://schemas.microsoft.com/office/drawing/2014/main" id="{3250C658-C26D-4C34-BF6C-5C131FBF67FD}"/>
              </a:ext>
            </a:extLst>
          </p:cNvPr>
          <p:cNvSpPr>
            <a:spLocks xmlns:a="http://schemas.openxmlformats.org/drawingml/2006/main" noGrp="1"/>
          </p:cNvSpPr>
          <p:nvPr/>
        </p:nvSpPr>
        <p:spPr>
          <a:xfrm xmlns:a="http://schemas.openxmlformats.org/drawingml/2006/main" flipH="0" flipV="0">
            <a:off x="3562350" y="3724275"/>
            <a:ext cx="3638550" cy="0"/>
          </a:xfrm>
          <a:prstGeom xmlns:a="http://schemas.openxmlformats.org/drawingml/2006/main" prst="line">
            <a:avLst/>
          </a:prstGeom>
          <a:noFill xmlns:a="http://schemas.openxmlformats.org/drawingml/2006/main"/>
          <a:ln xmlns:a="http://schemas.openxmlformats.org/drawingml/2006/main" w="38100">
            <a:solidFill>
              <a:srgbClr val="A8ADB0"/>
            </a:solidFill>
            <a:prstDash val="solid"/>
          </a:ln>
        </p:spPr>
      </p:sp>
      <p:sp>
        <p:nvSpPr>
          <p:cNvPr id="48" name="R2 drying rack wire 0-0">
            <a:extLst xmlns:a="http://schemas.openxmlformats.org/drawingml/2006/main">
              <a:ext uri="{FF2B5EF4-FFF2-40B4-BE49-F238E27FC236}">
                <a16:creationId xmlns:a16="http://schemas.microsoft.com/office/drawing/2014/main" id="{F64A9A38-4736-49F9-9AF9-BB4882C3B224}"/>
              </a:ext>
            </a:extLst>
          </p:cNvPr>
          <p:cNvSpPr>
            <a:spLocks xmlns:a="http://schemas.openxmlformats.org/drawingml/2006/main" noGrp="1"/>
          </p:cNvSpPr>
          <p:nvPr/>
        </p:nvSpPr>
        <p:spPr>
          <a:xfrm xmlns:a="http://schemas.openxmlformats.org/drawingml/2006/main" flipH="0" flipV="0">
            <a:off x="3600450" y="3609975"/>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49" name="R2 drying rack wire 0-1">
            <a:extLst xmlns:a="http://schemas.openxmlformats.org/drawingml/2006/main">
              <a:ext uri="{FF2B5EF4-FFF2-40B4-BE49-F238E27FC236}">
                <a16:creationId xmlns:a16="http://schemas.microsoft.com/office/drawing/2014/main" id="{948E8B6A-2A7D-4427-8D9A-617E4B62DC50}"/>
              </a:ext>
            </a:extLst>
          </p:cNvPr>
          <p:cNvSpPr>
            <a:spLocks xmlns:a="http://schemas.openxmlformats.org/drawingml/2006/main" noGrp="1"/>
          </p:cNvSpPr>
          <p:nvPr/>
        </p:nvSpPr>
        <p:spPr>
          <a:xfrm xmlns:a="http://schemas.openxmlformats.org/drawingml/2006/main" flipH="0" flipV="0">
            <a:off x="3952875" y="3609975"/>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50" name="R2 drying rack wire 0-2">
            <a:extLst xmlns:a="http://schemas.openxmlformats.org/drawingml/2006/main">
              <a:ext uri="{FF2B5EF4-FFF2-40B4-BE49-F238E27FC236}">
                <a16:creationId xmlns:a16="http://schemas.microsoft.com/office/drawing/2014/main" id="{D9BDD326-D895-4919-91DE-ACBB4B30A7F2}"/>
              </a:ext>
            </a:extLst>
          </p:cNvPr>
          <p:cNvSpPr>
            <a:spLocks xmlns:a="http://schemas.openxmlformats.org/drawingml/2006/main" noGrp="1"/>
          </p:cNvSpPr>
          <p:nvPr/>
        </p:nvSpPr>
        <p:spPr>
          <a:xfrm xmlns:a="http://schemas.openxmlformats.org/drawingml/2006/main" flipH="0" flipV="0">
            <a:off x="4305300" y="3609975"/>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51" name="R2 drying rack wire 0-3">
            <a:extLst xmlns:a="http://schemas.openxmlformats.org/drawingml/2006/main">
              <a:ext uri="{FF2B5EF4-FFF2-40B4-BE49-F238E27FC236}">
                <a16:creationId xmlns:a16="http://schemas.microsoft.com/office/drawing/2014/main" id="{C5426AC0-1736-4B27-9F8B-5B95BB7F1027}"/>
              </a:ext>
            </a:extLst>
          </p:cNvPr>
          <p:cNvSpPr>
            <a:spLocks xmlns:a="http://schemas.openxmlformats.org/drawingml/2006/main" noGrp="1"/>
          </p:cNvSpPr>
          <p:nvPr/>
        </p:nvSpPr>
        <p:spPr>
          <a:xfrm xmlns:a="http://schemas.openxmlformats.org/drawingml/2006/main" flipH="0" flipV="0">
            <a:off x="4657725" y="3609975"/>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52" name="R2 drying rack wire 0-4">
            <a:extLst xmlns:a="http://schemas.openxmlformats.org/drawingml/2006/main">
              <a:ext uri="{FF2B5EF4-FFF2-40B4-BE49-F238E27FC236}">
                <a16:creationId xmlns:a16="http://schemas.microsoft.com/office/drawing/2014/main" id="{B266DF05-3584-4E58-AC2A-939B743B6553}"/>
              </a:ext>
            </a:extLst>
          </p:cNvPr>
          <p:cNvSpPr>
            <a:spLocks xmlns:a="http://schemas.openxmlformats.org/drawingml/2006/main" noGrp="1"/>
          </p:cNvSpPr>
          <p:nvPr/>
        </p:nvSpPr>
        <p:spPr>
          <a:xfrm xmlns:a="http://schemas.openxmlformats.org/drawingml/2006/main" flipH="0" flipV="0">
            <a:off x="5010150" y="3609975"/>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53" name="R2 drying rack wire 0-5">
            <a:extLst xmlns:a="http://schemas.openxmlformats.org/drawingml/2006/main">
              <a:ext uri="{FF2B5EF4-FFF2-40B4-BE49-F238E27FC236}">
                <a16:creationId xmlns:a16="http://schemas.microsoft.com/office/drawing/2014/main" id="{C7046009-3999-45FB-A9D1-F20D23C12905}"/>
              </a:ext>
            </a:extLst>
          </p:cNvPr>
          <p:cNvSpPr>
            <a:spLocks xmlns:a="http://schemas.openxmlformats.org/drawingml/2006/main" noGrp="1"/>
          </p:cNvSpPr>
          <p:nvPr/>
        </p:nvSpPr>
        <p:spPr>
          <a:xfrm xmlns:a="http://schemas.openxmlformats.org/drawingml/2006/main" flipH="0" flipV="0">
            <a:off x="5362575" y="3609975"/>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54" name="R2 drying rack wire 0-6">
            <a:extLst xmlns:a="http://schemas.openxmlformats.org/drawingml/2006/main">
              <a:ext uri="{FF2B5EF4-FFF2-40B4-BE49-F238E27FC236}">
                <a16:creationId xmlns:a16="http://schemas.microsoft.com/office/drawing/2014/main" id="{573A8E3B-FA30-4077-AE64-C662B70BD684}"/>
              </a:ext>
            </a:extLst>
          </p:cNvPr>
          <p:cNvSpPr>
            <a:spLocks xmlns:a="http://schemas.openxmlformats.org/drawingml/2006/main" noGrp="1"/>
          </p:cNvSpPr>
          <p:nvPr/>
        </p:nvSpPr>
        <p:spPr>
          <a:xfrm xmlns:a="http://schemas.openxmlformats.org/drawingml/2006/main" flipH="0" flipV="0">
            <a:off x="5715000" y="3609975"/>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55" name="R2 drying rack wire 0-7">
            <a:extLst xmlns:a="http://schemas.openxmlformats.org/drawingml/2006/main">
              <a:ext uri="{FF2B5EF4-FFF2-40B4-BE49-F238E27FC236}">
                <a16:creationId xmlns:a16="http://schemas.microsoft.com/office/drawing/2014/main" id="{3C66BE3C-7ED1-49A9-8E45-35B4DC1F6353}"/>
              </a:ext>
            </a:extLst>
          </p:cNvPr>
          <p:cNvSpPr>
            <a:spLocks xmlns:a="http://schemas.openxmlformats.org/drawingml/2006/main" noGrp="1"/>
          </p:cNvSpPr>
          <p:nvPr/>
        </p:nvSpPr>
        <p:spPr>
          <a:xfrm xmlns:a="http://schemas.openxmlformats.org/drawingml/2006/main" flipH="0" flipV="0">
            <a:off x="6067425" y="3609975"/>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56" name="R2 drying rack wire 0-8">
            <a:extLst xmlns:a="http://schemas.openxmlformats.org/drawingml/2006/main">
              <a:ext uri="{FF2B5EF4-FFF2-40B4-BE49-F238E27FC236}">
                <a16:creationId xmlns:a16="http://schemas.microsoft.com/office/drawing/2014/main" id="{F67B948A-0187-46AE-B542-CF7B14A0C07E}"/>
              </a:ext>
            </a:extLst>
          </p:cNvPr>
          <p:cNvSpPr>
            <a:spLocks xmlns:a="http://schemas.openxmlformats.org/drawingml/2006/main" noGrp="1"/>
          </p:cNvSpPr>
          <p:nvPr/>
        </p:nvSpPr>
        <p:spPr>
          <a:xfrm xmlns:a="http://schemas.openxmlformats.org/drawingml/2006/main" flipH="0" flipV="0">
            <a:off x="6419850" y="3609975"/>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57" name="R2 drying rack wire 0-9">
            <a:extLst xmlns:a="http://schemas.openxmlformats.org/drawingml/2006/main">
              <a:ext uri="{FF2B5EF4-FFF2-40B4-BE49-F238E27FC236}">
                <a16:creationId xmlns:a16="http://schemas.microsoft.com/office/drawing/2014/main" id="{B9F28DD6-2753-4DE5-885E-6981B0DD1107}"/>
              </a:ext>
            </a:extLst>
          </p:cNvPr>
          <p:cNvSpPr>
            <a:spLocks xmlns:a="http://schemas.openxmlformats.org/drawingml/2006/main" noGrp="1"/>
          </p:cNvSpPr>
          <p:nvPr/>
        </p:nvSpPr>
        <p:spPr>
          <a:xfrm xmlns:a="http://schemas.openxmlformats.org/drawingml/2006/main" flipH="0" flipV="0">
            <a:off x="6772275" y="3609975"/>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58" name="R2 drying rack rack 1">
            <a:extLst xmlns:a="http://schemas.openxmlformats.org/drawingml/2006/main">
              <a:ext uri="{FF2B5EF4-FFF2-40B4-BE49-F238E27FC236}">
                <a16:creationId xmlns:a16="http://schemas.microsoft.com/office/drawing/2014/main" id="{75502D01-9B56-4A16-B7E3-E6C8B8486DA3}"/>
              </a:ext>
            </a:extLst>
          </p:cNvPr>
          <p:cNvSpPr>
            <a:spLocks xmlns:a="http://schemas.openxmlformats.org/drawingml/2006/main" noGrp="1"/>
          </p:cNvSpPr>
          <p:nvPr/>
        </p:nvSpPr>
        <p:spPr>
          <a:xfrm xmlns:a="http://schemas.openxmlformats.org/drawingml/2006/main" flipH="0" flipV="0">
            <a:off x="3562350" y="4191000"/>
            <a:ext cx="3638550" cy="0"/>
          </a:xfrm>
          <a:prstGeom xmlns:a="http://schemas.openxmlformats.org/drawingml/2006/main" prst="line">
            <a:avLst/>
          </a:prstGeom>
          <a:noFill xmlns:a="http://schemas.openxmlformats.org/drawingml/2006/main"/>
          <a:ln xmlns:a="http://schemas.openxmlformats.org/drawingml/2006/main" w="38100">
            <a:solidFill>
              <a:srgbClr val="A8ADB0"/>
            </a:solidFill>
            <a:prstDash val="solid"/>
          </a:ln>
        </p:spPr>
      </p:sp>
      <p:sp>
        <p:nvSpPr>
          <p:cNvPr id="59" name="R2 drying rack wire 1-0">
            <a:extLst xmlns:a="http://schemas.openxmlformats.org/drawingml/2006/main">
              <a:ext uri="{FF2B5EF4-FFF2-40B4-BE49-F238E27FC236}">
                <a16:creationId xmlns:a16="http://schemas.microsoft.com/office/drawing/2014/main" id="{C17B6BEC-743A-4903-8A50-6565AB74555F}"/>
              </a:ext>
            </a:extLst>
          </p:cNvPr>
          <p:cNvSpPr>
            <a:spLocks xmlns:a="http://schemas.openxmlformats.org/drawingml/2006/main" noGrp="1"/>
          </p:cNvSpPr>
          <p:nvPr/>
        </p:nvSpPr>
        <p:spPr>
          <a:xfrm xmlns:a="http://schemas.openxmlformats.org/drawingml/2006/main" flipH="0" flipV="0">
            <a:off x="3600450" y="4076700"/>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60" name="R2 drying rack wire 1-1">
            <a:extLst xmlns:a="http://schemas.openxmlformats.org/drawingml/2006/main">
              <a:ext uri="{FF2B5EF4-FFF2-40B4-BE49-F238E27FC236}">
                <a16:creationId xmlns:a16="http://schemas.microsoft.com/office/drawing/2014/main" id="{6B79ADB9-5468-4045-AC0F-5299A9FB02C1}"/>
              </a:ext>
            </a:extLst>
          </p:cNvPr>
          <p:cNvSpPr>
            <a:spLocks xmlns:a="http://schemas.openxmlformats.org/drawingml/2006/main" noGrp="1"/>
          </p:cNvSpPr>
          <p:nvPr/>
        </p:nvSpPr>
        <p:spPr>
          <a:xfrm xmlns:a="http://schemas.openxmlformats.org/drawingml/2006/main" flipH="0" flipV="0">
            <a:off x="3952875" y="4076700"/>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61" name="R2 drying rack wire 1-2">
            <a:extLst xmlns:a="http://schemas.openxmlformats.org/drawingml/2006/main">
              <a:ext uri="{FF2B5EF4-FFF2-40B4-BE49-F238E27FC236}">
                <a16:creationId xmlns:a16="http://schemas.microsoft.com/office/drawing/2014/main" id="{083FC301-C1EA-42A9-9E33-89418CB55245}"/>
              </a:ext>
            </a:extLst>
          </p:cNvPr>
          <p:cNvSpPr>
            <a:spLocks xmlns:a="http://schemas.openxmlformats.org/drawingml/2006/main" noGrp="1"/>
          </p:cNvSpPr>
          <p:nvPr/>
        </p:nvSpPr>
        <p:spPr>
          <a:xfrm xmlns:a="http://schemas.openxmlformats.org/drawingml/2006/main" flipH="0" flipV="0">
            <a:off x="4305300" y="4076700"/>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62" name="R2 drying rack wire 1-3">
            <a:extLst xmlns:a="http://schemas.openxmlformats.org/drawingml/2006/main">
              <a:ext uri="{FF2B5EF4-FFF2-40B4-BE49-F238E27FC236}">
                <a16:creationId xmlns:a16="http://schemas.microsoft.com/office/drawing/2014/main" id="{6E2422FD-E53C-492F-AB95-C533AD7E725C}"/>
              </a:ext>
            </a:extLst>
          </p:cNvPr>
          <p:cNvSpPr>
            <a:spLocks xmlns:a="http://schemas.openxmlformats.org/drawingml/2006/main" noGrp="1"/>
          </p:cNvSpPr>
          <p:nvPr/>
        </p:nvSpPr>
        <p:spPr>
          <a:xfrm xmlns:a="http://schemas.openxmlformats.org/drawingml/2006/main" flipH="0" flipV="0">
            <a:off x="4657725" y="4076700"/>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63" name="R2 drying rack wire 1-4">
            <a:extLst xmlns:a="http://schemas.openxmlformats.org/drawingml/2006/main">
              <a:ext uri="{FF2B5EF4-FFF2-40B4-BE49-F238E27FC236}">
                <a16:creationId xmlns:a16="http://schemas.microsoft.com/office/drawing/2014/main" id="{EED0C329-E41A-4BE9-9657-81A234F7F761}"/>
              </a:ext>
            </a:extLst>
          </p:cNvPr>
          <p:cNvSpPr>
            <a:spLocks xmlns:a="http://schemas.openxmlformats.org/drawingml/2006/main" noGrp="1"/>
          </p:cNvSpPr>
          <p:nvPr/>
        </p:nvSpPr>
        <p:spPr>
          <a:xfrm xmlns:a="http://schemas.openxmlformats.org/drawingml/2006/main" flipH="0" flipV="0">
            <a:off x="5010150" y="4076700"/>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64" name="R2 drying rack wire 1-5">
            <a:extLst xmlns:a="http://schemas.openxmlformats.org/drawingml/2006/main">
              <a:ext uri="{FF2B5EF4-FFF2-40B4-BE49-F238E27FC236}">
                <a16:creationId xmlns:a16="http://schemas.microsoft.com/office/drawing/2014/main" id="{3038F51C-A46D-4925-B39A-0CB7F8AEDA81}"/>
              </a:ext>
            </a:extLst>
          </p:cNvPr>
          <p:cNvSpPr>
            <a:spLocks xmlns:a="http://schemas.openxmlformats.org/drawingml/2006/main" noGrp="1"/>
          </p:cNvSpPr>
          <p:nvPr/>
        </p:nvSpPr>
        <p:spPr>
          <a:xfrm xmlns:a="http://schemas.openxmlformats.org/drawingml/2006/main" flipH="0" flipV="0">
            <a:off x="5362575" y="4076700"/>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65" name="R2 drying rack wire 1-6">
            <a:extLst xmlns:a="http://schemas.openxmlformats.org/drawingml/2006/main">
              <a:ext uri="{FF2B5EF4-FFF2-40B4-BE49-F238E27FC236}">
                <a16:creationId xmlns:a16="http://schemas.microsoft.com/office/drawing/2014/main" id="{A7D98347-175C-45B9-AC0A-C609B55E0E4B}"/>
              </a:ext>
            </a:extLst>
          </p:cNvPr>
          <p:cNvSpPr>
            <a:spLocks xmlns:a="http://schemas.openxmlformats.org/drawingml/2006/main" noGrp="1"/>
          </p:cNvSpPr>
          <p:nvPr/>
        </p:nvSpPr>
        <p:spPr>
          <a:xfrm xmlns:a="http://schemas.openxmlformats.org/drawingml/2006/main" flipH="0" flipV="0">
            <a:off x="5715000" y="4076700"/>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66" name="R2 drying rack wire 1-7">
            <a:extLst xmlns:a="http://schemas.openxmlformats.org/drawingml/2006/main">
              <a:ext uri="{FF2B5EF4-FFF2-40B4-BE49-F238E27FC236}">
                <a16:creationId xmlns:a16="http://schemas.microsoft.com/office/drawing/2014/main" id="{5EF581B1-4E7B-4A04-915F-549CD82C4DF9}"/>
              </a:ext>
            </a:extLst>
          </p:cNvPr>
          <p:cNvSpPr>
            <a:spLocks xmlns:a="http://schemas.openxmlformats.org/drawingml/2006/main" noGrp="1"/>
          </p:cNvSpPr>
          <p:nvPr/>
        </p:nvSpPr>
        <p:spPr>
          <a:xfrm xmlns:a="http://schemas.openxmlformats.org/drawingml/2006/main" flipH="0" flipV="0">
            <a:off x="6067425" y="4076700"/>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67" name="R2 drying rack wire 1-8">
            <a:extLst xmlns:a="http://schemas.openxmlformats.org/drawingml/2006/main">
              <a:ext uri="{FF2B5EF4-FFF2-40B4-BE49-F238E27FC236}">
                <a16:creationId xmlns:a16="http://schemas.microsoft.com/office/drawing/2014/main" id="{279E400A-698D-4D9C-B08F-7643C88381B8}"/>
              </a:ext>
            </a:extLst>
          </p:cNvPr>
          <p:cNvSpPr>
            <a:spLocks xmlns:a="http://schemas.openxmlformats.org/drawingml/2006/main" noGrp="1"/>
          </p:cNvSpPr>
          <p:nvPr/>
        </p:nvSpPr>
        <p:spPr>
          <a:xfrm xmlns:a="http://schemas.openxmlformats.org/drawingml/2006/main" flipH="0" flipV="0">
            <a:off x="6419850" y="4076700"/>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68" name="R2 drying rack wire 1-9">
            <a:extLst xmlns:a="http://schemas.openxmlformats.org/drawingml/2006/main">
              <a:ext uri="{FF2B5EF4-FFF2-40B4-BE49-F238E27FC236}">
                <a16:creationId xmlns:a16="http://schemas.microsoft.com/office/drawing/2014/main" id="{6A0AA112-55AE-4546-9BDB-AED9C10FC534}"/>
              </a:ext>
            </a:extLst>
          </p:cNvPr>
          <p:cNvSpPr>
            <a:spLocks xmlns:a="http://schemas.openxmlformats.org/drawingml/2006/main" noGrp="1"/>
          </p:cNvSpPr>
          <p:nvPr/>
        </p:nvSpPr>
        <p:spPr>
          <a:xfrm xmlns:a="http://schemas.openxmlformats.org/drawingml/2006/main" flipH="0" flipV="0">
            <a:off x="6772275" y="4076700"/>
            <a:ext cx="0" cy="114300"/>
          </a:xfrm>
          <a:prstGeom xmlns:a="http://schemas.openxmlformats.org/drawingml/2006/main" prst="line">
            <a:avLst/>
          </a:prstGeom>
          <a:noFill xmlns:a="http://schemas.openxmlformats.org/drawingml/2006/main"/>
          <a:ln xmlns:a="http://schemas.openxmlformats.org/drawingml/2006/main" w="9525">
            <a:solidFill>
              <a:srgbClr val="A8ADB0"/>
            </a:solidFill>
            <a:prstDash val="solid"/>
          </a:ln>
        </p:spPr>
      </p:sp>
      <p:sp>
        <p:nvSpPr>
          <p:cNvPr id="69" name="R2 drying rack removable drip tray">
            <a:extLst xmlns:a="http://schemas.openxmlformats.org/drawingml/2006/main">
              <a:ext uri="{FF2B5EF4-FFF2-40B4-BE49-F238E27FC236}">
                <a16:creationId xmlns:a16="http://schemas.microsoft.com/office/drawing/2014/main" id="{9A6B8999-E9C3-4066-BE7B-909E1E899469}"/>
              </a:ext>
            </a:extLst>
          </p:cNvPr>
          <p:cNvSpPr>
            <a:spLocks xmlns:a="http://schemas.openxmlformats.org/drawingml/2006/main" noGrp="1"/>
          </p:cNvSpPr>
          <p:nvPr/>
        </p:nvSpPr>
        <p:spPr>
          <a:xfrm xmlns:a="http://schemas.openxmlformats.org/drawingml/2006/main">
            <a:off x="3552825" y="4352925"/>
            <a:ext cx="3657600" cy="76200"/>
          </a:xfrm>
          <a:prstGeom xmlns:a="http://schemas.openxmlformats.org/drawingml/2006/main" prst="rect">
            <a:avLst/>
          </a:prstGeom>
          <a:solidFill xmlns:a="http://schemas.openxmlformats.org/drawingml/2006/main">
            <a:srgbClr val="A8ADB0"/>
          </a:solidFill>
          <a:ln xmlns:a="http://schemas.openxmlformats.org/drawingml/2006/main" w="9525">
            <a:solidFill>
              <a:srgbClr val="292B2D"/>
            </a:solidFill>
            <a:prstDash val="solid"/>
          </a:ln>
        </p:spPr>
      </p:sp>
      <p:sp>
        <p:nvSpPr>
          <p:cNvPr id="70" name="R3 RO loft shutter">
            <a:extLst xmlns:a="http://schemas.openxmlformats.org/drawingml/2006/main">
              <a:ext uri="{FF2B5EF4-FFF2-40B4-BE49-F238E27FC236}">
                <a16:creationId xmlns:a16="http://schemas.microsoft.com/office/drawing/2014/main" id="{3FAF6F7F-EA52-43A2-8D7E-4CE107326613}"/>
              </a:ext>
            </a:extLst>
          </p:cNvPr>
          <p:cNvSpPr>
            <a:spLocks xmlns:a="http://schemas.openxmlformats.org/drawingml/2006/main" noGrp="1"/>
          </p:cNvSpPr>
          <p:nvPr/>
        </p:nvSpPr>
        <p:spPr>
          <a:xfrm xmlns:a="http://schemas.openxmlformats.org/drawingml/2006/main">
            <a:off x="7334250" y="1714500"/>
            <a:ext cx="1476375" cy="1190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71" name="R3 RO loft handle">
            <a:extLst xmlns:a="http://schemas.openxmlformats.org/drawingml/2006/main">
              <a:ext uri="{FF2B5EF4-FFF2-40B4-BE49-F238E27FC236}">
                <a16:creationId xmlns:a16="http://schemas.microsoft.com/office/drawing/2014/main" id="{64D99628-968B-4E3F-AFA6-EDCFB0DC214C}"/>
              </a:ext>
            </a:extLst>
          </p:cNvPr>
          <p:cNvSpPr>
            <a:spLocks xmlns:a="http://schemas.openxmlformats.org/drawingml/2006/main" noGrp="1"/>
          </p:cNvSpPr>
          <p:nvPr/>
        </p:nvSpPr>
        <p:spPr>
          <a:xfrm xmlns:a="http://schemas.openxmlformats.org/drawingml/2006/main">
            <a:off x="7872413" y="2695575"/>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72" name="R3 RO interior">
            <a:extLst xmlns:a="http://schemas.openxmlformats.org/drawingml/2006/main">
              <a:ext uri="{FF2B5EF4-FFF2-40B4-BE49-F238E27FC236}">
                <a16:creationId xmlns:a16="http://schemas.microsoft.com/office/drawing/2014/main" id="{B2C02C78-D0F3-4B85-94F7-873208AB6EAB}"/>
              </a:ext>
            </a:extLst>
          </p:cNvPr>
          <p:cNvSpPr>
            <a:spLocks xmlns:a="http://schemas.openxmlformats.org/drawingml/2006/main" noGrp="1"/>
          </p:cNvSpPr>
          <p:nvPr/>
        </p:nvSpPr>
        <p:spPr>
          <a:xfrm xmlns:a="http://schemas.openxmlformats.org/drawingml/2006/main">
            <a:off x="7334250" y="2905125"/>
            <a:ext cx="1476375" cy="1571625"/>
          </a:xfrm>
          <a:prstGeom xmlns:a="http://schemas.openxmlformats.org/drawingml/2006/main" prst="rect">
            <a:avLst/>
          </a:prstGeom>
          <a:solidFill xmlns:a="http://schemas.openxmlformats.org/drawingml/2006/main">
            <a:srgbClr val="E7D7C2"/>
          </a:solidFill>
          <a:ln xmlns:a="http://schemas.openxmlformats.org/drawingml/2006/main" w="14288">
            <a:solidFill>
              <a:srgbClr val="6B5543"/>
            </a:solidFill>
            <a:prstDash val="solid"/>
          </a:ln>
        </p:spPr>
      </p:sp>
      <p:sp>
        <p:nvSpPr>
          <p:cNvPr id="73" name="R3 RO open shutter">
            <a:extLst xmlns:a="http://schemas.openxmlformats.org/drawingml/2006/main">
              <a:ext uri="{FF2B5EF4-FFF2-40B4-BE49-F238E27FC236}">
                <a16:creationId xmlns:a16="http://schemas.microsoft.com/office/drawing/2014/main" id="{21BDA219-02A1-449C-AA6A-BD5349223F0C}"/>
              </a:ext>
            </a:extLst>
          </p:cNvPr>
          <p:cNvSpPr>
            <a:spLocks xmlns:a="http://schemas.openxmlformats.org/drawingml/2006/main" noGrp="1"/>
          </p:cNvSpPr>
          <p:nvPr/>
        </p:nvSpPr>
        <p:spPr>
          <a:xfrm xmlns:a="http://schemas.openxmlformats.org/drawingml/2006/main">
            <a:off x="7096125" y="2905125"/>
            <a:ext cx="209550" cy="1571625"/>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74" name="R3 compact purifier body">
            <a:extLst xmlns:a="http://schemas.openxmlformats.org/drawingml/2006/main">
              <a:ext uri="{FF2B5EF4-FFF2-40B4-BE49-F238E27FC236}">
                <a16:creationId xmlns:a16="http://schemas.microsoft.com/office/drawing/2014/main" id="{C30191A2-B99D-41EF-8A65-F293496FCE76}"/>
              </a:ext>
            </a:extLst>
          </p:cNvPr>
          <p:cNvSpPr>
            <a:spLocks xmlns:a="http://schemas.openxmlformats.org/drawingml/2006/main" noGrp="1"/>
          </p:cNvSpPr>
          <p:nvPr/>
        </p:nvSpPr>
        <p:spPr>
          <a:xfrm xmlns:a="http://schemas.openxmlformats.org/drawingml/2006/main">
            <a:off x="7572375" y="3076575"/>
            <a:ext cx="1000125" cy="8001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A8ADB0"/>
            </a:solidFill>
            <a:prstDash val="solid"/>
          </a:ln>
        </p:spPr>
      </p:sp>
      <p:sp>
        <p:nvSpPr>
          <p:cNvPr id="75" name="R3 purifier panel">
            <a:extLst xmlns:a="http://schemas.openxmlformats.org/drawingml/2006/main">
              <a:ext uri="{FF2B5EF4-FFF2-40B4-BE49-F238E27FC236}">
                <a16:creationId xmlns:a16="http://schemas.microsoft.com/office/drawing/2014/main" id="{21170652-6987-40A4-9E17-DC6280311119}"/>
              </a:ext>
            </a:extLst>
          </p:cNvPr>
          <p:cNvSpPr>
            <a:spLocks xmlns:a="http://schemas.openxmlformats.org/drawingml/2006/main" noGrp="1"/>
          </p:cNvSpPr>
          <p:nvPr/>
        </p:nvSpPr>
        <p:spPr>
          <a:xfrm xmlns:a="http://schemas.openxmlformats.org/drawingml/2006/main">
            <a:off x="7734300" y="3181350"/>
            <a:ext cx="676275" cy="295275"/>
          </a:xfrm>
          <a:prstGeom xmlns:a="http://schemas.openxmlformats.org/drawingml/2006/main" prst="rect">
            <a:avLst/>
          </a:prstGeom>
          <a:solidFill xmlns:a="http://schemas.openxmlformats.org/drawingml/2006/main">
            <a:srgbClr val="1C3042"/>
          </a:solidFill>
          <a:ln xmlns:a="http://schemas.openxmlformats.org/drawingml/2006/main" w="9525">
            <a:solidFill>
              <a:srgbClr val="A8ADB0"/>
            </a:solidFill>
            <a:prstDash val="solid"/>
          </a:ln>
        </p:spPr>
      </p:sp>
      <p:sp>
        <p:nvSpPr>
          <p:cNvPr id="76" name="R3 filter 0">
            <a:extLst xmlns:a="http://schemas.openxmlformats.org/drawingml/2006/main">
              <a:ext uri="{FF2B5EF4-FFF2-40B4-BE49-F238E27FC236}">
                <a16:creationId xmlns:a16="http://schemas.microsoft.com/office/drawing/2014/main" id="{8B653C59-2739-4450-BAC8-690535B20968}"/>
              </a:ext>
            </a:extLst>
          </p:cNvPr>
          <p:cNvSpPr>
            <a:spLocks xmlns:a="http://schemas.openxmlformats.org/drawingml/2006/main" noGrp="1"/>
          </p:cNvSpPr>
          <p:nvPr/>
        </p:nvSpPr>
        <p:spPr>
          <a:xfrm xmlns:a="http://schemas.openxmlformats.org/drawingml/2006/main">
            <a:off x="7610475" y="3619500"/>
            <a:ext cx="257175"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A8ADB0"/>
            </a:solidFill>
            <a:prstDash val="solid"/>
          </a:ln>
        </p:spPr>
      </p:sp>
      <p:sp>
        <p:nvSpPr>
          <p:cNvPr id="77" name="R3 filter 1">
            <a:extLst xmlns:a="http://schemas.openxmlformats.org/drawingml/2006/main">
              <a:ext uri="{FF2B5EF4-FFF2-40B4-BE49-F238E27FC236}">
                <a16:creationId xmlns:a16="http://schemas.microsoft.com/office/drawing/2014/main" id="{2F085B46-05DD-4131-B6F2-AB374D7817D5}"/>
              </a:ext>
            </a:extLst>
          </p:cNvPr>
          <p:cNvSpPr>
            <a:spLocks xmlns:a="http://schemas.openxmlformats.org/drawingml/2006/main" noGrp="1"/>
          </p:cNvSpPr>
          <p:nvPr/>
        </p:nvSpPr>
        <p:spPr>
          <a:xfrm xmlns:a="http://schemas.openxmlformats.org/drawingml/2006/main">
            <a:off x="7905750" y="3619500"/>
            <a:ext cx="257175"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A8ADB0"/>
            </a:solidFill>
            <a:prstDash val="solid"/>
          </a:ln>
        </p:spPr>
      </p:sp>
      <p:sp>
        <p:nvSpPr>
          <p:cNvPr id="78" name="R3 filter 2">
            <a:extLst xmlns:a="http://schemas.openxmlformats.org/drawingml/2006/main">
              <a:ext uri="{FF2B5EF4-FFF2-40B4-BE49-F238E27FC236}">
                <a16:creationId xmlns:a16="http://schemas.microsoft.com/office/drawing/2014/main" id="{72265C92-7B65-4F99-B15E-F2E747E35C28}"/>
              </a:ext>
            </a:extLst>
          </p:cNvPr>
          <p:cNvSpPr>
            <a:spLocks xmlns:a="http://schemas.openxmlformats.org/drawingml/2006/main" noGrp="1"/>
          </p:cNvSpPr>
          <p:nvPr/>
        </p:nvSpPr>
        <p:spPr>
          <a:xfrm xmlns:a="http://schemas.openxmlformats.org/drawingml/2006/main">
            <a:off x="8201025" y="3619500"/>
            <a:ext cx="257175"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A8ADB0"/>
            </a:solidFill>
            <a:prstDash val="solid"/>
          </a:ln>
        </p:spPr>
      </p:sp>
      <p:sp>
        <p:nvSpPr>
          <p:cNvPr id="79" name="R3 direct RO access cut-out">
            <a:extLst xmlns:a="http://schemas.openxmlformats.org/drawingml/2006/main">
              <a:ext uri="{FF2B5EF4-FFF2-40B4-BE49-F238E27FC236}">
                <a16:creationId xmlns:a16="http://schemas.microsoft.com/office/drawing/2014/main" id="{B19DF705-9535-4CB3-BEB5-10C5B278B1CB}"/>
              </a:ext>
            </a:extLst>
          </p:cNvPr>
          <p:cNvSpPr>
            <a:spLocks xmlns:a="http://schemas.openxmlformats.org/drawingml/2006/main" noGrp="1"/>
          </p:cNvSpPr>
          <p:nvPr/>
        </p:nvSpPr>
        <p:spPr>
          <a:xfrm xmlns:a="http://schemas.openxmlformats.org/drawingml/2006/main">
            <a:off x="7796213" y="3971925"/>
            <a:ext cx="552450" cy="447675"/>
          </a:xfrm>
          <a:prstGeom xmlns:a="http://schemas.openxmlformats.org/drawingml/2006/main" prst="rect">
            <a:avLst/>
          </a:prstGeom>
          <a:solidFill xmlns:a="http://schemas.openxmlformats.org/drawingml/2006/main">
            <a:srgbClr val="5C4D40"/>
          </a:solidFill>
          <a:ln xmlns:a="http://schemas.openxmlformats.org/drawingml/2006/main" w="9525">
            <a:solidFill>
              <a:srgbClr val="6B5543"/>
            </a:solidFill>
            <a:prstDash val="solid"/>
          </a:ln>
        </p:spPr>
      </p:sp>
      <p:sp>
        <p:nvSpPr>
          <p:cNvPr id="80" name="R3 direct RO access dispenser stem">
            <a:extLst xmlns:a="http://schemas.openxmlformats.org/drawingml/2006/main">
              <a:ext uri="{FF2B5EF4-FFF2-40B4-BE49-F238E27FC236}">
                <a16:creationId xmlns:a16="http://schemas.microsoft.com/office/drawing/2014/main" id="{70622278-7F52-485F-99AD-38AAC7C4618B}"/>
              </a:ext>
            </a:extLst>
          </p:cNvPr>
          <p:cNvSpPr>
            <a:spLocks xmlns:a="http://schemas.openxmlformats.org/drawingml/2006/main" noGrp="1"/>
          </p:cNvSpPr>
          <p:nvPr/>
        </p:nvSpPr>
        <p:spPr>
          <a:xfrm xmlns:a="http://schemas.openxmlformats.org/drawingml/2006/main">
            <a:off x="8034338" y="4067175"/>
            <a:ext cx="76200" cy="190500"/>
          </a:xfrm>
          <a:prstGeom xmlns:a="http://schemas.openxmlformats.org/drawingml/2006/main" prst="rect">
            <a:avLst/>
          </a:prstGeom>
          <a:solidFill xmlns:a="http://schemas.openxmlformats.org/drawingml/2006/main">
            <a:srgbClr val="A8ADB0"/>
          </a:solidFill>
          <a:ln xmlns:a="http://schemas.openxmlformats.org/drawingml/2006/main" w="4763">
            <a:solidFill>
              <a:srgbClr val="FFFFFF"/>
            </a:solidFill>
            <a:prstDash val="solid"/>
          </a:ln>
        </p:spPr>
      </p:sp>
      <p:sp>
        <p:nvSpPr>
          <p:cNvPr id="81" name="R3 direct RO access tap lever">
            <a:extLst xmlns:a="http://schemas.openxmlformats.org/drawingml/2006/main">
              <a:ext uri="{FF2B5EF4-FFF2-40B4-BE49-F238E27FC236}">
                <a16:creationId xmlns:a16="http://schemas.microsoft.com/office/drawing/2014/main" id="{27394C33-4B0A-43DA-8A3A-6B4FE4B55D94}"/>
              </a:ext>
            </a:extLst>
          </p:cNvPr>
          <p:cNvSpPr>
            <a:spLocks xmlns:a="http://schemas.openxmlformats.org/drawingml/2006/main" noGrp="1"/>
          </p:cNvSpPr>
          <p:nvPr/>
        </p:nvSpPr>
        <p:spPr>
          <a:xfrm xmlns:a="http://schemas.openxmlformats.org/drawingml/2006/main" flipH="0" flipV="0">
            <a:off x="8072438" y="4114800"/>
            <a:ext cx="123825" cy="0"/>
          </a:xfrm>
          <a:prstGeom xmlns:a="http://schemas.openxmlformats.org/drawingml/2006/main" prst="line">
            <a:avLst/>
          </a:prstGeom>
          <a:noFill xmlns:a="http://schemas.openxmlformats.org/drawingml/2006/main"/>
          <a:ln xmlns:a="http://schemas.openxmlformats.org/drawingml/2006/main" w="28575">
            <a:solidFill>
              <a:srgbClr val="292B2D"/>
            </a:solidFill>
            <a:prstDash val="solid"/>
          </a:ln>
        </p:spPr>
      </p:sp>
      <p:sp>
        <p:nvSpPr>
          <p:cNvPr id="82" name="R3 direct RO access spout">
            <a:extLst xmlns:a="http://schemas.openxmlformats.org/drawingml/2006/main">
              <a:ext uri="{FF2B5EF4-FFF2-40B4-BE49-F238E27FC236}">
                <a16:creationId xmlns:a16="http://schemas.microsoft.com/office/drawing/2014/main" id="{FC04C5C7-70E9-4AD1-A624-ED59952D9178}"/>
              </a:ext>
            </a:extLst>
          </p:cNvPr>
          <p:cNvSpPr>
            <a:spLocks xmlns:a="http://schemas.openxmlformats.org/drawingml/2006/main" noGrp="1"/>
          </p:cNvSpPr>
          <p:nvPr/>
        </p:nvSpPr>
        <p:spPr>
          <a:xfrm xmlns:a="http://schemas.openxmlformats.org/drawingml/2006/main">
            <a:off x="8053388" y="4229100"/>
            <a:ext cx="38100" cy="114300"/>
          </a:xfrm>
          <a:prstGeom xmlns:a="http://schemas.openxmlformats.org/drawingml/2006/main" prst="rect">
            <a:avLst/>
          </a:prstGeom>
          <a:solidFill xmlns:a="http://schemas.openxmlformats.org/drawingml/2006/main">
            <a:srgbClr val="A8ADB0"/>
          </a:solidFill>
          <a:ln xmlns:a="http://schemas.openxmlformats.org/drawingml/2006/main" w="0">
            <a:noFill/>
            <a:prstDash val="solid"/>
          </a:ln>
        </p:spPr>
      </p:sp>
      <p:sp>
        <p:nvSpPr>
          <p:cNvPr id="83" name="R3 direct RO access glass">
            <a:extLst xmlns:a="http://schemas.openxmlformats.org/drawingml/2006/main">
              <a:ext uri="{FF2B5EF4-FFF2-40B4-BE49-F238E27FC236}">
                <a16:creationId xmlns:a16="http://schemas.microsoft.com/office/drawing/2014/main" id="{93085B04-7379-4A80-BBEB-36BF26C559F2}"/>
              </a:ext>
            </a:extLst>
          </p:cNvPr>
          <p:cNvSpPr>
            <a:spLocks xmlns:a="http://schemas.openxmlformats.org/drawingml/2006/main" noGrp="1"/>
          </p:cNvSpPr>
          <p:nvPr/>
        </p:nvSpPr>
        <p:spPr>
          <a:xfrm xmlns:a="http://schemas.openxmlformats.org/drawingml/2006/main">
            <a:off x="7948613" y="4086225"/>
            <a:ext cx="247650" cy="285750"/>
          </a:xfrm>
          <a:prstGeom xmlns:a="http://schemas.openxmlformats.org/drawingml/2006/main" prst="rect">
            <a:avLst/>
          </a:prstGeom>
          <a:noFill xmlns:a="http://schemas.openxmlformats.org/drawingml/2006/main"/>
          <a:ln xmlns:a="http://schemas.openxmlformats.org/drawingml/2006/main" w="9525">
            <a:solidFill>
              <a:srgbClr val="E0E7E8"/>
            </a:solidFill>
            <a:prstDash val="solid"/>
          </a:ln>
        </p:spPr>
      </p:sp>
      <p:sp>
        <p:nvSpPr>
          <p:cNvPr id="84" name="R3 direct RO access tray">
            <a:extLst xmlns:a="http://schemas.openxmlformats.org/drawingml/2006/main">
              <a:ext uri="{FF2B5EF4-FFF2-40B4-BE49-F238E27FC236}">
                <a16:creationId xmlns:a16="http://schemas.microsoft.com/office/drawing/2014/main" id="{0332B939-4D76-499F-A31B-241DC68A84F5}"/>
              </a:ext>
            </a:extLst>
          </p:cNvPr>
          <p:cNvSpPr>
            <a:spLocks xmlns:a="http://schemas.openxmlformats.org/drawingml/2006/main" noGrp="1"/>
          </p:cNvSpPr>
          <p:nvPr/>
        </p:nvSpPr>
        <p:spPr>
          <a:xfrm xmlns:a="http://schemas.openxmlformats.org/drawingml/2006/main" flipH="0" flipV="0">
            <a:off x="7853363" y="4391025"/>
            <a:ext cx="438150" cy="0"/>
          </a:xfrm>
          <a:prstGeom xmlns:a="http://schemas.openxmlformats.org/drawingml/2006/main" prst="line">
            <a:avLst/>
          </a:prstGeom>
          <a:noFill xmlns:a="http://schemas.openxmlformats.org/drawingml/2006/main"/>
          <a:ln xmlns:a="http://schemas.openxmlformats.org/drawingml/2006/main" w="28575">
            <a:solidFill>
              <a:srgbClr val="A8ADB0"/>
            </a:solidFill>
            <a:prstDash val="solid"/>
          </a:ln>
        </p:spPr>
      </p:sp>
      <p:sp>
        <p:nvSpPr>
          <p:cNvPr id="85" name="R4 fridge loft L shutter">
            <a:extLst xmlns:a="http://schemas.openxmlformats.org/drawingml/2006/main">
              <a:ext uri="{FF2B5EF4-FFF2-40B4-BE49-F238E27FC236}">
                <a16:creationId xmlns:a16="http://schemas.microsoft.com/office/drawing/2014/main" id="{9731E413-9A63-415B-9972-BD4105C096DF}"/>
              </a:ext>
            </a:extLst>
          </p:cNvPr>
          <p:cNvSpPr>
            <a:spLocks xmlns:a="http://schemas.openxmlformats.org/drawingml/2006/main" noGrp="1"/>
          </p:cNvSpPr>
          <p:nvPr/>
        </p:nvSpPr>
        <p:spPr>
          <a:xfrm xmlns:a="http://schemas.openxmlformats.org/drawingml/2006/main">
            <a:off x="8810625" y="1714500"/>
            <a:ext cx="1357313" cy="1238250"/>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86" name="R4 fridge loft L handle">
            <a:extLst xmlns:a="http://schemas.openxmlformats.org/drawingml/2006/main">
              <a:ext uri="{FF2B5EF4-FFF2-40B4-BE49-F238E27FC236}">
                <a16:creationId xmlns:a16="http://schemas.microsoft.com/office/drawing/2014/main" id="{8374A79C-9E06-4C8E-AC61-FC6B7A1F69BC}"/>
              </a:ext>
            </a:extLst>
          </p:cNvPr>
          <p:cNvSpPr>
            <a:spLocks xmlns:a="http://schemas.openxmlformats.org/drawingml/2006/main" noGrp="1"/>
          </p:cNvSpPr>
          <p:nvPr/>
        </p:nvSpPr>
        <p:spPr>
          <a:xfrm xmlns:a="http://schemas.openxmlformats.org/drawingml/2006/main">
            <a:off x="9289256" y="27432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87" name="R4 fridge loft R shutter">
            <a:extLst xmlns:a="http://schemas.openxmlformats.org/drawingml/2006/main">
              <a:ext uri="{FF2B5EF4-FFF2-40B4-BE49-F238E27FC236}">
                <a16:creationId xmlns:a16="http://schemas.microsoft.com/office/drawing/2014/main" id="{54AB0527-C0C0-4084-ABCF-E1BBB784C264}"/>
              </a:ext>
            </a:extLst>
          </p:cNvPr>
          <p:cNvSpPr>
            <a:spLocks xmlns:a="http://schemas.openxmlformats.org/drawingml/2006/main" noGrp="1"/>
          </p:cNvSpPr>
          <p:nvPr/>
        </p:nvSpPr>
        <p:spPr>
          <a:xfrm xmlns:a="http://schemas.openxmlformats.org/drawingml/2006/main">
            <a:off x="10167938" y="1714500"/>
            <a:ext cx="1357313" cy="1238250"/>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88" name="R4 fridge loft R handle">
            <a:extLst xmlns:a="http://schemas.openxmlformats.org/drawingml/2006/main">
              <a:ext uri="{FF2B5EF4-FFF2-40B4-BE49-F238E27FC236}">
                <a16:creationId xmlns:a16="http://schemas.microsoft.com/office/drawing/2014/main" id="{5699FCCC-E51F-439A-AEF9-7E6BA97460A6}"/>
              </a:ext>
            </a:extLst>
          </p:cNvPr>
          <p:cNvSpPr>
            <a:spLocks xmlns:a="http://schemas.openxmlformats.org/drawingml/2006/main" noGrp="1"/>
          </p:cNvSpPr>
          <p:nvPr/>
        </p:nvSpPr>
        <p:spPr>
          <a:xfrm xmlns:a="http://schemas.openxmlformats.org/drawingml/2006/main">
            <a:off x="10646569" y="27432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89" name="RO-wall backsplash">
            <a:extLst xmlns:a="http://schemas.openxmlformats.org/drawingml/2006/main">
              <a:ext uri="{FF2B5EF4-FFF2-40B4-BE49-F238E27FC236}">
                <a16:creationId xmlns:a16="http://schemas.microsoft.com/office/drawing/2014/main" id="{F95F18C9-A9B9-4105-A22C-F255B1B6164B}"/>
              </a:ext>
            </a:extLst>
          </p:cNvPr>
          <p:cNvSpPr>
            <a:spLocks xmlns:a="http://schemas.openxmlformats.org/drawingml/2006/main" noGrp="1"/>
          </p:cNvSpPr>
          <p:nvPr/>
        </p:nvSpPr>
        <p:spPr>
          <a:xfrm xmlns:a="http://schemas.openxmlformats.org/drawingml/2006/main">
            <a:off x="666750" y="4524375"/>
            <a:ext cx="8143875" cy="1285875"/>
          </a:xfrm>
          <a:prstGeom xmlns:a="http://schemas.openxmlformats.org/drawingml/2006/main" prst="rect">
            <a:avLst/>
          </a:prstGeom>
          <a:solidFill xmlns:a="http://schemas.openxmlformats.org/drawingml/2006/main">
            <a:srgbClr val="F6F3ED"/>
          </a:solidFill>
          <a:ln xmlns:a="http://schemas.openxmlformats.org/drawingml/2006/main" w="0">
            <a:noFill/>
            <a:prstDash val="solid"/>
          </a:ln>
        </p:spPr>
      </p:sp>
      <p:sp>
        <p:nvSpPr>
          <p:cNvPr id="90" name="RO-wall continuous task strip">
            <a:extLst xmlns:a="http://schemas.openxmlformats.org/drawingml/2006/main">
              <a:ext uri="{FF2B5EF4-FFF2-40B4-BE49-F238E27FC236}">
                <a16:creationId xmlns:a16="http://schemas.microsoft.com/office/drawing/2014/main" id="{D6A3110F-B0E0-4C7E-B116-850600EAF5A7}"/>
              </a:ext>
            </a:extLst>
          </p:cNvPr>
          <p:cNvSpPr>
            <a:spLocks xmlns:a="http://schemas.openxmlformats.org/drawingml/2006/main" noGrp="1"/>
          </p:cNvSpPr>
          <p:nvPr/>
        </p:nvSpPr>
        <p:spPr>
          <a:xfrm xmlns:a="http://schemas.openxmlformats.org/drawingml/2006/main" flipH="0" flipV="0">
            <a:off x="666750" y="4514850"/>
            <a:ext cx="8143875" cy="0"/>
          </a:xfrm>
          <a:prstGeom xmlns:a="http://schemas.openxmlformats.org/drawingml/2006/main" prst="line">
            <a:avLst/>
          </a:prstGeom>
          <a:noFill xmlns:a="http://schemas.openxmlformats.org/drawingml/2006/main"/>
          <a:ln xmlns:a="http://schemas.openxmlformats.org/drawingml/2006/main" w="47625">
            <a:solidFill>
              <a:srgbClr val="F5C96D"/>
            </a:solidFill>
            <a:prstDash val="solid"/>
          </a:ln>
        </p:spPr>
      </p:sp>
      <p:sp>
        <p:nvSpPr>
          <p:cNvPr id="91" name="RO-wall outlet">
            <a:extLst xmlns:a="http://schemas.openxmlformats.org/drawingml/2006/main">
              <a:ext uri="{FF2B5EF4-FFF2-40B4-BE49-F238E27FC236}">
                <a16:creationId xmlns:a16="http://schemas.microsoft.com/office/drawing/2014/main" id="{C6F9617E-A97A-4D11-86EC-35393098E7EC}"/>
              </a:ext>
            </a:extLst>
          </p:cNvPr>
          <p:cNvSpPr>
            <a:spLocks xmlns:a="http://schemas.openxmlformats.org/drawingml/2006/main" noGrp="1"/>
          </p:cNvSpPr>
          <p:nvPr/>
        </p:nvSpPr>
        <p:spPr>
          <a:xfrm xmlns:a="http://schemas.openxmlformats.org/drawingml/2006/main">
            <a:off x="8143875" y="5067300"/>
            <a:ext cx="323850" cy="209550"/>
          </a:xfrm>
          <a:prstGeom xmlns:a="http://schemas.openxmlformats.org/drawingml/2006/main" prst="rect">
            <a:avLst/>
          </a:prstGeom>
          <a:solidFill xmlns:a="http://schemas.openxmlformats.org/drawingml/2006/main">
            <a:srgbClr val="FFFFFF"/>
          </a:solidFill>
          <a:ln xmlns:a="http://schemas.openxmlformats.org/drawingml/2006/main" w="9525">
            <a:solidFill>
              <a:srgbClr val="A8ADB0"/>
            </a:solidFill>
            <a:prstDash val="solid"/>
          </a:ln>
        </p:spPr>
      </p:sp>
      <p:sp>
        <p:nvSpPr>
          <p:cNvPr id="92" name="RO-wall outlet pin 0">
            <a:extLst xmlns:a="http://schemas.openxmlformats.org/drawingml/2006/main">
              <a:ext uri="{FF2B5EF4-FFF2-40B4-BE49-F238E27FC236}">
                <a16:creationId xmlns:a16="http://schemas.microsoft.com/office/drawing/2014/main" id="{A4243C37-EA80-4C8A-92CE-91AA54E394E7}"/>
              </a:ext>
            </a:extLst>
          </p:cNvPr>
          <p:cNvSpPr>
            <a:spLocks xmlns:a="http://schemas.openxmlformats.org/drawingml/2006/main" noGrp="1"/>
          </p:cNvSpPr>
          <p:nvPr/>
        </p:nvSpPr>
        <p:spPr>
          <a:xfrm xmlns:a="http://schemas.openxmlformats.org/drawingml/2006/main">
            <a:off x="8220075" y="5143500"/>
            <a:ext cx="19050" cy="47625"/>
          </a:xfrm>
          <a:prstGeom xmlns:a="http://schemas.openxmlformats.org/drawingml/2006/main" prst="rect">
            <a:avLst/>
          </a:prstGeom>
          <a:solidFill xmlns:a="http://schemas.openxmlformats.org/drawingml/2006/main">
            <a:srgbClr val="292B2D"/>
          </a:solidFill>
          <a:ln xmlns:a="http://schemas.openxmlformats.org/drawingml/2006/main" w="0">
            <a:noFill/>
            <a:prstDash val="solid"/>
          </a:ln>
        </p:spPr>
      </p:sp>
      <p:sp>
        <p:nvSpPr>
          <p:cNvPr id="93" name="RO-wall outlet pin 1">
            <a:extLst xmlns:a="http://schemas.openxmlformats.org/drawingml/2006/main">
              <a:ext uri="{FF2B5EF4-FFF2-40B4-BE49-F238E27FC236}">
                <a16:creationId xmlns:a16="http://schemas.microsoft.com/office/drawing/2014/main" id="{063E52AE-6C81-4C47-AF43-0AFE4DE55B88}"/>
              </a:ext>
            </a:extLst>
          </p:cNvPr>
          <p:cNvSpPr>
            <a:spLocks xmlns:a="http://schemas.openxmlformats.org/drawingml/2006/main" noGrp="1"/>
          </p:cNvSpPr>
          <p:nvPr/>
        </p:nvSpPr>
        <p:spPr>
          <a:xfrm xmlns:a="http://schemas.openxmlformats.org/drawingml/2006/main">
            <a:off x="8296275" y="5143500"/>
            <a:ext cx="19050" cy="47625"/>
          </a:xfrm>
          <a:prstGeom xmlns:a="http://schemas.openxmlformats.org/drawingml/2006/main" prst="rect">
            <a:avLst/>
          </a:prstGeom>
          <a:solidFill xmlns:a="http://schemas.openxmlformats.org/drawingml/2006/main">
            <a:srgbClr val="292B2D"/>
          </a:solidFill>
          <a:ln xmlns:a="http://schemas.openxmlformats.org/drawingml/2006/main" w="0">
            <a:noFill/>
            <a:prstDash val="solid"/>
          </a:ln>
        </p:spPr>
      </p:sp>
      <p:sp>
        <p:nvSpPr>
          <p:cNvPr id="94" name="RO-wall outlet pin 2">
            <a:extLst xmlns:a="http://schemas.openxmlformats.org/drawingml/2006/main">
              <a:ext uri="{FF2B5EF4-FFF2-40B4-BE49-F238E27FC236}">
                <a16:creationId xmlns:a16="http://schemas.microsoft.com/office/drawing/2014/main" id="{E7231F14-6F0A-455F-B0CC-D505E4281C84}"/>
              </a:ext>
            </a:extLst>
          </p:cNvPr>
          <p:cNvSpPr>
            <a:spLocks xmlns:a="http://schemas.openxmlformats.org/drawingml/2006/main" noGrp="1"/>
          </p:cNvSpPr>
          <p:nvPr/>
        </p:nvSpPr>
        <p:spPr>
          <a:xfrm xmlns:a="http://schemas.openxmlformats.org/drawingml/2006/main">
            <a:off x="8382000" y="5143500"/>
            <a:ext cx="19050" cy="47625"/>
          </a:xfrm>
          <a:prstGeom xmlns:a="http://schemas.openxmlformats.org/drawingml/2006/main" prst="rect">
            <a:avLst/>
          </a:prstGeom>
          <a:solidFill xmlns:a="http://schemas.openxmlformats.org/drawingml/2006/main">
            <a:srgbClr val="292B2D"/>
          </a:solidFill>
          <a:ln xmlns:a="http://schemas.openxmlformats.org/drawingml/2006/main" w="0">
            <a:noFill/>
            <a:prstDash val="solid"/>
          </a:ln>
        </p:spPr>
      </p:sp>
      <p:sp>
        <p:nvSpPr>
          <p:cNvPr id="95" name="RO-wall counter">
            <a:extLst xmlns:a="http://schemas.openxmlformats.org/drawingml/2006/main">
              <a:ext uri="{FF2B5EF4-FFF2-40B4-BE49-F238E27FC236}">
                <a16:creationId xmlns:a16="http://schemas.microsoft.com/office/drawing/2014/main" id="{FC9BA4D1-41DE-4144-9F8B-515F4E3DB789}"/>
              </a:ext>
            </a:extLst>
          </p:cNvPr>
          <p:cNvSpPr>
            <a:spLocks xmlns:a="http://schemas.openxmlformats.org/drawingml/2006/main" noGrp="1"/>
          </p:cNvSpPr>
          <p:nvPr/>
        </p:nvSpPr>
        <p:spPr>
          <a:xfrm xmlns:a="http://schemas.openxmlformats.org/drawingml/2006/main">
            <a:off x="666750" y="5810250"/>
            <a:ext cx="8143875" cy="133350"/>
          </a:xfrm>
          <a:prstGeom xmlns:a="http://schemas.openxmlformats.org/drawingml/2006/main" prst="rect">
            <a:avLst/>
          </a:prstGeom>
          <a:solidFill xmlns:a="http://schemas.openxmlformats.org/drawingml/2006/main">
            <a:srgbClr val="292B2D"/>
          </a:solidFill>
          <a:ln xmlns:a="http://schemas.openxmlformats.org/drawingml/2006/main" w="9525">
            <a:solidFill>
              <a:srgbClr val="292B2D"/>
            </a:solidFill>
            <a:prstDash val="solid"/>
          </a:ln>
        </p:spPr>
      </p:sp>
      <p:sp>
        <p:nvSpPr>
          <p:cNvPr id="96" name="R2 double-bowl sink full rim">
            <a:extLst xmlns:a="http://schemas.openxmlformats.org/drawingml/2006/main">
              <a:ext uri="{FF2B5EF4-FFF2-40B4-BE49-F238E27FC236}">
                <a16:creationId xmlns:a16="http://schemas.microsoft.com/office/drawing/2014/main" id="{1D14D732-C097-4337-A558-037E719C615F}"/>
              </a:ext>
            </a:extLst>
          </p:cNvPr>
          <p:cNvSpPr>
            <a:spLocks xmlns:a="http://schemas.openxmlformats.org/drawingml/2006/main" noGrp="1"/>
          </p:cNvSpPr>
          <p:nvPr/>
        </p:nvSpPr>
        <p:spPr>
          <a:xfrm xmlns:a="http://schemas.openxmlformats.org/drawingml/2006/main">
            <a:off x="3429000" y="5715000"/>
            <a:ext cx="3905250" cy="190500"/>
          </a:xfrm>
          <a:prstGeom xmlns:a="http://schemas.openxmlformats.org/drawingml/2006/main" prst="rect">
            <a:avLst/>
          </a:prstGeom>
          <a:solidFill xmlns:a="http://schemas.openxmlformats.org/drawingml/2006/main">
            <a:srgbClr val="A8ADB0"/>
          </a:solidFill>
          <a:ln xmlns:a="http://schemas.openxmlformats.org/drawingml/2006/main" w="9525">
            <a:solidFill>
              <a:srgbClr val="292B2D"/>
            </a:solidFill>
            <a:prstDash val="solid"/>
          </a:ln>
        </p:spPr>
      </p:sp>
      <p:sp>
        <p:nvSpPr>
          <p:cNvPr id="97" name="R2 double-bowl sink bowl left">
            <a:extLst xmlns:a="http://schemas.openxmlformats.org/drawingml/2006/main">
              <a:ext uri="{FF2B5EF4-FFF2-40B4-BE49-F238E27FC236}">
                <a16:creationId xmlns:a16="http://schemas.microsoft.com/office/drawing/2014/main" id="{517C3B37-A72B-4D25-9DBF-194B3FE5165C}"/>
              </a:ext>
            </a:extLst>
          </p:cNvPr>
          <p:cNvSpPr>
            <a:spLocks xmlns:a="http://schemas.openxmlformats.org/drawingml/2006/main" noGrp="1"/>
          </p:cNvSpPr>
          <p:nvPr/>
        </p:nvSpPr>
        <p:spPr>
          <a:xfrm xmlns:a="http://schemas.openxmlformats.org/drawingml/2006/main">
            <a:off x="3495675" y="5753100"/>
            <a:ext cx="1838325" cy="114300"/>
          </a:xfrm>
          <a:prstGeom xmlns:a="http://schemas.openxmlformats.org/drawingml/2006/main" prst="rect">
            <a:avLst/>
          </a:prstGeom>
          <a:solidFill xmlns:a="http://schemas.openxmlformats.org/drawingml/2006/main">
            <a:srgbClr val="1C3042"/>
          </a:solidFill>
          <a:ln xmlns:a="http://schemas.openxmlformats.org/drawingml/2006/main" w="9525">
            <a:solidFill>
              <a:srgbClr val="A8ADB0"/>
            </a:solidFill>
            <a:prstDash val="solid"/>
          </a:ln>
        </p:spPr>
      </p:sp>
      <p:sp>
        <p:nvSpPr>
          <p:cNvPr id="98" name="R2 double-bowl sink bowl right">
            <a:extLst xmlns:a="http://schemas.openxmlformats.org/drawingml/2006/main">
              <a:ext uri="{FF2B5EF4-FFF2-40B4-BE49-F238E27FC236}">
                <a16:creationId xmlns:a16="http://schemas.microsoft.com/office/drawing/2014/main" id="{067A4B0A-414A-4AFE-BE44-128E7F6802F6}"/>
              </a:ext>
            </a:extLst>
          </p:cNvPr>
          <p:cNvSpPr>
            <a:spLocks xmlns:a="http://schemas.openxmlformats.org/drawingml/2006/main" noGrp="1"/>
          </p:cNvSpPr>
          <p:nvPr/>
        </p:nvSpPr>
        <p:spPr>
          <a:xfrm xmlns:a="http://schemas.openxmlformats.org/drawingml/2006/main">
            <a:off x="5429250" y="5753100"/>
            <a:ext cx="1838325" cy="114300"/>
          </a:xfrm>
          <a:prstGeom xmlns:a="http://schemas.openxmlformats.org/drawingml/2006/main" prst="rect">
            <a:avLst/>
          </a:prstGeom>
          <a:solidFill xmlns:a="http://schemas.openxmlformats.org/drawingml/2006/main">
            <a:srgbClr val="1C3042"/>
          </a:solidFill>
          <a:ln xmlns:a="http://schemas.openxmlformats.org/drawingml/2006/main" w="9525">
            <a:solidFill>
              <a:srgbClr val="A8ADB0"/>
            </a:solidFill>
            <a:prstDash val="solid"/>
          </a:ln>
        </p:spPr>
      </p:sp>
      <p:sp>
        <p:nvSpPr>
          <p:cNvPr id="99" name="R2 double-bowl sink mixer">
            <a:extLst xmlns:a="http://schemas.openxmlformats.org/drawingml/2006/main">
              <a:ext uri="{FF2B5EF4-FFF2-40B4-BE49-F238E27FC236}">
                <a16:creationId xmlns:a16="http://schemas.microsoft.com/office/drawing/2014/main" id="{D69BC9FB-A91C-462A-B495-17F803220F1F}"/>
              </a:ext>
            </a:extLst>
          </p:cNvPr>
          <p:cNvSpPr>
            <a:spLocks xmlns:a="http://schemas.openxmlformats.org/drawingml/2006/main" noGrp="1"/>
          </p:cNvSpPr>
          <p:nvPr/>
        </p:nvSpPr>
        <p:spPr>
          <a:xfrm xmlns:a="http://schemas.openxmlformats.org/drawingml/2006/main">
            <a:off x="5381625" y="5095875"/>
            <a:ext cx="291465" cy="600075"/>
          </a:xfrm>
          <a:custGeom xmlns:a="http://schemas.openxmlformats.org/drawingml/2006/main">
            <a:pathLst>
              <a:path w="291465" h="600075">
                <a:moveTo>
                  <a:pt x="0" y="666750"/>
                </a:moveTo>
                <a:lnTo>
                  <a:pt x="0" y="190500"/>
                </a:lnTo>
                <a:lnTo>
                  <a:pt x="47625" y="66675"/>
                </a:lnTo>
                <a:lnTo>
                  <a:pt x="152400" y="0"/>
                </a:lnTo>
                <a:lnTo>
                  <a:pt x="266700" y="38100"/>
                </a:lnTo>
                <a:lnTo>
                  <a:pt x="323850" y="133350"/>
                </a:lnTo>
                <a:lnTo>
                  <a:pt x="323850" y="257175"/>
                </a:lnTo>
              </a:path>
            </a:pathLst>
          </a:custGeom>
          <a:noFill xmlns:a="http://schemas.openxmlformats.org/drawingml/2006/main"/>
          <a:ln xmlns:a="http://schemas.openxmlformats.org/drawingml/2006/main" w="38100">
            <a:solidFill>
              <a:srgbClr val="A8ADB0"/>
            </a:solidFill>
          </a:ln>
        </p:spPr>
      </p:sp>
      <p:sp>
        <p:nvSpPr>
          <p:cNvPr id="100" name="R2 double-bowl sink base">
            <a:extLst xmlns:a="http://schemas.openxmlformats.org/drawingml/2006/main">
              <a:ext uri="{FF2B5EF4-FFF2-40B4-BE49-F238E27FC236}">
                <a16:creationId xmlns:a16="http://schemas.microsoft.com/office/drawing/2014/main" id="{1ADFA4D6-C1C6-4D2E-A2A0-7A3B91F7065A}"/>
              </a:ext>
            </a:extLst>
          </p:cNvPr>
          <p:cNvSpPr>
            <a:spLocks xmlns:a="http://schemas.openxmlformats.org/drawingml/2006/main" noGrp="1"/>
          </p:cNvSpPr>
          <p:nvPr/>
        </p:nvSpPr>
        <p:spPr>
          <a:xfrm xmlns:a="http://schemas.openxmlformats.org/drawingml/2006/main">
            <a:off x="5305425" y="5695950"/>
            <a:ext cx="171450" cy="38100"/>
          </a:xfrm>
          <a:prstGeom xmlns:a="http://schemas.openxmlformats.org/drawingml/2006/main" prst="rect">
            <a:avLst/>
          </a:prstGeom>
          <a:solidFill xmlns:a="http://schemas.openxmlformats.org/drawingml/2006/main">
            <a:srgbClr val="A8ADB0"/>
          </a:solidFill>
          <a:ln xmlns:a="http://schemas.openxmlformats.org/drawingml/2006/main" w="4763">
            <a:solidFill>
              <a:srgbClr val="6B5543"/>
            </a:solidFill>
            <a:prstDash val="solid"/>
          </a:ln>
        </p:spPr>
      </p:sp>
      <p:sp>
        <p:nvSpPr>
          <p:cNvPr id="101" name="R1 corner access interior">
            <a:extLst xmlns:a="http://schemas.openxmlformats.org/drawingml/2006/main">
              <a:ext uri="{FF2B5EF4-FFF2-40B4-BE49-F238E27FC236}">
                <a16:creationId xmlns:a16="http://schemas.microsoft.com/office/drawing/2014/main" id="{FEF49858-283C-48DD-84BD-323DADD1DBE9}"/>
              </a:ext>
            </a:extLst>
          </p:cNvPr>
          <p:cNvSpPr>
            <a:spLocks xmlns:a="http://schemas.openxmlformats.org/drawingml/2006/main" noGrp="1"/>
          </p:cNvSpPr>
          <p:nvPr/>
        </p:nvSpPr>
        <p:spPr>
          <a:xfrm xmlns:a="http://schemas.openxmlformats.org/drawingml/2006/main">
            <a:off x="666750" y="5943600"/>
            <a:ext cx="2762250" cy="1543050"/>
          </a:xfrm>
          <a:prstGeom xmlns:a="http://schemas.openxmlformats.org/drawingml/2006/main" prst="rect">
            <a:avLst/>
          </a:prstGeom>
          <a:solidFill xmlns:a="http://schemas.openxmlformats.org/drawingml/2006/main">
            <a:srgbClr val="594535"/>
          </a:solidFill>
          <a:ln xmlns:a="http://schemas.openxmlformats.org/drawingml/2006/main" w="14288">
            <a:solidFill>
              <a:srgbClr val="6B5543"/>
            </a:solidFill>
            <a:prstDash val="solid"/>
          </a:ln>
        </p:spPr>
      </p:sp>
      <p:sp>
        <p:nvSpPr>
          <p:cNvPr id="102" name="R1 corner access open walnut door">
            <a:extLst xmlns:a="http://schemas.openxmlformats.org/drawingml/2006/main">
              <a:ext uri="{FF2B5EF4-FFF2-40B4-BE49-F238E27FC236}">
                <a16:creationId xmlns:a16="http://schemas.microsoft.com/office/drawing/2014/main" id="{051458D2-8DC7-49BB-83C0-B553995F02CA}"/>
              </a:ext>
            </a:extLst>
          </p:cNvPr>
          <p:cNvSpPr>
            <a:spLocks xmlns:a="http://schemas.openxmlformats.org/drawingml/2006/main" noGrp="1"/>
          </p:cNvSpPr>
          <p:nvPr/>
        </p:nvSpPr>
        <p:spPr>
          <a:xfrm xmlns:a="http://schemas.openxmlformats.org/drawingml/2006/main">
            <a:off x="323850" y="5943600"/>
            <a:ext cx="304800" cy="1543050"/>
          </a:xfrm>
          <a:prstGeom xmlns:a="http://schemas.openxmlformats.org/drawingml/2006/main" prst="rect">
            <a:avLst/>
          </a:prstGeom>
          <a:solidFill xmlns:a="http://schemas.openxmlformats.org/drawingml/2006/main">
            <a:srgbClr val="875B3D"/>
          </a:solidFill>
          <a:ln xmlns:a="http://schemas.openxmlformats.org/drawingml/2006/main" w="14288">
            <a:solidFill>
              <a:srgbClr val="6B5543"/>
            </a:solidFill>
            <a:prstDash val="solid"/>
          </a:ln>
        </p:spPr>
      </p:sp>
      <p:sp>
        <p:nvSpPr>
          <p:cNvPr id="103" name="R1 corner access handle">
            <a:extLst xmlns:a="http://schemas.openxmlformats.org/drawingml/2006/main">
              <a:ext uri="{FF2B5EF4-FFF2-40B4-BE49-F238E27FC236}">
                <a16:creationId xmlns:a16="http://schemas.microsoft.com/office/drawing/2014/main" id="{5B07992C-FFB0-460D-B5DB-DA1F3BC350AE}"/>
              </a:ext>
            </a:extLst>
          </p:cNvPr>
          <p:cNvSpPr>
            <a:spLocks xmlns:a="http://schemas.openxmlformats.org/drawingml/2006/main" noGrp="1"/>
          </p:cNvSpPr>
          <p:nvPr/>
        </p:nvSpPr>
        <p:spPr>
          <a:xfrm xmlns:a="http://schemas.openxmlformats.org/drawingml/2006/main">
            <a:off x="390525" y="6343650"/>
            <a:ext cx="1714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104" name="R1 corner access pivot">
            <a:extLst xmlns:a="http://schemas.openxmlformats.org/drawingml/2006/main">
              <a:ext uri="{FF2B5EF4-FFF2-40B4-BE49-F238E27FC236}">
                <a16:creationId xmlns:a16="http://schemas.microsoft.com/office/drawing/2014/main" id="{EC091248-BDF0-4903-BDB4-9D0A2BA317E7}"/>
              </a:ext>
            </a:extLst>
          </p:cNvPr>
          <p:cNvSpPr>
            <a:spLocks xmlns:a="http://schemas.openxmlformats.org/drawingml/2006/main" noGrp="1"/>
          </p:cNvSpPr>
          <p:nvPr/>
        </p:nvSpPr>
        <p:spPr>
          <a:xfrm xmlns:a="http://schemas.openxmlformats.org/drawingml/2006/main" flipH="0" flipV="0">
            <a:off x="1108710" y="6096000"/>
            <a:ext cx="0" cy="1295400"/>
          </a:xfrm>
          <a:prstGeom xmlns:a="http://schemas.openxmlformats.org/drawingml/2006/main" prst="line">
            <a:avLst/>
          </a:prstGeom>
          <a:noFill xmlns:a="http://schemas.openxmlformats.org/drawingml/2006/main"/>
          <a:ln xmlns:a="http://schemas.openxmlformats.org/drawingml/2006/main" w="57150">
            <a:solidFill>
              <a:srgbClr val="A8ADB0"/>
            </a:solidFill>
            <a:prstDash val="solid"/>
          </a:ln>
        </p:spPr>
      </p:sp>
      <p:sp>
        <p:nvSpPr>
          <p:cNvPr id="105" name="R1 corner access upper swing tray">
            <a:extLst xmlns:a="http://schemas.openxmlformats.org/drawingml/2006/main">
              <a:ext uri="{FF2B5EF4-FFF2-40B4-BE49-F238E27FC236}">
                <a16:creationId xmlns:a16="http://schemas.microsoft.com/office/drawing/2014/main" id="{4D7E98BC-B1B4-4747-9CA7-B0C05B02B515}"/>
              </a:ext>
            </a:extLst>
          </p:cNvPr>
          <p:cNvSpPr>
            <a:spLocks xmlns:a="http://schemas.openxmlformats.org/drawingml/2006/main" noGrp="1"/>
          </p:cNvSpPr>
          <p:nvPr/>
        </p:nvSpPr>
        <p:spPr>
          <a:xfrm xmlns:a="http://schemas.openxmlformats.org/drawingml/2006/main">
            <a:off x="804863" y="6276975"/>
            <a:ext cx="2458403" cy="447484"/>
          </a:xfrm>
          <a:custGeom xmlns:a="http://schemas.openxmlformats.org/drawingml/2006/main">
            <a:pathLst>
              <a:path w="2458403" h="447484">
                <a:moveTo>
                  <a:pt x="0" y="89497"/>
                </a:moveTo>
                <a:lnTo>
                  <a:pt x="442512" y="0"/>
                </a:lnTo>
                <a:lnTo>
                  <a:pt x="1475042" y="17899"/>
                </a:lnTo>
                <a:lnTo>
                  <a:pt x="2310898" y="125296"/>
                </a:lnTo>
                <a:lnTo>
                  <a:pt x="2458403" y="290865"/>
                </a:lnTo>
                <a:lnTo>
                  <a:pt x="1868386" y="447484"/>
                </a:lnTo>
                <a:lnTo>
                  <a:pt x="860441" y="402736"/>
                </a:lnTo>
                <a:lnTo>
                  <a:pt x="614601" y="268491"/>
                </a:lnTo>
                <a:lnTo>
                  <a:pt x="295008" y="232692"/>
                </a:lnTo>
                <a:lnTo>
                  <a:pt x="0" y="290865"/>
                </a:lnTo>
                <a:close/>
              </a:path>
            </a:pathLst>
          </a:custGeom>
          <a:solidFill xmlns:a="http://schemas.openxmlformats.org/drawingml/2006/main">
            <a:srgbClr val="D6D5D0"/>
          </a:solidFill>
          <a:ln xmlns:a="http://schemas.openxmlformats.org/drawingml/2006/main" w="28575">
            <a:solidFill>
              <a:srgbClr val="A8ADB0"/>
            </a:solidFill>
          </a:ln>
        </p:spPr>
      </p:sp>
      <p:sp>
        <p:nvSpPr>
          <p:cNvPr id="106" name="R1 corner access upper swing tray guard">
            <a:extLst xmlns:a="http://schemas.openxmlformats.org/drawingml/2006/main">
              <a:ext uri="{FF2B5EF4-FFF2-40B4-BE49-F238E27FC236}">
                <a16:creationId xmlns:a16="http://schemas.microsoft.com/office/drawing/2014/main" id="{B5B7D6FD-F1D1-455C-8EB0-51FBB170E1F4}"/>
              </a:ext>
            </a:extLst>
          </p:cNvPr>
          <p:cNvSpPr>
            <a:spLocks xmlns:a="http://schemas.openxmlformats.org/drawingml/2006/main" noGrp="1"/>
          </p:cNvSpPr>
          <p:nvPr/>
        </p:nvSpPr>
        <p:spPr>
          <a:xfrm xmlns:a="http://schemas.openxmlformats.org/drawingml/2006/main" flipH="0" flipV="0">
            <a:off x="900113" y="6433595"/>
            <a:ext cx="2229803" cy="89497"/>
          </a:xfrm>
          <a:prstGeom xmlns:a="http://schemas.openxmlformats.org/drawingml/2006/main" prst="line">
            <a:avLst/>
          </a:prstGeom>
          <a:noFill xmlns:a="http://schemas.openxmlformats.org/drawingml/2006/main"/>
          <a:ln xmlns:a="http://schemas.openxmlformats.org/drawingml/2006/main" w="9525">
            <a:solidFill>
              <a:srgbClr val="292B2D"/>
            </a:solidFill>
            <a:prstDash val="solid"/>
          </a:ln>
        </p:spPr>
      </p:sp>
      <p:sp>
        <p:nvSpPr>
          <p:cNvPr id="107" name="R1 corner access lower swing tray">
            <a:extLst xmlns:a="http://schemas.openxmlformats.org/drawingml/2006/main">
              <a:ext uri="{FF2B5EF4-FFF2-40B4-BE49-F238E27FC236}">
                <a16:creationId xmlns:a16="http://schemas.microsoft.com/office/drawing/2014/main" id="{2FECEDF4-9744-4C51-B498-BD83EE8EF70A}"/>
              </a:ext>
            </a:extLst>
          </p:cNvPr>
          <p:cNvSpPr>
            <a:spLocks xmlns:a="http://schemas.openxmlformats.org/drawingml/2006/main" noGrp="1"/>
          </p:cNvSpPr>
          <p:nvPr/>
        </p:nvSpPr>
        <p:spPr>
          <a:xfrm xmlns:a="http://schemas.openxmlformats.org/drawingml/2006/main">
            <a:off x="804863" y="6823139"/>
            <a:ext cx="2458403" cy="447484"/>
          </a:xfrm>
          <a:custGeom xmlns:a="http://schemas.openxmlformats.org/drawingml/2006/main">
            <a:pathLst>
              <a:path w="2458403" h="447484">
                <a:moveTo>
                  <a:pt x="0" y="89497"/>
                </a:moveTo>
                <a:lnTo>
                  <a:pt x="442512" y="0"/>
                </a:lnTo>
                <a:lnTo>
                  <a:pt x="1475042" y="17899"/>
                </a:lnTo>
                <a:lnTo>
                  <a:pt x="2310898" y="125296"/>
                </a:lnTo>
                <a:lnTo>
                  <a:pt x="2458403" y="290865"/>
                </a:lnTo>
                <a:lnTo>
                  <a:pt x="1868386" y="447484"/>
                </a:lnTo>
                <a:lnTo>
                  <a:pt x="860441" y="402736"/>
                </a:lnTo>
                <a:lnTo>
                  <a:pt x="614601" y="268491"/>
                </a:lnTo>
                <a:lnTo>
                  <a:pt x="295008" y="232692"/>
                </a:lnTo>
                <a:lnTo>
                  <a:pt x="0" y="290865"/>
                </a:lnTo>
                <a:close/>
              </a:path>
            </a:pathLst>
          </a:custGeom>
          <a:solidFill xmlns:a="http://schemas.openxmlformats.org/drawingml/2006/main">
            <a:srgbClr val="D6D5D0"/>
          </a:solidFill>
          <a:ln xmlns:a="http://schemas.openxmlformats.org/drawingml/2006/main" w="28575">
            <a:solidFill>
              <a:srgbClr val="A8ADB0"/>
            </a:solidFill>
          </a:ln>
        </p:spPr>
      </p:sp>
      <p:sp>
        <p:nvSpPr>
          <p:cNvPr id="108" name="R1 corner access lower swing tray guard">
            <a:extLst xmlns:a="http://schemas.openxmlformats.org/drawingml/2006/main">
              <a:ext uri="{FF2B5EF4-FFF2-40B4-BE49-F238E27FC236}">
                <a16:creationId xmlns:a16="http://schemas.microsoft.com/office/drawing/2014/main" id="{90E8B8E0-4C90-4B8F-88C7-9DE9CE8A84FF}"/>
              </a:ext>
            </a:extLst>
          </p:cNvPr>
          <p:cNvSpPr>
            <a:spLocks xmlns:a="http://schemas.openxmlformats.org/drawingml/2006/main" noGrp="1"/>
          </p:cNvSpPr>
          <p:nvPr/>
        </p:nvSpPr>
        <p:spPr>
          <a:xfrm xmlns:a="http://schemas.openxmlformats.org/drawingml/2006/main" flipH="0" flipV="0">
            <a:off x="900113" y="6979758"/>
            <a:ext cx="2229803" cy="89497"/>
          </a:xfrm>
          <a:prstGeom xmlns:a="http://schemas.openxmlformats.org/drawingml/2006/main" prst="line">
            <a:avLst/>
          </a:prstGeom>
          <a:noFill xmlns:a="http://schemas.openxmlformats.org/drawingml/2006/main"/>
          <a:ln xmlns:a="http://schemas.openxmlformats.org/drawingml/2006/main" w="9525">
            <a:solidFill>
              <a:srgbClr val="292B2D"/>
            </a:solidFill>
            <a:prstDash val="solid"/>
          </a:ln>
        </p:spPr>
      </p:sp>
      <p:sp>
        <p:nvSpPr>
          <p:cNvPr id="109" name="R1 corner access pan 0">
            <a:extLst xmlns:a="http://schemas.openxmlformats.org/drawingml/2006/main">
              <a:ext uri="{FF2B5EF4-FFF2-40B4-BE49-F238E27FC236}">
                <a16:creationId xmlns:a16="http://schemas.microsoft.com/office/drawing/2014/main" id="{C42DAE8A-ADE5-4E1D-BC14-30917683E220}"/>
              </a:ext>
            </a:extLst>
          </p:cNvPr>
          <p:cNvSpPr>
            <a:spLocks xmlns:a="http://schemas.openxmlformats.org/drawingml/2006/main" noGrp="1"/>
          </p:cNvSpPr>
          <p:nvPr/>
        </p:nvSpPr>
        <p:spPr>
          <a:xfrm xmlns:a="http://schemas.openxmlformats.org/drawingml/2006/main">
            <a:off x="1495425" y="6343650"/>
            <a:ext cx="801053" cy="231458"/>
          </a:xfrm>
          <a:prstGeom xmlns:a="http://schemas.openxmlformats.org/drawingml/2006/main" prst="ellipse">
            <a:avLst/>
          </a:prstGeom>
          <a:solidFill xmlns:a="http://schemas.openxmlformats.org/drawingml/2006/main">
            <a:srgbClr val="A8ADB0"/>
          </a:solidFill>
          <a:ln xmlns:a="http://schemas.openxmlformats.org/drawingml/2006/main" w="19050">
            <a:solidFill>
              <a:srgbClr val="292B2D"/>
            </a:solidFill>
            <a:prstDash val="solid"/>
          </a:ln>
        </p:spPr>
      </p:sp>
      <p:sp>
        <p:nvSpPr>
          <p:cNvPr id="110" name="R1 corner access pan 1">
            <a:extLst xmlns:a="http://schemas.openxmlformats.org/drawingml/2006/main">
              <a:ext uri="{FF2B5EF4-FFF2-40B4-BE49-F238E27FC236}">
                <a16:creationId xmlns:a16="http://schemas.microsoft.com/office/drawing/2014/main" id="{49D57D2C-75F2-4E78-9E85-24E045B5175B}"/>
              </a:ext>
            </a:extLst>
          </p:cNvPr>
          <p:cNvSpPr>
            <a:spLocks xmlns:a="http://schemas.openxmlformats.org/drawingml/2006/main" noGrp="1"/>
          </p:cNvSpPr>
          <p:nvPr/>
        </p:nvSpPr>
        <p:spPr>
          <a:xfrm xmlns:a="http://schemas.openxmlformats.org/drawingml/2006/main">
            <a:off x="1495425" y="7146036"/>
            <a:ext cx="801053" cy="231458"/>
          </a:xfrm>
          <a:prstGeom xmlns:a="http://schemas.openxmlformats.org/drawingml/2006/main" prst="ellipse">
            <a:avLst/>
          </a:prstGeom>
          <a:solidFill xmlns:a="http://schemas.openxmlformats.org/drawingml/2006/main">
            <a:srgbClr val="A8ADB0"/>
          </a:solidFill>
          <a:ln xmlns:a="http://schemas.openxmlformats.org/drawingml/2006/main" w="19050">
            <a:solidFill>
              <a:srgbClr val="292B2D"/>
            </a:solidFill>
            <a:prstDash val="solid"/>
          </a:ln>
        </p:spPr>
      </p:sp>
      <p:sp>
        <p:nvSpPr>
          <p:cNvPr id="111" name="R2 sink base left shutter">
            <a:extLst xmlns:a="http://schemas.openxmlformats.org/drawingml/2006/main">
              <a:ext uri="{FF2B5EF4-FFF2-40B4-BE49-F238E27FC236}">
                <a16:creationId xmlns:a16="http://schemas.microsoft.com/office/drawing/2014/main" id="{A59141CF-068A-4A62-81C3-FE5E11B49C10}"/>
              </a:ext>
            </a:extLst>
          </p:cNvPr>
          <p:cNvSpPr>
            <a:spLocks xmlns:a="http://schemas.openxmlformats.org/drawingml/2006/main" noGrp="1"/>
          </p:cNvSpPr>
          <p:nvPr/>
        </p:nvSpPr>
        <p:spPr>
          <a:xfrm xmlns:a="http://schemas.openxmlformats.org/drawingml/2006/main">
            <a:off x="3429000" y="5943600"/>
            <a:ext cx="1952625" cy="1543050"/>
          </a:xfrm>
          <a:prstGeom xmlns:a="http://schemas.openxmlformats.org/drawingml/2006/main" prst="rect">
            <a:avLst/>
          </a:prstGeom>
          <a:solidFill xmlns:a="http://schemas.openxmlformats.org/drawingml/2006/main">
            <a:srgbClr val="875B3D"/>
          </a:solidFill>
          <a:ln xmlns:a="http://schemas.openxmlformats.org/drawingml/2006/main" w="14288">
            <a:solidFill>
              <a:srgbClr val="6B5543"/>
            </a:solidFill>
            <a:prstDash val="solid"/>
          </a:ln>
        </p:spPr>
      </p:sp>
      <p:sp>
        <p:nvSpPr>
          <p:cNvPr id="112" name="R2 sink base left handle">
            <a:extLst xmlns:a="http://schemas.openxmlformats.org/drawingml/2006/main">
              <a:ext uri="{FF2B5EF4-FFF2-40B4-BE49-F238E27FC236}">
                <a16:creationId xmlns:a16="http://schemas.microsoft.com/office/drawing/2014/main" id="{AD2C713A-711F-4D0D-9688-BC61F2C61737}"/>
              </a:ext>
            </a:extLst>
          </p:cNvPr>
          <p:cNvSpPr>
            <a:spLocks xmlns:a="http://schemas.openxmlformats.org/drawingml/2006/main" noGrp="1"/>
          </p:cNvSpPr>
          <p:nvPr/>
        </p:nvSpPr>
        <p:spPr>
          <a:xfrm xmlns:a="http://schemas.openxmlformats.org/drawingml/2006/main">
            <a:off x="4205288" y="72771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113" name="R2 sink base right shutter">
            <a:extLst xmlns:a="http://schemas.openxmlformats.org/drawingml/2006/main">
              <a:ext uri="{FF2B5EF4-FFF2-40B4-BE49-F238E27FC236}">
                <a16:creationId xmlns:a16="http://schemas.microsoft.com/office/drawing/2014/main" id="{74CDC47D-49FF-4823-8023-F59795A81398}"/>
              </a:ext>
            </a:extLst>
          </p:cNvPr>
          <p:cNvSpPr>
            <a:spLocks xmlns:a="http://schemas.openxmlformats.org/drawingml/2006/main" noGrp="1"/>
          </p:cNvSpPr>
          <p:nvPr/>
        </p:nvSpPr>
        <p:spPr>
          <a:xfrm xmlns:a="http://schemas.openxmlformats.org/drawingml/2006/main">
            <a:off x="5381625" y="5943600"/>
            <a:ext cx="1952625" cy="1543050"/>
          </a:xfrm>
          <a:prstGeom xmlns:a="http://schemas.openxmlformats.org/drawingml/2006/main" prst="rect">
            <a:avLst/>
          </a:prstGeom>
          <a:solidFill xmlns:a="http://schemas.openxmlformats.org/drawingml/2006/main">
            <a:srgbClr val="875B3D"/>
          </a:solidFill>
          <a:ln xmlns:a="http://schemas.openxmlformats.org/drawingml/2006/main" w="14288">
            <a:solidFill>
              <a:srgbClr val="6B5543"/>
            </a:solidFill>
            <a:prstDash val="solid"/>
          </a:ln>
        </p:spPr>
      </p:sp>
      <p:sp>
        <p:nvSpPr>
          <p:cNvPr id="114" name="R2 sink base right handle">
            <a:extLst xmlns:a="http://schemas.openxmlformats.org/drawingml/2006/main">
              <a:ext uri="{FF2B5EF4-FFF2-40B4-BE49-F238E27FC236}">
                <a16:creationId xmlns:a16="http://schemas.microsoft.com/office/drawing/2014/main" id="{937D069F-F1A6-45F6-BA8A-023C23D4328B}"/>
              </a:ext>
            </a:extLst>
          </p:cNvPr>
          <p:cNvSpPr>
            <a:spLocks xmlns:a="http://schemas.openxmlformats.org/drawingml/2006/main" noGrp="1"/>
          </p:cNvSpPr>
          <p:nvPr/>
        </p:nvSpPr>
        <p:spPr>
          <a:xfrm xmlns:a="http://schemas.openxmlformats.org/drawingml/2006/main">
            <a:off x="6157913" y="7277100"/>
            <a:ext cx="4000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115" name="R3 mini geyser service compartment">
            <a:extLst xmlns:a="http://schemas.openxmlformats.org/drawingml/2006/main">
              <a:ext uri="{FF2B5EF4-FFF2-40B4-BE49-F238E27FC236}">
                <a16:creationId xmlns:a16="http://schemas.microsoft.com/office/drawing/2014/main" id="{DA37E212-6DAB-434A-8C23-64783D3EE0BC}"/>
              </a:ext>
            </a:extLst>
          </p:cNvPr>
          <p:cNvSpPr>
            <a:spLocks xmlns:a="http://schemas.openxmlformats.org/drawingml/2006/main" noGrp="1"/>
          </p:cNvSpPr>
          <p:nvPr/>
        </p:nvSpPr>
        <p:spPr>
          <a:xfrm xmlns:a="http://schemas.openxmlformats.org/drawingml/2006/main">
            <a:off x="7334250" y="5943600"/>
            <a:ext cx="1476375" cy="1543050"/>
          </a:xfrm>
          <a:prstGeom xmlns:a="http://schemas.openxmlformats.org/drawingml/2006/main" prst="rect">
            <a:avLst/>
          </a:prstGeom>
          <a:solidFill xmlns:a="http://schemas.openxmlformats.org/drawingml/2006/main">
            <a:srgbClr val="E7D7C2"/>
          </a:solidFill>
          <a:ln xmlns:a="http://schemas.openxmlformats.org/drawingml/2006/main" w="14288">
            <a:solidFill>
              <a:srgbClr val="6B5543"/>
            </a:solidFill>
            <a:prstDash val="solid"/>
          </a:ln>
        </p:spPr>
      </p:sp>
      <p:sp>
        <p:nvSpPr>
          <p:cNvPr id="116" name="R3 mini geyser open door">
            <a:extLst xmlns:a="http://schemas.openxmlformats.org/drawingml/2006/main">
              <a:ext uri="{FF2B5EF4-FFF2-40B4-BE49-F238E27FC236}">
                <a16:creationId xmlns:a16="http://schemas.microsoft.com/office/drawing/2014/main" id="{82A7E900-2F29-4BF6-8257-AF0D9EF3CF8C}"/>
              </a:ext>
            </a:extLst>
          </p:cNvPr>
          <p:cNvSpPr>
            <a:spLocks xmlns:a="http://schemas.openxmlformats.org/drawingml/2006/main" noGrp="1"/>
          </p:cNvSpPr>
          <p:nvPr/>
        </p:nvSpPr>
        <p:spPr>
          <a:xfrm xmlns:a="http://schemas.openxmlformats.org/drawingml/2006/main">
            <a:off x="7058025" y="5943600"/>
            <a:ext cx="238125" cy="1543050"/>
          </a:xfrm>
          <a:prstGeom xmlns:a="http://schemas.openxmlformats.org/drawingml/2006/main" prst="rect">
            <a:avLst/>
          </a:prstGeom>
          <a:solidFill xmlns:a="http://schemas.openxmlformats.org/drawingml/2006/main">
            <a:srgbClr val="DCC6A8"/>
          </a:solidFill>
          <a:ln xmlns:a="http://schemas.openxmlformats.org/drawingml/2006/main" w="14288">
            <a:solidFill>
              <a:srgbClr val="6B5543"/>
            </a:solidFill>
            <a:prstDash val="solid"/>
          </a:ln>
        </p:spPr>
      </p:sp>
      <p:sp>
        <p:nvSpPr>
          <p:cNvPr id="117" name="R3 mini geyser open handle">
            <a:extLst xmlns:a="http://schemas.openxmlformats.org/drawingml/2006/main">
              <a:ext uri="{FF2B5EF4-FFF2-40B4-BE49-F238E27FC236}">
                <a16:creationId xmlns:a16="http://schemas.microsoft.com/office/drawing/2014/main" id="{88905BC0-3D0F-4D2D-86B8-01C697D36956}"/>
              </a:ext>
            </a:extLst>
          </p:cNvPr>
          <p:cNvSpPr>
            <a:spLocks xmlns:a="http://schemas.openxmlformats.org/drawingml/2006/main" noGrp="1"/>
          </p:cNvSpPr>
          <p:nvPr/>
        </p:nvSpPr>
        <p:spPr>
          <a:xfrm xmlns:a="http://schemas.openxmlformats.org/drawingml/2006/main">
            <a:off x="7115175" y="6372225"/>
            <a:ext cx="1333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118" name="R3 mini geyser unit">
            <a:extLst xmlns:a="http://schemas.openxmlformats.org/drawingml/2006/main">
              <a:ext uri="{FF2B5EF4-FFF2-40B4-BE49-F238E27FC236}">
                <a16:creationId xmlns:a16="http://schemas.microsoft.com/office/drawing/2014/main" id="{082A5904-EF90-4C7C-A1E2-046D95BF2A59}"/>
              </a:ext>
            </a:extLst>
          </p:cNvPr>
          <p:cNvSpPr>
            <a:spLocks xmlns:a="http://schemas.openxmlformats.org/drawingml/2006/main" noGrp="1"/>
          </p:cNvSpPr>
          <p:nvPr/>
        </p:nvSpPr>
        <p:spPr>
          <a:xfrm xmlns:a="http://schemas.openxmlformats.org/drawingml/2006/main">
            <a:off x="7614761" y="6153150"/>
            <a:ext cx="915353" cy="864108"/>
          </a:xfrm>
          <a:prstGeom xmlns:a="http://schemas.openxmlformats.org/drawingml/2006/main" prst="roundRect">
            <a:avLst>
              <a:gd name="adj" fmla="val 8818"/>
            </a:avLst>
          </a:prstGeom>
          <a:solidFill xmlns:a="http://schemas.openxmlformats.org/drawingml/2006/main">
            <a:srgbClr val="FFFFFF"/>
          </a:solidFill>
          <a:ln xmlns:a="http://schemas.openxmlformats.org/drawingml/2006/main" w="9525">
            <a:solidFill>
              <a:srgbClr val="A8ADB0"/>
            </a:solidFill>
            <a:prstDash val="solid"/>
          </a:ln>
        </p:spPr>
      </p:sp>
      <p:sp>
        <p:nvSpPr>
          <p:cNvPr id="119" name="R3 mini geyser control">
            <a:extLst xmlns:a="http://schemas.openxmlformats.org/drawingml/2006/main">
              <a:ext uri="{FF2B5EF4-FFF2-40B4-BE49-F238E27FC236}">
                <a16:creationId xmlns:a16="http://schemas.microsoft.com/office/drawing/2014/main" id="{51137018-FFF9-4DA4-A1AF-67ACABD59857}"/>
              </a:ext>
            </a:extLst>
          </p:cNvPr>
          <p:cNvSpPr>
            <a:spLocks xmlns:a="http://schemas.openxmlformats.org/drawingml/2006/main" noGrp="1"/>
          </p:cNvSpPr>
          <p:nvPr/>
        </p:nvSpPr>
        <p:spPr>
          <a:xfrm xmlns:a="http://schemas.openxmlformats.org/drawingml/2006/main">
            <a:off x="7977188" y="6486525"/>
            <a:ext cx="190500" cy="190500"/>
          </a:xfrm>
          <a:prstGeom xmlns:a="http://schemas.openxmlformats.org/drawingml/2006/main" prst="ellipse">
            <a:avLst/>
          </a:prstGeom>
          <a:noFill xmlns:a="http://schemas.openxmlformats.org/drawingml/2006/main"/>
          <a:ln xmlns:a="http://schemas.openxmlformats.org/drawingml/2006/main" w="9525">
            <a:solidFill>
              <a:srgbClr val="A8ADB0"/>
            </a:solidFill>
            <a:prstDash val="solid"/>
          </a:ln>
        </p:spPr>
      </p:sp>
      <p:sp>
        <p:nvSpPr>
          <p:cNvPr id="120" name="R3 mini geyser cold pipe">
            <a:extLst xmlns:a="http://schemas.openxmlformats.org/drawingml/2006/main">
              <a:ext uri="{FF2B5EF4-FFF2-40B4-BE49-F238E27FC236}">
                <a16:creationId xmlns:a16="http://schemas.microsoft.com/office/drawing/2014/main" id="{2DE1C713-75F1-45F7-B26F-60D995DA2A43}"/>
              </a:ext>
            </a:extLst>
          </p:cNvPr>
          <p:cNvSpPr>
            <a:spLocks xmlns:a="http://schemas.openxmlformats.org/drawingml/2006/main" noGrp="1"/>
          </p:cNvSpPr>
          <p:nvPr/>
        </p:nvSpPr>
        <p:spPr>
          <a:xfrm xmlns:a="http://schemas.openxmlformats.org/drawingml/2006/main" flipH="0" flipV="0">
            <a:off x="7954328" y="7017258"/>
            <a:ext cx="0" cy="221742"/>
          </a:xfrm>
          <a:prstGeom xmlns:a="http://schemas.openxmlformats.org/drawingml/2006/main" prst="line">
            <a:avLst/>
          </a:prstGeom>
          <a:noFill xmlns:a="http://schemas.openxmlformats.org/drawingml/2006/main"/>
          <a:ln xmlns:a="http://schemas.openxmlformats.org/drawingml/2006/main" w="28575">
            <a:solidFill>
              <a:srgbClr val="457A90"/>
            </a:solidFill>
            <a:prstDash val="solid"/>
          </a:ln>
        </p:spPr>
      </p:sp>
      <p:sp>
        <p:nvSpPr>
          <p:cNvPr id="121" name="R3 mini geyser hot pipe">
            <a:extLst xmlns:a="http://schemas.openxmlformats.org/drawingml/2006/main">
              <a:ext uri="{FF2B5EF4-FFF2-40B4-BE49-F238E27FC236}">
                <a16:creationId xmlns:a16="http://schemas.microsoft.com/office/drawing/2014/main" id="{2E22539C-4603-4F0A-863B-70E4F51C4719}"/>
              </a:ext>
            </a:extLst>
          </p:cNvPr>
          <p:cNvSpPr>
            <a:spLocks xmlns:a="http://schemas.openxmlformats.org/drawingml/2006/main" noGrp="1"/>
          </p:cNvSpPr>
          <p:nvPr/>
        </p:nvSpPr>
        <p:spPr>
          <a:xfrm xmlns:a="http://schemas.openxmlformats.org/drawingml/2006/main" flipH="0" flipV="0">
            <a:off x="8234839" y="7017258"/>
            <a:ext cx="0" cy="221742"/>
          </a:xfrm>
          <a:prstGeom xmlns:a="http://schemas.openxmlformats.org/drawingml/2006/main" prst="line">
            <a:avLst/>
          </a:prstGeom>
          <a:noFill xmlns:a="http://schemas.openxmlformats.org/drawingml/2006/main"/>
          <a:ln xmlns:a="http://schemas.openxmlformats.org/drawingml/2006/main" w="28575">
            <a:solidFill>
              <a:srgbClr val="B96B55"/>
            </a:solidFill>
            <a:prstDash val="solid"/>
          </a:ln>
        </p:spPr>
      </p:sp>
      <p:sp>
        <p:nvSpPr>
          <p:cNvPr id="122" name="R3 mini geyser bottom connections">
            <a:extLst xmlns:a="http://schemas.openxmlformats.org/drawingml/2006/main">
              <a:ext uri="{FF2B5EF4-FFF2-40B4-BE49-F238E27FC236}">
                <a16:creationId xmlns:a16="http://schemas.microsoft.com/office/drawing/2014/main" id="{0633CE9D-8245-4167-BDD9-9AC158BF4720}"/>
              </a:ext>
            </a:extLst>
          </p:cNvPr>
          <p:cNvSpPr>
            <a:spLocks xmlns:a="http://schemas.openxmlformats.org/drawingml/2006/main" noGrp="1"/>
          </p:cNvSpPr>
          <p:nvPr/>
        </p:nvSpPr>
        <p:spPr>
          <a:xfrm xmlns:a="http://schemas.openxmlformats.org/drawingml/2006/main" flipH="0" flipV="0">
            <a:off x="7954328" y="7239000"/>
            <a:ext cx="280511" cy="0"/>
          </a:xfrm>
          <a:prstGeom xmlns:a="http://schemas.openxmlformats.org/drawingml/2006/main" prst="line">
            <a:avLst/>
          </a:prstGeom>
          <a:noFill xmlns:a="http://schemas.openxmlformats.org/drawingml/2006/main"/>
          <a:ln xmlns:a="http://schemas.openxmlformats.org/drawingml/2006/main" w="28575">
            <a:solidFill>
              <a:srgbClr val="A8ADB0"/>
            </a:solidFill>
            <a:prstDash val="solid"/>
          </a:ln>
        </p:spPr>
      </p:sp>
      <p:sp>
        <p:nvSpPr>
          <p:cNvPr id="123" name="RO base plinth">
            <a:extLst xmlns:a="http://schemas.openxmlformats.org/drawingml/2006/main">
              <a:ext uri="{FF2B5EF4-FFF2-40B4-BE49-F238E27FC236}">
                <a16:creationId xmlns:a16="http://schemas.microsoft.com/office/drawing/2014/main" id="{0582360A-2B72-40D9-BE91-26BBBFC300B6}"/>
              </a:ext>
            </a:extLst>
          </p:cNvPr>
          <p:cNvSpPr>
            <a:spLocks xmlns:a="http://schemas.openxmlformats.org/drawingml/2006/main" noGrp="1"/>
          </p:cNvSpPr>
          <p:nvPr/>
        </p:nvSpPr>
        <p:spPr>
          <a:xfrm xmlns:a="http://schemas.openxmlformats.org/drawingml/2006/main">
            <a:off x="666750" y="7486650"/>
            <a:ext cx="8143875" cy="114300"/>
          </a:xfrm>
          <a:prstGeom xmlns:a="http://schemas.openxmlformats.org/drawingml/2006/main" prst="rect">
            <a:avLst/>
          </a:prstGeom>
          <a:solidFill xmlns:a="http://schemas.openxmlformats.org/drawingml/2006/main">
            <a:srgbClr val="292B2D"/>
          </a:solidFill>
          <a:ln xmlns:a="http://schemas.openxmlformats.org/drawingml/2006/main" w="9525">
            <a:solidFill>
              <a:srgbClr val="292B2D"/>
            </a:solidFill>
            <a:prstDash val="solid"/>
          </a:ln>
        </p:spPr>
      </p:sp>
      <p:sp>
        <p:nvSpPr>
          <p:cNvPr id="124" name="R4 refrigerator upper">
            <a:extLst xmlns:a="http://schemas.openxmlformats.org/drawingml/2006/main">
              <a:ext uri="{FF2B5EF4-FFF2-40B4-BE49-F238E27FC236}">
                <a16:creationId xmlns:a16="http://schemas.microsoft.com/office/drawing/2014/main" id="{34CDE6DC-CC8C-4DDE-87CD-4630C263A49C}"/>
              </a:ext>
            </a:extLst>
          </p:cNvPr>
          <p:cNvSpPr>
            <a:spLocks xmlns:a="http://schemas.openxmlformats.org/drawingml/2006/main" noGrp="1"/>
          </p:cNvSpPr>
          <p:nvPr/>
        </p:nvSpPr>
        <p:spPr>
          <a:xfrm xmlns:a="http://schemas.openxmlformats.org/drawingml/2006/main">
            <a:off x="8810625" y="3143250"/>
            <a:ext cx="2714625" cy="1428750"/>
          </a:xfrm>
          <a:prstGeom xmlns:a="http://schemas.openxmlformats.org/drawingml/2006/main" prst="rect">
            <a:avLst/>
          </a:prstGeom>
          <a:solidFill xmlns:a="http://schemas.openxmlformats.org/drawingml/2006/main">
            <a:srgbClr val="A8ADB0"/>
          </a:solidFill>
          <a:ln xmlns:a="http://schemas.openxmlformats.org/drawingml/2006/main" w="19050">
            <a:solidFill>
              <a:srgbClr val="292B2D"/>
            </a:solidFill>
            <a:prstDash val="solid"/>
          </a:ln>
        </p:spPr>
      </p:sp>
      <p:sp>
        <p:nvSpPr>
          <p:cNvPr id="125" name="R4 refrigerator lower">
            <a:extLst xmlns:a="http://schemas.openxmlformats.org/drawingml/2006/main">
              <a:ext uri="{FF2B5EF4-FFF2-40B4-BE49-F238E27FC236}">
                <a16:creationId xmlns:a16="http://schemas.microsoft.com/office/drawing/2014/main" id="{85AE49D7-000B-41D3-B50B-F4E6EEFFB303}"/>
              </a:ext>
            </a:extLst>
          </p:cNvPr>
          <p:cNvSpPr>
            <a:spLocks xmlns:a="http://schemas.openxmlformats.org/drawingml/2006/main" noGrp="1"/>
          </p:cNvSpPr>
          <p:nvPr/>
        </p:nvSpPr>
        <p:spPr>
          <a:xfrm xmlns:a="http://schemas.openxmlformats.org/drawingml/2006/main">
            <a:off x="8810625" y="4572000"/>
            <a:ext cx="2714625" cy="3028950"/>
          </a:xfrm>
          <a:prstGeom xmlns:a="http://schemas.openxmlformats.org/drawingml/2006/main" prst="rect">
            <a:avLst/>
          </a:prstGeom>
          <a:solidFill xmlns:a="http://schemas.openxmlformats.org/drawingml/2006/main">
            <a:srgbClr val="A8ADB0"/>
          </a:solidFill>
          <a:ln xmlns:a="http://schemas.openxmlformats.org/drawingml/2006/main" w="19050">
            <a:solidFill>
              <a:srgbClr val="292B2D"/>
            </a:solidFill>
            <a:prstDash val="solid"/>
          </a:ln>
        </p:spPr>
      </p:sp>
      <p:sp>
        <p:nvSpPr>
          <p:cNvPr id="126" name="R4 upper handle">
            <a:extLst xmlns:a="http://schemas.openxmlformats.org/drawingml/2006/main">
              <a:ext uri="{FF2B5EF4-FFF2-40B4-BE49-F238E27FC236}">
                <a16:creationId xmlns:a16="http://schemas.microsoft.com/office/drawing/2014/main" id="{56D9E2C9-000C-4EAD-94FC-0DC8EEADB96A}"/>
              </a:ext>
            </a:extLst>
          </p:cNvPr>
          <p:cNvSpPr>
            <a:spLocks xmlns:a="http://schemas.openxmlformats.org/drawingml/2006/main" noGrp="1"/>
          </p:cNvSpPr>
          <p:nvPr/>
        </p:nvSpPr>
        <p:spPr>
          <a:xfrm xmlns:a="http://schemas.openxmlformats.org/drawingml/2006/main" flipH="0" flipV="0">
            <a:off x="8953500" y="3495675"/>
            <a:ext cx="0" cy="600075"/>
          </a:xfrm>
          <a:prstGeom xmlns:a="http://schemas.openxmlformats.org/drawingml/2006/main" prst="line">
            <a:avLst/>
          </a:prstGeom>
          <a:noFill xmlns:a="http://schemas.openxmlformats.org/drawingml/2006/main"/>
          <a:ln xmlns:a="http://schemas.openxmlformats.org/drawingml/2006/main" w="38100">
            <a:solidFill>
              <a:srgbClr val="292B2D"/>
            </a:solidFill>
            <a:prstDash val="solid"/>
          </a:ln>
        </p:spPr>
      </p:sp>
      <p:sp>
        <p:nvSpPr>
          <p:cNvPr id="127" name="R4 lower handle">
            <a:extLst xmlns:a="http://schemas.openxmlformats.org/drawingml/2006/main">
              <a:ext uri="{FF2B5EF4-FFF2-40B4-BE49-F238E27FC236}">
                <a16:creationId xmlns:a16="http://schemas.microsoft.com/office/drawing/2014/main" id="{A3967245-A972-4946-9B65-93170E400619}"/>
              </a:ext>
            </a:extLst>
          </p:cNvPr>
          <p:cNvSpPr>
            <a:spLocks xmlns:a="http://schemas.openxmlformats.org/drawingml/2006/main" noGrp="1"/>
          </p:cNvSpPr>
          <p:nvPr/>
        </p:nvSpPr>
        <p:spPr>
          <a:xfrm xmlns:a="http://schemas.openxmlformats.org/drawingml/2006/main" flipH="0" flipV="0">
            <a:off x="8953500" y="4857750"/>
            <a:ext cx="0" cy="952500"/>
          </a:xfrm>
          <a:prstGeom xmlns:a="http://schemas.openxmlformats.org/drawingml/2006/main" prst="line">
            <a:avLst/>
          </a:prstGeom>
          <a:noFill xmlns:a="http://schemas.openxmlformats.org/drawingml/2006/main"/>
          <a:ln xmlns:a="http://schemas.openxmlformats.org/drawingml/2006/main" w="38100">
            <a:solidFill>
              <a:srgbClr val="292B2D"/>
            </a:solidFill>
            <a:prstDash val="solid"/>
          </a:ln>
        </p:spPr>
      </p:sp>
      <p:sp>
        <p:nvSpPr>
          <p:cNvPr id="128" name="Refrigerator label">
            <a:extLst xmlns:a="http://schemas.openxmlformats.org/drawingml/2006/main">
              <a:ext uri="{FF2B5EF4-FFF2-40B4-BE49-F238E27FC236}">
                <a16:creationId xmlns:a16="http://schemas.microsoft.com/office/drawing/2014/main" id="{0495BDFD-69C7-4321-8C80-AD18D35136CF}"/>
              </a:ext>
            </a:extLst>
          </p:cNvPr>
          <p:cNvSpPr>
            <a:spLocks xmlns:a="http://schemas.openxmlformats.org/drawingml/2006/main" noGrp="1"/>
          </p:cNvSpPr>
          <p:nvPr/>
        </p:nvSpPr>
        <p:spPr>
          <a:xfrm xmlns:a="http://schemas.openxmlformats.org/drawingml/2006/main">
            <a:off x="9001125" y="6105525"/>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1">
                <a:solidFill>
                  <a:srgbClr val="292B2D"/>
                </a:solidFill>
                <a:latin typeface="Helvetica Neue"/>
                <a:ea typeface="Helvetica Neue"/>
                <a:cs typeface="Helvetica Neue"/>
              </a:defRPr>
            </a:pPr>
            <a:r>
              <a:rPr sz="2025" b="1">
                <a:solidFill>
                  <a:srgbClr val="292B2D"/>
                </a:solidFill>
                <a:latin typeface="Helvetica Neue"/>
                <a:ea typeface="Helvetica Neue"/>
                <a:cs typeface="Helvetica Neue"/>
              </a:rPr>
              <a:t>Fridge</a:t>
            </a:r>
          </a:p>
        </p:txBody>
      </p:sp>
      <p:sp>
        <p:nvSpPr>
          <p:cNvPr id="129" name="Sink/rack left alignment">
            <a:extLst xmlns:a="http://schemas.openxmlformats.org/drawingml/2006/main">
              <a:ext uri="{FF2B5EF4-FFF2-40B4-BE49-F238E27FC236}">
                <a16:creationId xmlns:a16="http://schemas.microsoft.com/office/drawing/2014/main" id="{A8DC8805-F3C6-46E9-99A7-79FD0626F7B9}"/>
              </a:ext>
            </a:extLst>
          </p:cNvPr>
          <p:cNvSpPr>
            <a:spLocks xmlns:a="http://schemas.openxmlformats.org/drawingml/2006/main" noGrp="1"/>
          </p:cNvSpPr>
          <p:nvPr/>
        </p:nvSpPr>
        <p:spPr>
          <a:xfrm xmlns:a="http://schemas.openxmlformats.org/drawingml/2006/main" flipH="0" flipV="0">
            <a:off x="3429000" y="4514850"/>
            <a:ext cx="0" cy="1181100"/>
          </a:xfrm>
          <a:prstGeom xmlns:a="http://schemas.openxmlformats.org/drawingml/2006/main" prst="line">
            <a:avLst/>
          </a:prstGeom>
          <a:noFill xmlns:a="http://schemas.openxmlformats.org/drawingml/2006/main"/>
          <a:ln xmlns:a="http://schemas.openxmlformats.org/drawingml/2006/main" w="15240">
            <a:solidFill>
              <a:srgbClr val="457A90"/>
            </a:solidFill>
            <a:prstDash val="solid"/>
          </a:ln>
        </p:spPr>
      </p:sp>
      <p:sp>
        <p:nvSpPr>
          <p:cNvPr id="130" name="Sink/rack right alignment">
            <a:extLst xmlns:a="http://schemas.openxmlformats.org/drawingml/2006/main">
              <a:ext uri="{FF2B5EF4-FFF2-40B4-BE49-F238E27FC236}">
                <a16:creationId xmlns:a16="http://schemas.microsoft.com/office/drawing/2014/main" id="{3C06A7ED-C70E-46B4-917A-957832A5CBE0}"/>
              </a:ext>
            </a:extLst>
          </p:cNvPr>
          <p:cNvSpPr>
            <a:spLocks xmlns:a="http://schemas.openxmlformats.org/drawingml/2006/main" noGrp="1"/>
          </p:cNvSpPr>
          <p:nvPr/>
        </p:nvSpPr>
        <p:spPr>
          <a:xfrm xmlns:a="http://schemas.openxmlformats.org/drawingml/2006/main" flipH="0" flipV="0">
            <a:off x="7334250" y="4514850"/>
            <a:ext cx="0" cy="1181100"/>
          </a:xfrm>
          <a:prstGeom xmlns:a="http://schemas.openxmlformats.org/drawingml/2006/main" prst="line">
            <a:avLst/>
          </a:prstGeom>
          <a:noFill xmlns:a="http://schemas.openxmlformats.org/drawingml/2006/main"/>
          <a:ln xmlns:a="http://schemas.openxmlformats.org/drawingml/2006/main" w="15240">
            <a:solidFill>
              <a:srgbClr val="457A90"/>
            </a:solidFill>
            <a:prstDash val="solid"/>
          </a:ln>
        </p:spPr>
      </p:sp>
      <p:sp>
        <p:nvSpPr>
          <p:cNvPr id="131" name="Rack sink alignment label">
            <a:extLst xmlns:a="http://schemas.openxmlformats.org/drawingml/2006/main">
              <a:ext uri="{FF2B5EF4-FFF2-40B4-BE49-F238E27FC236}">
                <a16:creationId xmlns:a16="http://schemas.microsoft.com/office/drawing/2014/main" id="{DB6855C5-774A-4855-92C6-4B1898CF24CC}"/>
              </a:ext>
            </a:extLst>
          </p:cNvPr>
          <p:cNvSpPr>
            <a:spLocks xmlns:a="http://schemas.openxmlformats.org/drawingml/2006/main" noGrp="1"/>
          </p:cNvSpPr>
          <p:nvPr/>
        </p:nvSpPr>
        <p:spPr>
          <a:xfrm xmlns:a="http://schemas.openxmlformats.org/drawingml/2006/main">
            <a:off x="3543300" y="4667250"/>
            <a:ext cx="36766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457A90"/>
                </a:solidFill>
                <a:latin typeface="Helvetica Neue"/>
                <a:ea typeface="Helvetica Neue"/>
                <a:cs typeface="Helvetica Neue"/>
              </a:defRPr>
            </a:pPr>
            <a:r>
              <a:rPr sz="1650" b="1">
                <a:solidFill>
                  <a:srgbClr val="457A90"/>
                </a:solidFill>
                <a:latin typeface="Helvetica Neue"/>
                <a:ea typeface="Helvetica Neue"/>
                <a:cs typeface="Helvetica Neue"/>
              </a:rPr>
              <a:t>Rack and sink share one width</a:t>
            </a:r>
          </a:p>
        </p:txBody>
      </p:sp>
      <p:sp>
        <p:nvSpPr>
          <p:cNvPr id="132" name="Corner access caption">
            <a:extLst xmlns:a="http://schemas.openxmlformats.org/drawingml/2006/main">
              <a:ext uri="{FF2B5EF4-FFF2-40B4-BE49-F238E27FC236}">
                <a16:creationId xmlns:a16="http://schemas.microsoft.com/office/drawing/2014/main" id="{F830A6E1-914E-4A1C-80E8-2F161C007915}"/>
              </a:ext>
            </a:extLst>
          </p:cNvPr>
          <p:cNvSpPr>
            <a:spLocks xmlns:a="http://schemas.openxmlformats.org/drawingml/2006/main" noGrp="1"/>
          </p:cNvSpPr>
          <p:nvPr/>
        </p:nvSpPr>
        <p:spPr>
          <a:xfrm xmlns:a="http://schemas.openxmlformats.org/drawingml/2006/main">
            <a:off x="866775" y="7686675"/>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92B2D"/>
                </a:solidFill>
                <a:latin typeface="Helvetica Neue"/>
                <a:ea typeface="Helvetica Neue"/>
                <a:cs typeface="Helvetica Neue"/>
              </a:defRPr>
            </a:pPr>
            <a:r>
              <a:rPr sz="1575" b="0">
                <a:solidFill>
                  <a:srgbClr val="292B2D"/>
                </a:solidFill>
                <a:latin typeface="Helvetica Neue"/>
                <a:ea typeface="Helvetica Neue"/>
                <a:cs typeface="Helvetica Neue"/>
              </a:rPr>
              <a:t>Swing-out trays</a:t>
            </a:r>
          </a:p>
        </p:txBody>
      </p:sp>
      <p:sp>
        <p:nvSpPr>
          <p:cNvPr id="133" name="Sink access caption">
            <a:extLst xmlns:a="http://schemas.openxmlformats.org/drawingml/2006/main">
              <a:ext uri="{FF2B5EF4-FFF2-40B4-BE49-F238E27FC236}">
                <a16:creationId xmlns:a16="http://schemas.microsoft.com/office/drawing/2014/main" id="{00F05E01-50C3-4DC7-9221-2A76B558B033}"/>
              </a:ext>
            </a:extLst>
          </p:cNvPr>
          <p:cNvSpPr>
            <a:spLocks xmlns:a="http://schemas.openxmlformats.org/drawingml/2006/main" noGrp="1"/>
          </p:cNvSpPr>
          <p:nvPr/>
        </p:nvSpPr>
        <p:spPr>
          <a:xfrm xmlns:a="http://schemas.openxmlformats.org/drawingml/2006/main">
            <a:off x="3686175" y="7686675"/>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92B2D"/>
                </a:solidFill>
                <a:latin typeface="Helvetica Neue"/>
                <a:ea typeface="Helvetica Neue"/>
                <a:cs typeface="Helvetica Neue"/>
              </a:defRPr>
            </a:pPr>
            <a:r>
              <a:rPr sz="1575" b="0">
                <a:solidFill>
                  <a:srgbClr val="292B2D"/>
                </a:solidFill>
                <a:latin typeface="Helvetica Neue"/>
                <a:ea typeface="Helvetica Neue"/>
                <a:cs typeface="Helvetica Neue"/>
              </a:rPr>
              <a:t>Sink plumbing cupboard</a:t>
            </a:r>
          </a:p>
        </p:txBody>
      </p:sp>
      <p:sp>
        <p:nvSpPr>
          <p:cNvPr id="134" name="Geyser caption">
            <a:extLst xmlns:a="http://schemas.openxmlformats.org/drawingml/2006/main">
              <a:ext uri="{FF2B5EF4-FFF2-40B4-BE49-F238E27FC236}">
                <a16:creationId xmlns:a16="http://schemas.microsoft.com/office/drawing/2014/main" id="{FF96FD33-A643-4A9A-97D6-B1DAEA386921}"/>
              </a:ext>
            </a:extLst>
          </p:cNvPr>
          <p:cNvSpPr>
            <a:spLocks xmlns:a="http://schemas.openxmlformats.org/drawingml/2006/main" noGrp="1"/>
          </p:cNvSpPr>
          <p:nvPr/>
        </p:nvSpPr>
        <p:spPr>
          <a:xfrm xmlns:a="http://schemas.openxmlformats.org/drawingml/2006/main">
            <a:off x="7419975" y="7686675"/>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92B2D"/>
                </a:solidFill>
                <a:latin typeface="Helvetica Neue"/>
                <a:ea typeface="Helvetica Neue"/>
                <a:cs typeface="Helvetica Neue"/>
              </a:defRPr>
            </a:pPr>
            <a:r>
              <a:rPr sz="1500" b="0">
                <a:solidFill>
                  <a:srgbClr val="292B2D"/>
                </a:solidFill>
                <a:latin typeface="Helvetica Neue"/>
                <a:ea typeface="Helvetica Neue"/>
                <a:cs typeface="Helvetica Neue"/>
              </a:rPr>
              <a:t>Mini geyser</a:t>
            </a:r>
          </a:p>
        </p:txBody>
      </p:sp>
    </p:spTree>
    <p:extLst>
      <p:ext uri="{BB962C8B-B14F-4D97-AF65-F5344CB8AC3E}">
        <p14:creationId xmlns:p14="http://schemas.microsoft.com/office/powerpoint/2010/main" val="68157364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itle">
            <a:extLst xmlns:a="http://schemas.openxmlformats.org/drawingml/2006/main">
              <a:ext uri="{FF2B5EF4-FFF2-40B4-BE49-F238E27FC236}">
                <a16:creationId xmlns:a16="http://schemas.microsoft.com/office/drawing/2014/main" id="{2ECB6729-76FF-4947-A481-0E63782C353D}"/>
              </a:ext>
            </a:extLst>
          </p:cNvPr>
          <p:cNvSpPr>
            <a:spLocks xmlns:a="http://schemas.openxmlformats.org/drawingml/2006/main" noGrp="1"/>
          </p:cNvSpPr>
          <p:nvPr/>
        </p:nvSpPr>
        <p:spPr>
          <a:xfrm xmlns:a="http://schemas.openxmlformats.org/drawingml/2006/main">
            <a:off x="609600" y="400050"/>
            <a:ext cx="1390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292B2D"/>
                </a:solidFill>
                <a:latin typeface="Helvetica Neue"/>
                <a:ea typeface="Helvetica Neue"/>
                <a:cs typeface="Helvetica Neue"/>
              </a:defRPr>
            </a:pPr>
            <a:r>
              <a:rPr sz="3150" b="1">
                <a:solidFill>
                  <a:srgbClr val="292B2D"/>
                </a:solidFill>
                <a:latin typeface="Helvetica Neue"/>
                <a:ea typeface="Helvetica Neue"/>
                <a:cs typeface="Helvetica Neue"/>
              </a:rPr>
              <a:t>Corner storage access</a:t>
            </a:r>
          </a:p>
        </p:txBody>
      </p:sp>
      <p:sp>
        <p:nvSpPr>
          <p:cNvPr id="2" name="Subtitle">
            <a:extLst xmlns:a="http://schemas.openxmlformats.org/drawingml/2006/main">
              <a:ext uri="{FF2B5EF4-FFF2-40B4-BE49-F238E27FC236}">
                <a16:creationId xmlns:a16="http://schemas.microsoft.com/office/drawing/2014/main" id="{96BE0D5B-0BCB-434F-B6E0-296F6E982AE5}"/>
              </a:ext>
            </a:extLst>
          </p:cNvPr>
          <p:cNvSpPr>
            <a:spLocks xmlns:a="http://schemas.openxmlformats.org/drawingml/2006/main" noGrp="1"/>
          </p:cNvSpPr>
          <p:nvPr/>
        </p:nvSpPr>
        <p:spPr>
          <a:xfrm xmlns:a="http://schemas.openxmlformats.org/drawingml/2006/main">
            <a:off x="628650" y="990600"/>
            <a:ext cx="1390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292B2D"/>
                </a:solidFill>
                <a:latin typeface="Helvetica Neue"/>
                <a:ea typeface="Helvetica Neue"/>
                <a:cs typeface="Helvetica Neue"/>
              </a:defRPr>
            </a:pPr>
            <a:r>
              <a:rPr sz="1725" b="0">
                <a:solidFill>
                  <a:srgbClr val="292B2D"/>
                </a:solidFill>
                <a:latin typeface="Helvetica Neue"/>
                <a:ea typeface="Helvetica Neue"/>
                <a:cs typeface="Helvetica Neue"/>
              </a:rPr>
              <a:t>Plan and front detail of the hinged-door swing-out concept</a:t>
            </a:r>
          </a:p>
        </p:txBody>
      </p:sp>
      <p:sp>
        <p:nvSpPr>
          <p:cNvPr id="3" name="Title rule">
            <a:extLst xmlns:a="http://schemas.openxmlformats.org/drawingml/2006/main">
              <a:ext uri="{FF2B5EF4-FFF2-40B4-BE49-F238E27FC236}">
                <a16:creationId xmlns:a16="http://schemas.microsoft.com/office/drawing/2014/main" id="{E7276F82-0F48-42E3-A904-9612EB6CA731}"/>
              </a:ext>
            </a:extLst>
          </p:cNvPr>
          <p:cNvSpPr>
            <a:spLocks xmlns:a="http://schemas.openxmlformats.org/drawingml/2006/main" noGrp="1"/>
          </p:cNvSpPr>
          <p:nvPr/>
        </p:nvSpPr>
        <p:spPr>
          <a:xfrm xmlns:a="http://schemas.openxmlformats.org/drawingml/2006/main" flipH="0" flipV="0">
            <a:off x="628650" y="1419225"/>
            <a:ext cx="13982700" cy="0"/>
          </a:xfrm>
          <a:prstGeom xmlns:a="http://schemas.openxmlformats.org/drawingml/2006/main" prst="line">
            <a:avLst/>
          </a:prstGeom>
          <a:noFill xmlns:a="http://schemas.openxmlformats.org/drawingml/2006/main"/>
          <a:ln xmlns:a="http://schemas.openxmlformats.org/drawingml/2006/main" w="9525">
            <a:solidFill>
              <a:srgbClr val="CFC5B7"/>
            </a:solidFill>
            <a:prstDash val="solid"/>
          </a:ln>
        </p:spPr>
      </p:sp>
      <p:sp>
        <p:nvSpPr>
          <p:cNvPr id="4" name="Corrections heading">
            <a:extLst xmlns:a="http://schemas.openxmlformats.org/drawingml/2006/main">
              <a:ext uri="{FF2B5EF4-FFF2-40B4-BE49-F238E27FC236}">
                <a16:creationId xmlns:a16="http://schemas.microsoft.com/office/drawing/2014/main" id="{5C1706FD-19B9-4947-9B4D-3C92D41EBCEE}"/>
              </a:ext>
            </a:extLst>
          </p:cNvPr>
          <p:cNvSpPr>
            <a:spLocks xmlns:a="http://schemas.openxmlformats.org/drawingml/2006/main" noGrp="1"/>
          </p:cNvSpPr>
          <p:nvPr/>
        </p:nvSpPr>
        <p:spPr>
          <a:xfrm xmlns:a="http://schemas.openxmlformats.org/drawingml/2006/main">
            <a:off x="12334875" y="188595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292B2D"/>
                </a:solidFill>
                <a:latin typeface="Helvetica Neue"/>
                <a:ea typeface="Helvetica Neue"/>
                <a:cs typeface="Helvetica Neue"/>
              </a:defRPr>
            </a:pPr>
            <a:r>
              <a:rPr sz="1875" b="1">
                <a:solidFill>
                  <a:srgbClr val="292B2D"/>
                </a:solidFill>
                <a:latin typeface="Helvetica Neue"/>
                <a:ea typeface="Helvetica Neue"/>
                <a:cs typeface="Helvetica Neue"/>
              </a:rPr>
              <a:t>Your corrections</a:t>
            </a:r>
          </a:p>
        </p:txBody>
      </p:sp>
      <p:sp>
        <p:nvSpPr>
          <p:cNvPr id="5" name="Correction line 0">
            <a:extLst xmlns:a="http://schemas.openxmlformats.org/drawingml/2006/main">
              <a:ext uri="{FF2B5EF4-FFF2-40B4-BE49-F238E27FC236}">
                <a16:creationId xmlns:a16="http://schemas.microsoft.com/office/drawing/2014/main" id="{744520CE-1126-42D3-AF90-FC45A0718356}"/>
              </a:ext>
            </a:extLst>
          </p:cNvPr>
          <p:cNvSpPr>
            <a:spLocks xmlns:a="http://schemas.openxmlformats.org/drawingml/2006/main" noGrp="1"/>
          </p:cNvSpPr>
          <p:nvPr/>
        </p:nvSpPr>
        <p:spPr>
          <a:xfrm xmlns:a="http://schemas.openxmlformats.org/drawingml/2006/main" flipH="0" flipV="0">
            <a:off x="12334875" y="24955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6" name="Correction line 1">
            <a:extLst xmlns:a="http://schemas.openxmlformats.org/drawingml/2006/main">
              <a:ext uri="{FF2B5EF4-FFF2-40B4-BE49-F238E27FC236}">
                <a16:creationId xmlns:a16="http://schemas.microsoft.com/office/drawing/2014/main" id="{EAC82601-AE69-4021-9050-0ED8F0817C09}"/>
              </a:ext>
            </a:extLst>
          </p:cNvPr>
          <p:cNvSpPr>
            <a:spLocks xmlns:a="http://schemas.openxmlformats.org/drawingml/2006/main" noGrp="1"/>
          </p:cNvSpPr>
          <p:nvPr/>
        </p:nvSpPr>
        <p:spPr>
          <a:xfrm xmlns:a="http://schemas.openxmlformats.org/drawingml/2006/main" flipH="0" flipV="0">
            <a:off x="12334875" y="31813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7" name="Correction line 2">
            <a:extLst xmlns:a="http://schemas.openxmlformats.org/drawingml/2006/main">
              <a:ext uri="{FF2B5EF4-FFF2-40B4-BE49-F238E27FC236}">
                <a16:creationId xmlns:a16="http://schemas.microsoft.com/office/drawing/2014/main" id="{E9D5D293-EC78-4F38-8393-3A30449539E8}"/>
              </a:ext>
            </a:extLst>
          </p:cNvPr>
          <p:cNvSpPr>
            <a:spLocks xmlns:a="http://schemas.openxmlformats.org/drawingml/2006/main" noGrp="1"/>
          </p:cNvSpPr>
          <p:nvPr/>
        </p:nvSpPr>
        <p:spPr>
          <a:xfrm xmlns:a="http://schemas.openxmlformats.org/drawingml/2006/main" flipH="0" flipV="0">
            <a:off x="12334875" y="38671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8" name="Correction line 3">
            <a:extLst xmlns:a="http://schemas.openxmlformats.org/drawingml/2006/main">
              <a:ext uri="{FF2B5EF4-FFF2-40B4-BE49-F238E27FC236}">
                <a16:creationId xmlns:a16="http://schemas.microsoft.com/office/drawing/2014/main" id="{3EC00EE0-8343-4541-A163-57EB043586AD}"/>
              </a:ext>
            </a:extLst>
          </p:cNvPr>
          <p:cNvSpPr>
            <a:spLocks xmlns:a="http://schemas.openxmlformats.org/drawingml/2006/main" noGrp="1"/>
          </p:cNvSpPr>
          <p:nvPr/>
        </p:nvSpPr>
        <p:spPr>
          <a:xfrm xmlns:a="http://schemas.openxmlformats.org/drawingml/2006/main" flipH="0" flipV="0">
            <a:off x="12334875" y="45529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9" name="Correction line 4">
            <a:extLst xmlns:a="http://schemas.openxmlformats.org/drawingml/2006/main">
              <a:ext uri="{FF2B5EF4-FFF2-40B4-BE49-F238E27FC236}">
                <a16:creationId xmlns:a16="http://schemas.microsoft.com/office/drawing/2014/main" id="{8C23788D-F5EB-4823-9A59-4BE7BF4541C0}"/>
              </a:ext>
            </a:extLst>
          </p:cNvPr>
          <p:cNvSpPr>
            <a:spLocks xmlns:a="http://schemas.openxmlformats.org/drawingml/2006/main" noGrp="1"/>
          </p:cNvSpPr>
          <p:nvPr/>
        </p:nvSpPr>
        <p:spPr>
          <a:xfrm xmlns:a="http://schemas.openxmlformats.org/drawingml/2006/main" flipH="0" flipV="0">
            <a:off x="12334875" y="52387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10" name="Correction line 5">
            <a:extLst xmlns:a="http://schemas.openxmlformats.org/drawingml/2006/main">
              <a:ext uri="{FF2B5EF4-FFF2-40B4-BE49-F238E27FC236}">
                <a16:creationId xmlns:a16="http://schemas.microsoft.com/office/drawing/2014/main" id="{1497F53E-873C-4DEC-B86C-66683E6E8D36}"/>
              </a:ext>
            </a:extLst>
          </p:cNvPr>
          <p:cNvSpPr>
            <a:spLocks xmlns:a="http://schemas.openxmlformats.org/drawingml/2006/main" noGrp="1"/>
          </p:cNvSpPr>
          <p:nvPr/>
        </p:nvSpPr>
        <p:spPr>
          <a:xfrm xmlns:a="http://schemas.openxmlformats.org/drawingml/2006/main" flipH="0" flipV="0">
            <a:off x="12334875" y="5924550"/>
            <a:ext cx="2276475" cy="0"/>
          </a:xfrm>
          <a:prstGeom xmlns:a="http://schemas.openxmlformats.org/drawingml/2006/main" prst="line">
            <a:avLst/>
          </a:prstGeom>
          <a:noFill xmlns:a="http://schemas.openxmlformats.org/drawingml/2006/main"/>
          <a:ln xmlns:a="http://schemas.openxmlformats.org/drawingml/2006/main" w="9525">
            <a:solidFill>
              <a:srgbClr val="D9D4CD"/>
            </a:solidFill>
            <a:prstDash val="solid"/>
          </a:ln>
        </p:spPr>
      </p:sp>
      <p:sp>
        <p:nvSpPr>
          <p:cNvPr id="11" name="Footer">
            <a:extLst xmlns:a="http://schemas.openxmlformats.org/drawingml/2006/main">
              <a:ext uri="{FF2B5EF4-FFF2-40B4-BE49-F238E27FC236}">
                <a16:creationId xmlns:a16="http://schemas.microsoft.com/office/drawing/2014/main" id="{A9FF0FF9-DFCD-475E-8788-654467661E76}"/>
              </a:ext>
            </a:extLst>
          </p:cNvPr>
          <p:cNvSpPr>
            <a:spLocks xmlns:a="http://schemas.openxmlformats.org/drawingml/2006/main" noGrp="1"/>
          </p:cNvSpPr>
          <p:nvPr/>
        </p:nvSpPr>
        <p:spPr>
          <a:xfrm xmlns:a="http://schemas.openxmlformats.org/drawingml/2006/main">
            <a:off x="628650" y="8048625"/>
            <a:ext cx="1381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635B52"/>
                </a:solidFill>
                <a:latin typeface="Helvetica Neue"/>
                <a:ea typeface="Helvetica Neue"/>
                <a:cs typeface="Helvetica Neue"/>
              </a:defRPr>
            </a:pPr>
            <a:r>
              <a:rPr sz="1500" b="0">
                <a:solidFill>
                  <a:srgbClr val="635B52"/>
                </a:solidFill>
                <a:latin typeface="Helvetica Neue"/>
                <a:ea typeface="Helvetica Neue"/>
                <a:cs typeface="Helvetica Neue"/>
              </a:rPr>
              <a:t>Editable schematic. Cabinet sizes provisional. Confirmed ceiling: 10 ft.</a:t>
            </a:r>
          </a:p>
        </p:txBody>
      </p:sp>
      <p:sp>
        <p:nvSpPr>
          <p:cNvPr id="12" name="Corner top-view label">
            <a:extLst xmlns:a="http://schemas.openxmlformats.org/drawingml/2006/main">
              <a:ext uri="{FF2B5EF4-FFF2-40B4-BE49-F238E27FC236}">
                <a16:creationId xmlns:a16="http://schemas.microsoft.com/office/drawing/2014/main" id="{DF5F5FE8-45E5-47BA-ACD9-9C3C78E75386}"/>
              </a:ext>
            </a:extLst>
          </p:cNvPr>
          <p:cNvSpPr>
            <a:spLocks xmlns:a="http://schemas.openxmlformats.org/drawingml/2006/main" noGrp="1"/>
          </p:cNvSpPr>
          <p:nvPr/>
        </p:nvSpPr>
        <p:spPr>
          <a:xfrm xmlns:a="http://schemas.openxmlformats.org/drawingml/2006/main">
            <a:off x="809625" y="1762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292B2D"/>
                </a:solidFill>
                <a:latin typeface="Helvetica Neue"/>
                <a:ea typeface="Helvetica Neue"/>
                <a:cs typeface="Helvetica Neue"/>
              </a:defRPr>
            </a:pPr>
            <a:r>
              <a:rPr sz="2100" b="1">
                <a:solidFill>
                  <a:srgbClr val="292B2D"/>
                </a:solidFill>
                <a:latin typeface="Helvetica Neue"/>
                <a:ea typeface="Helvetica Neue"/>
                <a:cs typeface="Helvetica Neue"/>
              </a:rPr>
              <a:t>Top view</a:t>
            </a:r>
          </a:p>
        </p:txBody>
      </p:sp>
      <p:sp>
        <p:nvSpPr>
          <p:cNvPr id="13" name="Corner L worktop H">
            <a:extLst xmlns:a="http://schemas.openxmlformats.org/drawingml/2006/main">
              <a:ext uri="{FF2B5EF4-FFF2-40B4-BE49-F238E27FC236}">
                <a16:creationId xmlns:a16="http://schemas.microsoft.com/office/drawing/2014/main" id="{429C9E34-8F86-40B1-A8EE-3F617D941B16}"/>
              </a:ext>
            </a:extLst>
          </p:cNvPr>
          <p:cNvSpPr>
            <a:spLocks xmlns:a="http://schemas.openxmlformats.org/drawingml/2006/main" noGrp="1"/>
          </p:cNvSpPr>
          <p:nvPr/>
        </p:nvSpPr>
        <p:spPr>
          <a:xfrm xmlns:a="http://schemas.openxmlformats.org/drawingml/2006/main">
            <a:off x="857250" y="2381250"/>
            <a:ext cx="5810250" cy="952500"/>
          </a:xfrm>
          <a:prstGeom xmlns:a="http://schemas.openxmlformats.org/drawingml/2006/main" prst="rect">
            <a:avLst/>
          </a:prstGeom>
          <a:solidFill xmlns:a="http://schemas.openxmlformats.org/drawingml/2006/main">
            <a:srgbClr val="292B2D"/>
          </a:solidFill>
          <a:ln xmlns:a="http://schemas.openxmlformats.org/drawingml/2006/main" w="14288">
            <a:solidFill>
              <a:srgbClr val="6B5543"/>
            </a:solidFill>
            <a:prstDash val="solid"/>
          </a:ln>
        </p:spPr>
      </p:sp>
      <p:sp>
        <p:nvSpPr>
          <p:cNvPr id="14" name="Corner L worktop V">
            <a:extLst xmlns:a="http://schemas.openxmlformats.org/drawingml/2006/main">
              <a:ext uri="{FF2B5EF4-FFF2-40B4-BE49-F238E27FC236}">
                <a16:creationId xmlns:a16="http://schemas.microsoft.com/office/drawing/2014/main" id="{C19A24F8-D02A-4918-A07B-DAA3F329101B}"/>
              </a:ext>
            </a:extLst>
          </p:cNvPr>
          <p:cNvSpPr>
            <a:spLocks xmlns:a="http://schemas.openxmlformats.org/drawingml/2006/main" noGrp="1"/>
          </p:cNvSpPr>
          <p:nvPr/>
        </p:nvSpPr>
        <p:spPr>
          <a:xfrm xmlns:a="http://schemas.openxmlformats.org/drawingml/2006/main">
            <a:off x="5715000" y="3333750"/>
            <a:ext cx="952500" cy="3238500"/>
          </a:xfrm>
          <a:prstGeom xmlns:a="http://schemas.openxmlformats.org/drawingml/2006/main" prst="rect">
            <a:avLst/>
          </a:prstGeom>
          <a:solidFill xmlns:a="http://schemas.openxmlformats.org/drawingml/2006/main">
            <a:srgbClr val="292B2D"/>
          </a:solidFill>
          <a:ln xmlns:a="http://schemas.openxmlformats.org/drawingml/2006/main" w="14288">
            <a:solidFill>
              <a:srgbClr val="6B5543"/>
            </a:solidFill>
            <a:prstDash val="solid"/>
          </a:ln>
        </p:spPr>
      </p:sp>
      <p:sp>
        <p:nvSpPr>
          <p:cNvPr id="15" name="Corner body plan">
            <a:extLst xmlns:a="http://schemas.openxmlformats.org/drawingml/2006/main">
              <a:ext uri="{FF2B5EF4-FFF2-40B4-BE49-F238E27FC236}">
                <a16:creationId xmlns:a16="http://schemas.microsoft.com/office/drawing/2014/main" id="{5C9E085E-61B3-4E9F-AD76-989C3F118859}"/>
              </a:ext>
            </a:extLst>
          </p:cNvPr>
          <p:cNvSpPr>
            <a:spLocks xmlns:a="http://schemas.openxmlformats.org/drawingml/2006/main" noGrp="1"/>
          </p:cNvSpPr>
          <p:nvPr/>
        </p:nvSpPr>
        <p:spPr>
          <a:xfrm xmlns:a="http://schemas.openxmlformats.org/drawingml/2006/main">
            <a:off x="5048250" y="2381250"/>
            <a:ext cx="1619250" cy="1619250"/>
          </a:xfrm>
          <a:prstGeom xmlns:a="http://schemas.openxmlformats.org/drawingml/2006/main" prst="rect">
            <a:avLst/>
          </a:prstGeom>
          <a:noFill xmlns:a="http://schemas.openxmlformats.org/drawingml/2006/main"/>
          <a:ln xmlns:a="http://schemas.openxmlformats.org/drawingml/2006/main" w="19050">
            <a:solidFill>
              <a:srgbClr val="457A90"/>
            </a:solidFill>
            <a:prstDash val="solid"/>
          </a:ln>
        </p:spPr>
      </p:sp>
      <p:sp>
        <p:nvSpPr>
          <p:cNvPr id="16" name="Corner door in plan open">
            <a:extLst xmlns:a="http://schemas.openxmlformats.org/drawingml/2006/main">
              <a:ext uri="{FF2B5EF4-FFF2-40B4-BE49-F238E27FC236}">
                <a16:creationId xmlns:a16="http://schemas.microsoft.com/office/drawing/2014/main" id="{F4A0324C-549E-4250-B4FF-A078604F0722}"/>
              </a:ext>
            </a:extLst>
          </p:cNvPr>
          <p:cNvSpPr>
            <a:spLocks xmlns:a="http://schemas.openxmlformats.org/drawingml/2006/main" noGrp="1"/>
          </p:cNvSpPr>
          <p:nvPr/>
        </p:nvSpPr>
        <p:spPr>
          <a:xfrm xmlns:a="http://schemas.openxmlformats.org/drawingml/2006/main" flipH="1" flipV="0">
            <a:off x="4124325" y="4000500"/>
            <a:ext cx="971550" cy="762000"/>
          </a:xfrm>
          <a:prstGeom xmlns:a="http://schemas.openxmlformats.org/drawingml/2006/main" prst="line">
            <a:avLst/>
          </a:prstGeom>
          <a:noFill xmlns:a="http://schemas.openxmlformats.org/drawingml/2006/main"/>
          <a:ln xmlns:a="http://schemas.openxmlformats.org/drawingml/2006/main" w="95250">
            <a:solidFill>
              <a:srgbClr val="875B3D"/>
            </a:solidFill>
            <a:prstDash val="solid"/>
          </a:ln>
        </p:spPr>
      </p:sp>
      <p:sp>
        <p:nvSpPr>
          <p:cNvPr id="17" name="Corner tray plan swung out">
            <a:extLst xmlns:a="http://schemas.openxmlformats.org/drawingml/2006/main">
              <a:ext uri="{FF2B5EF4-FFF2-40B4-BE49-F238E27FC236}">
                <a16:creationId xmlns:a16="http://schemas.microsoft.com/office/drawing/2014/main" id="{4CD5F1B4-A8E7-4E68-ADD8-3CE062B0D0D6}"/>
              </a:ext>
            </a:extLst>
          </p:cNvPr>
          <p:cNvSpPr>
            <a:spLocks xmlns:a="http://schemas.openxmlformats.org/drawingml/2006/main" noGrp="1"/>
          </p:cNvSpPr>
          <p:nvPr/>
        </p:nvSpPr>
        <p:spPr>
          <a:xfrm xmlns:a="http://schemas.openxmlformats.org/drawingml/2006/main">
            <a:off x="4048125" y="4000500"/>
            <a:ext cx="2190750" cy="1143000"/>
          </a:xfrm>
          <a:custGeom xmlns:a="http://schemas.openxmlformats.org/drawingml/2006/main">
            <a:pathLst>
              <a:path w="2190750" h="1143000">
                <a:moveTo>
                  <a:pt x="0" y="228600"/>
                </a:moveTo>
                <a:lnTo>
                  <a:pt x="394335" y="0"/>
                </a:lnTo>
                <a:lnTo>
                  <a:pt x="1314450" y="45720"/>
                </a:lnTo>
                <a:lnTo>
                  <a:pt x="2059305" y="320040"/>
                </a:lnTo>
                <a:lnTo>
                  <a:pt x="2190750" y="742950"/>
                </a:lnTo>
                <a:lnTo>
                  <a:pt x="1664970" y="1143000"/>
                </a:lnTo>
                <a:lnTo>
                  <a:pt x="766763" y="1028700"/>
                </a:lnTo>
                <a:lnTo>
                  <a:pt x="547688" y="685800"/>
                </a:lnTo>
                <a:lnTo>
                  <a:pt x="262890" y="594360"/>
                </a:lnTo>
                <a:lnTo>
                  <a:pt x="0" y="742950"/>
                </a:lnTo>
                <a:close/>
              </a:path>
            </a:pathLst>
          </a:custGeom>
          <a:solidFill xmlns:a="http://schemas.openxmlformats.org/drawingml/2006/main">
            <a:srgbClr val="D6D5D0"/>
          </a:solidFill>
          <a:ln xmlns:a="http://schemas.openxmlformats.org/drawingml/2006/main" w="28575">
            <a:solidFill>
              <a:srgbClr val="A8ADB0"/>
            </a:solidFill>
          </a:ln>
        </p:spPr>
      </p:sp>
      <p:sp>
        <p:nvSpPr>
          <p:cNvPr id="18" name="Corner tray plan swung out guard">
            <a:extLst xmlns:a="http://schemas.openxmlformats.org/drawingml/2006/main">
              <a:ext uri="{FF2B5EF4-FFF2-40B4-BE49-F238E27FC236}">
                <a16:creationId xmlns:a16="http://schemas.microsoft.com/office/drawing/2014/main" id="{54F5B404-12D4-4837-A782-C27D1BDE8519}"/>
              </a:ext>
            </a:extLst>
          </p:cNvPr>
          <p:cNvSpPr>
            <a:spLocks xmlns:a="http://schemas.openxmlformats.org/drawingml/2006/main" noGrp="1"/>
          </p:cNvSpPr>
          <p:nvPr/>
        </p:nvSpPr>
        <p:spPr>
          <a:xfrm xmlns:a="http://schemas.openxmlformats.org/drawingml/2006/main" flipH="0" flipV="0">
            <a:off x="4143375" y="4400550"/>
            <a:ext cx="1962150" cy="228600"/>
          </a:xfrm>
          <a:prstGeom xmlns:a="http://schemas.openxmlformats.org/drawingml/2006/main" prst="line">
            <a:avLst/>
          </a:prstGeom>
          <a:noFill xmlns:a="http://schemas.openxmlformats.org/drawingml/2006/main"/>
          <a:ln xmlns:a="http://schemas.openxmlformats.org/drawingml/2006/main" w="9525">
            <a:solidFill>
              <a:srgbClr val="292B2D"/>
            </a:solidFill>
            <a:prstDash val="solid"/>
          </a:ln>
        </p:spPr>
      </p:sp>
      <p:sp>
        <p:nvSpPr>
          <p:cNvPr id="19" name="Corner pivot plan">
            <a:extLst xmlns:a="http://schemas.openxmlformats.org/drawingml/2006/main">
              <a:ext uri="{FF2B5EF4-FFF2-40B4-BE49-F238E27FC236}">
                <a16:creationId xmlns:a16="http://schemas.microsoft.com/office/drawing/2014/main" id="{6D4E13E5-51DA-4528-8A6B-90EF6CBAE3A1}"/>
              </a:ext>
            </a:extLst>
          </p:cNvPr>
          <p:cNvSpPr>
            <a:spLocks xmlns:a="http://schemas.openxmlformats.org/drawingml/2006/main" noGrp="1"/>
          </p:cNvSpPr>
          <p:nvPr/>
        </p:nvSpPr>
        <p:spPr>
          <a:xfrm xmlns:a="http://schemas.openxmlformats.org/drawingml/2006/main">
            <a:off x="6067425" y="3476625"/>
            <a:ext cx="133350" cy="133350"/>
          </a:xfrm>
          <a:prstGeom xmlns:a="http://schemas.openxmlformats.org/drawingml/2006/main" prst="ellipse">
            <a:avLst/>
          </a:prstGeom>
          <a:solidFill xmlns:a="http://schemas.openxmlformats.org/drawingml/2006/main">
            <a:srgbClr val="A8ADB0"/>
          </a:solidFill>
          <a:ln xmlns:a="http://schemas.openxmlformats.org/drawingml/2006/main" w="19050">
            <a:solidFill>
              <a:srgbClr val="292B2D"/>
            </a:solidFill>
            <a:prstDash val="solid"/>
          </a:ln>
        </p:spPr>
      </p:sp>
      <p:sp>
        <p:nvSpPr>
          <p:cNvPr id="20" name="Door plan caption">
            <a:extLst xmlns:a="http://schemas.openxmlformats.org/drawingml/2006/main">
              <a:ext uri="{FF2B5EF4-FFF2-40B4-BE49-F238E27FC236}">
                <a16:creationId xmlns:a16="http://schemas.microsoft.com/office/drawing/2014/main" id="{90DF3A78-024F-4D7A-ACC4-C15CFB47FB5B}"/>
              </a:ext>
            </a:extLst>
          </p:cNvPr>
          <p:cNvSpPr>
            <a:spLocks xmlns:a="http://schemas.openxmlformats.org/drawingml/2006/main" noGrp="1"/>
          </p:cNvSpPr>
          <p:nvPr/>
        </p:nvSpPr>
        <p:spPr>
          <a:xfrm xmlns:a="http://schemas.openxmlformats.org/drawingml/2006/main">
            <a:off x="866775" y="5295900"/>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292B2D"/>
                </a:solidFill>
                <a:latin typeface="Helvetica Neue"/>
                <a:ea typeface="Helvetica Neue"/>
                <a:cs typeface="Helvetica Neue"/>
              </a:defRPr>
            </a:pPr>
            <a:r>
              <a:rPr sz="1800" b="1">
                <a:solidFill>
                  <a:srgbClr val="292B2D"/>
                </a:solidFill>
                <a:latin typeface="Helvetica Neue"/>
                <a:ea typeface="Helvetica Neue"/>
                <a:cs typeface="Helvetica Neue"/>
              </a:rPr>
              <a:t>Hinged access door</a:t>
            </a:r>
          </a:p>
        </p:txBody>
      </p:sp>
      <p:sp>
        <p:nvSpPr>
          <p:cNvPr id="21" name="Tray plan caption">
            <a:extLst xmlns:a="http://schemas.openxmlformats.org/drawingml/2006/main">
              <a:ext uri="{FF2B5EF4-FFF2-40B4-BE49-F238E27FC236}">
                <a16:creationId xmlns:a16="http://schemas.microsoft.com/office/drawing/2014/main" id="{7E2CCF63-FD5D-4410-88E1-7E7804927CEC}"/>
              </a:ext>
            </a:extLst>
          </p:cNvPr>
          <p:cNvSpPr>
            <a:spLocks xmlns:a="http://schemas.openxmlformats.org/drawingml/2006/main" noGrp="1"/>
          </p:cNvSpPr>
          <p:nvPr/>
        </p:nvSpPr>
        <p:spPr>
          <a:xfrm xmlns:a="http://schemas.openxmlformats.org/drawingml/2006/main">
            <a:off x="876300" y="5791200"/>
            <a:ext cx="4333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457A90"/>
                </a:solidFill>
                <a:latin typeface="Helvetica Neue"/>
                <a:ea typeface="Helvetica Neue"/>
                <a:cs typeface="Helvetica Neue"/>
              </a:defRPr>
            </a:pPr>
            <a:r>
              <a:rPr sz="1725" b="1">
                <a:solidFill>
                  <a:srgbClr val="457A90"/>
                </a:solidFill>
                <a:latin typeface="Helvetica Neue"/>
                <a:ea typeface="Helvetica Neue"/>
                <a:cs typeface="Helvetica Neue"/>
              </a:rPr>
              <a:t>Tray reaches the deep corner</a:t>
            </a:r>
          </a:p>
        </p:txBody>
      </p:sp>
      <p:sp>
        <p:nvSpPr>
          <p:cNvPr id="22" name="Front-view label">
            <a:extLst xmlns:a="http://schemas.openxmlformats.org/drawingml/2006/main">
              <a:ext uri="{FF2B5EF4-FFF2-40B4-BE49-F238E27FC236}">
                <a16:creationId xmlns:a16="http://schemas.microsoft.com/office/drawing/2014/main" id="{A8908935-F04B-4819-AE74-53404344AC59}"/>
              </a:ext>
            </a:extLst>
          </p:cNvPr>
          <p:cNvSpPr>
            <a:spLocks xmlns:a="http://schemas.openxmlformats.org/drawingml/2006/main" noGrp="1"/>
          </p:cNvSpPr>
          <p:nvPr/>
        </p:nvSpPr>
        <p:spPr>
          <a:xfrm xmlns:a="http://schemas.openxmlformats.org/drawingml/2006/main">
            <a:off x="7715250" y="1762125"/>
            <a:ext cx="3762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292B2D"/>
                </a:solidFill>
                <a:latin typeface="Helvetica Neue"/>
                <a:ea typeface="Helvetica Neue"/>
                <a:cs typeface="Helvetica Neue"/>
              </a:defRPr>
            </a:pPr>
            <a:r>
              <a:rPr sz="2100" b="1">
                <a:solidFill>
                  <a:srgbClr val="292B2D"/>
                </a:solidFill>
                <a:latin typeface="Helvetica Neue"/>
                <a:ea typeface="Helvetica Neue"/>
                <a:cs typeface="Helvetica Neue"/>
              </a:rPr>
              <a:t>Front access</a:t>
            </a:r>
          </a:p>
        </p:txBody>
      </p:sp>
      <p:sp>
        <p:nvSpPr>
          <p:cNvPr id="23" name="Corner front counter">
            <a:extLst xmlns:a="http://schemas.openxmlformats.org/drawingml/2006/main">
              <a:ext uri="{FF2B5EF4-FFF2-40B4-BE49-F238E27FC236}">
                <a16:creationId xmlns:a16="http://schemas.microsoft.com/office/drawing/2014/main" id="{DD595E36-9F1E-4E70-B0A6-D9759EB0EA47}"/>
              </a:ext>
            </a:extLst>
          </p:cNvPr>
          <p:cNvSpPr>
            <a:spLocks xmlns:a="http://schemas.openxmlformats.org/drawingml/2006/main" noGrp="1"/>
          </p:cNvSpPr>
          <p:nvPr/>
        </p:nvSpPr>
        <p:spPr>
          <a:xfrm xmlns:a="http://schemas.openxmlformats.org/drawingml/2006/main">
            <a:off x="7858125" y="2381250"/>
            <a:ext cx="3333750" cy="142875"/>
          </a:xfrm>
          <a:prstGeom xmlns:a="http://schemas.openxmlformats.org/drawingml/2006/main" prst="rect">
            <a:avLst/>
          </a:prstGeom>
          <a:solidFill xmlns:a="http://schemas.openxmlformats.org/drawingml/2006/main">
            <a:srgbClr val="292B2D"/>
          </a:solidFill>
          <a:ln xmlns:a="http://schemas.openxmlformats.org/drawingml/2006/main" w="14288">
            <a:solidFill>
              <a:srgbClr val="6B5543"/>
            </a:solidFill>
            <a:prstDash val="solid"/>
          </a:ln>
        </p:spPr>
      </p:sp>
      <p:sp>
        <p:nvSpPr>
          <p:cNvPr id="24" name="Corner front enlarged interior">
            <a:extLst xmlns:a="http://schemas.openxmlformats.org/drawingml/2006/main">
              <a:ext uri="{FF2B5EF4-FFF2-40B4-BE49-F238E27FC236}">
                <a16:creationId xmlns:a16="http://schemas.microsoft.com/office/drawing/2014/main" id="{A1C819FC-0785-48B5-BF31-100215D79680}"/>
              </a:ext>
            </a:extLst>
          </p:cNvPr>
          <p:cNvSpPr>
            <a:spLocks xmlns:a="http://schemas.openxmlformats.org/drawingml/2006/main" noGrp="1"/>
          </p:cNvSpPr>
          <p:nvPr/>
        </p:nvSpPr>
        <p:spPr>
          <a:xfrm xmlns:a="http://schemas.openxmlformats.org/drawingml/2006/main">
            <a:off x="7858125" y="2524125"/>
            <a:ext cx="3333750" cy="4048125"/>
          </a:xfrm>
          <a:prstGeom xmlns:a="http://schemas.openxmlformats.org/drawingml/2006/main" prst="rect">
            <a:avLst/>
          </a:prstGeom>
          <a:solidFill xmlns:a="http://schemas.openxmlformats.org/drawingml/2006/main">
            <a:srgbClr val="594535"/>
          </a:solidFill>
          <a:ln xmlns:a="http://schemas.openxmlformats.org/drawingml/2006/main" w="14288">
            <a:solidFill>
              <a:srgbClr val="6B5543"/>
            </a:solidFill>
            <a:prstDash val="solid"/>
          </a:ln>
        </p:spPr>
      </p:sp>
      <p:sp>
        <p:nvSpPr>
          <p:cNvPr id="25" name="Corner front enlarged open walnut door">
            <a:extLst xmlns:a="http://schemas.openxmlformats.org/drawingml/2006/main">
              <a:ext uri="{FF2B5EF4-FFF2-40B4-BE49-F238E27FC236}">
                <a16:creationId xmlns:a16="http://schemas.microsoft.com/office/drawing/2014/main" id="{9361E9B6-34BC-4BC5-8FEC-29F2C7134194}"/>
              </a:ext>
            </a:extLst>
          </p:cNvPr>
          <p:cNvSpPr>
            <a:spLocks xmlns:a="http://schemas.openxmlformats.org/drawingml/2006/main" noGrp="1"/>
          </p:cNvSpPr>
          <p:nvPr/>
        </p:nvSpPr>
        <p:spPr>
          <a:xfrm xmlns:a="http://schemas.openxmlformats.org/drawingml/2006/main">
            <a:off x="7515225" y="2524125"/>
            <a:ext cx="304800" cy="4048125"/>
          </a:xfrm>
          <a:prstGeom xmlns:a="http://schemas.openxmlformats.org/drawingml/2006/main" prst="rect">
            <a:avLst/>
          </a:prstGeom>
          <a:solidFill xmlns:a="http://schemas.openxmlformats.org/drawingml/2006/main">
            <a:srgbClr val="875B3D"/>
          </a:solidFill>
          <a:ln xmlns:a="http://schemas.openxmlformats.org/drawingml/2006/main" w="14288">
            <a:solidFill>
              <a:srgbClr val="6B5543"/>
            </a:solidFill>
            <a:prstDash val="solid"/>
          </a:ln>
        </p:spPr>
      </p:sp>
      <p:sp>
        <p:nvSpPr>
          <p:cNvPr id="26" name="Corner front enlarged handle">
            <a:extLst xmlns:a="http://schemas.openxmlformats.org/drawingml/2006/main">
              <a:ext uri="{FF2B5EF4-FFF2-40B4-BE49-F238E27FC236}">
                <a16:creationId xmlns:a16="http://schemas.microsoft.com/office/drawing/2014/main" id="{2C25CC2C-E4BF-45F7-83DE-F062AB5485FC}"/>
              </a:ext>
            </a:extLst>
          </p:cNvPr>
          <p:cNvSpPr>
            <a:spLocks xmlns:a="http://schemas.openxmlformats.org/drawingml/2006/main" noGrp="1"/>
          </p:cNvSpPr>
          <p:nvPr/>
        </p:nvSpPr>
        <p:spPr>
          <a:xfrm xmlns:a="http://schemas.openxmlformats.org/drawingml/2006/main">
            <a:off x="7581900" y="2924175"/>
            <a:ext cx="171450" cy="38100"/>
          </a:xfrm>
          <a:prstGeom xmlns:a="http://schemas.openxmlformats.org/drawingml/2006/main" prst="rect">
            <a:avLst/>
          </a:prstGeom>
          <a:solidFill xmlns:a="http://schemas.openxmlformats.org/drawingml/2006/main">
            <a:srgbClr val="A8ADB0"/>
          </a:solidFill>
          <a:ln xmlns:a="http://schemas.openxmlformats.org/drawingml/2006/main" w="6668">
            <a:solidFill>
              <a:srgbClr val="292B2D"/>
            </a:solidFill>
            <a:prstDash val="solid"/>
          </a:ln>
        </p:spPr>
      </p:sp>
      <p:sp>
        <p:nvSpPr>
          <p:cNvPr id="27" name="Corner front enlarged pivot">
            <a:extLst xmlns:a="http://schemas.openxmlformats.org/drawingml/2006/main">
              <a:ext uri="{FF2B5EF4-FFF2-40B4-BE49-F238E27FC236}">
                <a16:creationId xmlns:a16="http://schemas.microsoft.com/office/drawing/2014/main" id="{32DCDAA3-E392-4D52-A089-7D26BF2C7554}"/>
              </a:ext>
            </a:extLst>
          </p:cNvPr>
          <p:cNvSpPr>
            <a:spLocks xmlns:a="http://schemas.openxmlformats.org/drawingml/2006/main" noGrp="1"/>
          </p:cNvSpPr>
          <p:nvPr/>
        </p:nvSpPr>
        <p:spPr>
          <a:xfrm xmlns:a="http://schemas.openxmlformats.org/drawingml/2006/main" flipH="0" flipV="0">
            <a:off x="8391525" y="2676525"/>
            <a:ext cx="0" cy="3800475"/>
          </a:xfrm>
          <a:prstGeom xmlns:a="http://schemas.openxmlformats.org/drawingml/2006/main" prst="line">
            <a:avLst/>
          </a:prstGeom>
          <a:noFill xmlns:a="http://schemas.openxmlformats.org/drawingml/2006/main"/>
          <a:ln xmlns:a="http://schemas.openxmlformats.org/drawingml/2006/main" w="57150">
            <a:solidFill>
              <a:srgbClr val="A8ADB0"/>
            </a:solidFill>
            <a:prstDash val="solid"/>
          </a:ln>
        </p:spPr>
      </p:sp>
      <p:sp>
        <p:nvSpPr>
          <p:cNvPr id="28" name="Corner front enlarged upper swing tray">
            <a:extLst xmlns:a="http://schemas.openxmlformats.org/drawingml/2006/main">
              <a:ext uri="{FF2B5EF4-FFF2-40B4-BE49-F238E27FC236}">
                <a16:creationId xmlns:a16="http://schemas.microsoft.com/office/drawing/2014/main" id="{C98D5050-F3CA-4D22-B36F-090BC41010AE}"/>
              </a:ext>
            </a:extLst>
          </p:cNvPr>
          <p:cNvSpPr>
            <a:spLocks xmlns:a="http://schemas.openxmlformats.org/drawingml/2006/main" noGrp="1"/>
          </p:cNvSpPr>
          <p:nvPr/>
        </p:nvSpPr>
        <p:spPr>
          <a:xfrm xmlns:a="http://schemas.openxmlformats.org/drawingml/2006/main">
            <a:off x="8024813" y="2857500"/>
            <a:ext cx="2967038" cy="1173956"/>
          </a:xfrm>
          <a:custGeom xmlns:a="http://schemas.openxmlformats.org/drawingml/2006/main">
            <a:pathLst>
              <a:path w="2967038" h="1173956">
                <a:moveTo>
                  <a:pt x="0" y="234791"/>
                </a:moveTo>
                <a:lnTo>
                  <a:pt x="534067" y="0"/>
                </a:lnTo>
                <a:lnTo>
                  <a:pt x="1780223" y="46958"/>
                </a:lnTo>
                <a:lnTo>
                  <a:pt x="2789015" y="328708"/>
                </a:lnTo>
                <a:lnTo>
                  <a:pt x="2967038" y="763072"/>
                </a:lnTo>
                <a:lnTo>
                  <a:pt x="2254949" y="1173956"/>
                </a:lnTo>
                <a:lnTo>
                  <a:pt x="1038463" y="1056561"/>
                </a:lnTo>
                <a:lnTo>
                  <a:pt x="741759" y="704374"/>
                </a:lnTo>
                <a:lnTo>
                  <a:pt x="356044" y="610457"/>
                </a:lnTo>
                <a:lnTo>
                  <a:pt x="0" y="763072"/>
                </a:lnTo>
                <a:close/>
              </a:path>
            </a:pathLst>
          </a:custGeom>
          <a:solidFill xmlns:a="http://schemas.openxmlformats.org/drawingml/2006/main">
            <a:srgbClr val="D6D5D0"/>
          </a:solidFill>
          <a:ln xmlns:a="http://schemas.openxmlformats.org/drawingml/2006/main" w="28575">
            <a:solidFill>
              <a:srgbClr val="A8ADB0"/>
            </a:solidFill>
          </a:ln>
        </p:spPr>
      </p:sp>
      <p:sp>
        <p:nvSpPr>
          <p:cNvPr id="29" name="Corner front enlarged upper swing tray guard">
            <a:extLst xmlns:a="http://schemas.openxmlformats.org/drawingml/2006/main">
              <a:ext uri="{FF2B5EF4-FFF2-40B4-BE49-F238E27FC236}">
                <a16:creationId xmlns:a16="http://schemas.microsoft.com/office/drawing/2014/main" id="{4E560BE5-56BF-446B-9F75-26C21F5AAA1B}"/>
              </a:ext>
            </a:extLst>
          </p:cNvPr>
          <p:cNvSpPr>
            <a:spLocks xmlns:a="http://schemas.openxmlformats.org/drawingml/2006/main" noGrp="1"/>
          </p:cNvSpPr>
          <p:nvPr/>
        </p:nvSpPr>
        <p:spPr>
          <a:xfrm xmlns:a="http://schemas.openxmlformats.org/drawingml/2006/main" flipH="0" flipV="0">
            <a:off x="8120063" y="3268385"/>
            <a:ext cx="2738438" cy="234791"/>
          </a:xfrm>
          <a:prstGeom xmlns:a="http://schemas.openxmlformats.org/drawingml/2006/main" prst="line">
            <a:avLst/>
          </a:prstGeom>
          <a:noFill xmlns:a="http://schemas.openxmlformats.org/drawingml/2006/main"/>
          <a:ln xmlns:a="http://schemas.openxmlformats.org/drawingml/2006/main" w="9525">
            <a:solidFill>
              <a:srgbClr val="292B2D"/>
            </a:solidFill>
            <a:prstDash val="solid"/>
          </a:ln>
        </p:spPr>
      </p:sp>
      <p:sp>
        <p:nvSpPr>
          <p:cNvPr id="30" name="Corner front enlarged lower swing tray">
            <a:extLst xmlns:a="http://schemas.openxmlformats.org/drawingml/2006/main">
              <a:ext uri="{FF2B5EF4-FFF2-40B4-BE49-F238E27FC236}">
                <a16:creationId xmlns:a16="http://schemas.microsoft.com/office/drawing/2014/main" id="{2E4EEC58-33B7-4FCF-B64E-DD47CC8AC4E5}"/>
              </a:ext>
            </a:extLst>
          </p:cNvPr>
          <p:cNvSpPr>
            <a:spLocks xmlns:a="http://schemas.openxmlformats.org/drawingml/2006/main" noGrp="1"/>
          </p:cNvSpPr>
          <p:nvPr/>
        </p:nvSpPr>
        <p:spPr>
          <a:xfrm xmlns:a="http://schemas.openxmlformats.org/drawingml/2006/main">
            <a:off x="8024813" y="4831556"/>
            <a:ext cx="2967038" cy="1173956"/>
          </a:xfrm>
          <a:custGeom xmlns:a="http://schemas.openxmlformats.org/drawingml/2006/main">
            <a:pathLst>
              <a:path w="2967038" h="1173956">
                <a:moveTo>
                  <a:pt x="0" y="234791"/>
                </a:moveTo>
                <a:lnTo>
                  <a:pt x="534067" y="0"/>
                </a:lnTo>
                <a:lnTo>
                  <a:pt x="1780223" y="46958"/>
                </a:lnTo>
                <a:lnTo>
                  <a:pt x="2789015" y="328708"/>
                </a:lnTo>
                <a:lnTo>
                  <a:pt x="2967038" y="763072"/>
                </a:lnTo>
                <a:lnTo>
                  <a:pt x="2254949" y="1173956"/>
                </a:lnTo>
                <a:lnTo>
                  <a:pt x="1038463" y="1056561"/>
                </a:lnTo>
                <a:lnTo>
                  <a:pt x="741759" y="704374"/>
                </a:lnTo>
                <a:lnTo>
                  <a:pt x="356044" y="610457"/>
                </a:lnTo>
                <a:lnTo>
                  <a:pt x="0" y="763072"/>
                </a:lnTo>
                <a:close/>
              </a:path>
            </a:pathLst>
          </a:custGeom>
          <a:solidFill xmlns:a="http://schemas.openxmlformats.org/drawingml/2006/main">
            <a:srgbClr val="D6D5D0"/>
          </a:solidFill>
          <a:ln xmlns:a="http://schemas.openxmlformats.org/drawingml/2006/main" w="28575">
            <a:solidFill>
              <a:srgbClr val="A8ADB0"/>
            </a:solidFill>
          </a:ln>
        </p:spPr>
      </p:sp>
      <p:sp>
        <p:nvSpPr>
          <p:cNvPr id="31" name="Corner front enlarged lower swing tray guard">
            <a:extLst xmlns:a="http://schemas.openxmlformats.org/drawingml/2006/main">
              <a:ext uri="{FF2B5EF4-FFF2-40B4-BE49-F238E27FC236}">
                <a16:creationId xmlns:a16="http://schemas.microsoft.com/office/drawing/2014/main" id="{596DE462-5B81-4EC4-8FDD-D821AF2A33A6}"/>
              </a:ext>
            </a:extLst>
          </p:cNvPr>
          <p:cNvSpPr>
            <a:spLocks xmlns:a="http://schemas.openxmlformats.org/drawingml/2006/main" noGrp="1"/>
          </p:cNvSpPr>
          <p:nvPr/>
        </p:nvSpPr>
        <p:spPr>
          <a:xfrm xmlns:a="http://schemas.openxmlformats.org/drawingml/2006/main" flipH="0" flipV="0">
            <a:off x="8120063" y="5242441"/>
            <a:ext cx="2738438" cy="234791"/>
          </a:xfrm>
          <a:prstGeom xmlns:a="http://schemas.openxmlformats.org/drawingml/2006/main" prst="line">
            <a:avLst/>
          </a:prstGeom>
          <a:noFill xmlns:a="http://schemas.openxmlformats.org/drawingml/2006/main"/>
          <a:ln xmlns:a="http://schemas.openxmlformats.org/drawingml/2006/main" w="9525">
            <a:solidFill>
              <a:srgbClr val="292B2D"/>
            </a:solidFill>
            <a:prstDash val="solid"/>
          </a:ln>
        </p:spPr>
      </p:sp>
      <p:sp>
        <p:nvSpPr>
          <p:cNvPr id="32" name="Corner front enlarged pan 0">
            <a:extLst xmlns:a="http://schemas.openxmlformats.org/drawingml/2006/main">
              <a:ext uri="{FF2B5EF4-FFF2-40B4-BE49-F238E27FC236}">
                <a16:creationId xmlns:a16="http://schemas.microsoft.com/office/drawing/2014/main" id="{C0F6EA7C-5EDA-4C63-AAB8-EFD471CC62B2}"/>
              </a:ext>
            </a:extLst>
          </p:cNvPr>
          <p:cNvSpPr>
            <a:spLocks xmlns:a="http://schemas.openxmlformats.org/drawingml/2006/main" noGrp="1"/>
          </p:cNvSpPr>
          <p:nvPr/>
        </p:nvSpPr>
        <p:spPr>
          <a:xfrm xmlns:a="http://schemas.openxmlformats.org/drawingml/2006/main">
            <a:off x="8858250" y="2924175"/>
            <a:ext cx="966788" cy="607219"/>
          </a:xfrm>
          <a:prstGeom xmlns:a="http://schemas.openxmlformats.org/drawingml/2006/main" prst="ellipse">
            <a:avLst/>
          </a:prstGeom>
          <a:solidFill xmlns:a="http://schemas.openxmlformats.org/drawingml/2006/main">
            <a:srgbClr val="A8ADB0"/>
          </a:solidFill>
          <a:ln xmlns:a="http://schemas.openxmlformats.org/drawingml/2006/main" w="19050">
            <a:solidFill>
              <a:srgbClr val="292B2D"/>
            </a:solidFill>
            <a:prstDash val="solid"/>
          </a:ln>
        </p:spPr>
      </p:sp>
      <p:sp>
        <p:nvSpPr>
          <p:cNvPr id="33" name="Corner front enlarged pan 1">
            <a:extLst xmlns:a="http://schemas.openxmlformats.org/drawingml/2006/main">
              <a:ext uri="{FF2B5EF4-FFF2-40B4-BE49-F238E27FC236}">
                <a16:creationId xmlns:a16="http://schemas.microsoft.com/office/drawing/2014/main" id="{DA051D58-1B73-4ABB-BAF1-7FDE14BE5F20}"/>
              </a:ext>
            </a:extLst>
          </p:cNvPr>
          <p:cNvSpPr>
            <a:spLocks xmlns:a="http://schemas.openxmlformats.org/drawingml/2006/main" noGrp="1"/>
          </p:cNvSpPr>
          <p:nvPr/>
        </p:nvSpPr>
        <p:spPr>
          <a:xfrm xmlns:a="http://schemas.openxmlformats.org/drawingml/2006/main">
            <a:off x="8858250" y="5029200"/>
            <a:ext cx="966788" cy="607219"/>
          </a:xfrm>
          <a:prstGeom xmlns:a="http://schemas.openxmlformats.org/drawingml/2006/main" prst="ellipse">
            <a:avLst/>
          </a:prstGeom>
          <a:solidFill xmlns:a="http://schemas.openxmlformats.org/drawingml/2006/main">
            <a:srgbClr val="A8ADB0"/>
          </a:solidFill>
          <a:ln xmlns:a="http://schemas.openxmlformats.org/drawingml/2006/main" w="19050">
            <a:solidFill>
              <a:srgbClr val="292B2D"/>
            </a:solidFill>
            <a:prstDash val="solid"/>
          </a:ln>
        </p:spPr>
      </p:sp>
      <p:sp>
        <p:nvSpPr>
          <p:cNvPr id="34" name="Front hardware caption">
            <a:extLst xmlns:a="http://schemas.openxmlformats.org/drawingml/2006/main">
              <a:ext uri="{FF2B5EF4-FFF2-40B4-BE49-F238E27FC236}">
                <a16:creationId xmlns:a16="http://schemas.microsoft.com/office/drawing/2014/main" id="{6F2A215D-3BA8-4DF6-B48C-5680DBA6C05A}"/>
              </a:ext>
            </a:extLst>
          </p:cNvPr>
          <p:cNvSpPr>
            <a:spLocks xmlns:a="http://schemas.openxmlformats.org/drawingml/2006/main" noGrp="1"/>
          </p:cNvSpPr>
          <p:nvPr/>
        </p:nvSpPr>
        <p:spPr>
          <a:xfrm xmlns:a="http://schemas.openxmlformats.org/drawingml/2006/main">
            <a:off x="7848600" y="681037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292B2D"/>
                </a:solidFill>
                <a:latin typeface="Helvetica Neue"/>
                <a:ea typeface="Helvetica Neue"/>
                <a:cs typeface="Helvetica Neue"/>
              </a:defRPr>
            </a:pPr>
            <a:r>
              <a:rPr sz="1800" b="1">
                <a:solidFill>
                  <a:srgbClr val="292B2D"/>
                </a:solidFill>
                <a:latin typeface="Helvetica Neue"/>
                <a:ea typeface="Helvetica Neue"/>
                <a:cs typeface="Helvetica Neue"/>
              </a:rPr>
              <a:t>Two swing-out trays</a:t>
            </a:r>
          </a:p>
        </p:txBody>
      </p:sp>
      <p:sp>
        <p:nvSpPr>
          <p:cNvPr id="35" name="Corner functional note">
            <a:extLst xmlns:a="http://schemas.openxmlformats.org/drawingml/2006/main">
              <a:ext uri="{FF2B5EF4-FFF2-40B4-BE49-F238E27FC236}">
                <a16:creationId xmlns:a16="http://schemas.microsoft.com/office/drawing/2014/main" id="{014589E0-A421-45FB-B752-A5793AB21B9C}"/>
              </a:ext>
            </a:extLst>
          </p:cNvPr>
          <p:cNvSpPr>
            <a:spLocks xmlns:a="http://schemas.openxmlformats.org/drawingml/2006/main" noGrp="1"/>
          </p:cNvSpPr>
          <p:nvPr/>
        </p:nvSpPr>
        <p:spPr>
          <a:xfrm xmlns:a="http://schemas.openxmlformats.org/drawingml/2006/main">
            <a:off x="885825" y="7296150"/>
            <a:ext cx="1036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292B2D"/>
                </a:solidFill>
                <a:latin typeface="Helvetica Neue"/>
                <a:ea typeface="Helvetica Neue"/>
                <a:cs typeface="Helvetica Neue"/>
              </a:defRPr>
            </a:pPr>
            <a:r>
              <a:rPr sz="1725" b="0">
                <a:solidFill>
                  <a:srgbClr val="292B2D"/>
                </a:solidFill>
                <a:latin typeface="Helvetica Neue"/>
                <a:ea typeface="Helvetica Neue"/>
                <a:cs typeface="Helvetica Neue"/>
              </a:rPr>
              <a:t>Final door swing and tray clearances need vendor confirmation</a:t>
            </a:r>
          </a:p>
        </p:txBody>
      </p:sp>
    </p:spTree>
    <p:extLst>
      <p:ext uri="{BB962C8B-B14F-4D97-AF65-F5344CB8AC3E}">
        <p14:creationId xmlns:p14="http://schemas.microsoft.com/office/powerpoint/2010/main" val="19575664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2026-09-14T10:09:26.8070000Z</dcterms:created>
  <dcterms:modified xsi:type="dcterms:W3CDTF">2026-09-14T10:09:26.8070000Z</dcterms:modified>
</coreProperties>
</file>