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7"/>
  </p:normalViewPr>
  <p:slideViewPr>
    <p:cSldViewPr snapToGrid="0">
      <p:cViewPr varScale="1">
        <p:scale>
          <a:sx n="83" d="100"/>
          <a:sy n="83" d="100"/>
        </p:scale>
        <p:origin x="81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undefined Plan covers only the counter arrangement visible in the accepted image. It does not replace the architect’s full kitchen room plan or depict every opening. Wall-run orientation follows the client’s image: window wall across the page, RO wall turning down the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client-accepted kitchen image, /var/folders/9j/pr9fzfvn3815_nldcz11bwr00000gn/T/codex-clipboard-7d83e2f8-f2f7-4219-b084-60f5f77d3b26.png. Client instructions govern drawer tier alignment, division aligned with window mullion, rack width equal to sink width, narrower concealed RO with dispensing access cut-out, two-bowl sink, four burners, concealed mini geyser and corner storage. The drawings are editable schematic reconstructions for client corrections. They are not surveyed elevations or cabinet fabrication dimensions. Architecture and the 3D model have not been 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client-accepted kitchen image, /var/folders/9j/pr9fzfvn3815_nldcz11bwr00000gn/T/codex-clipboard-7d83e2f8-f2f7-4219-b084-60f5f77d3b26.png. Client instructions govern drawer tier alignment, division aligned with window mullion, rack width equal to sink width, narrower concealed RO with dispensing access cut-out, two-bowl sink, four burners, concealed mini geyser and corner storage. The drawings are editable schematic reconstructions for client corrections. They are not surveyed elevations or cabinet fabrication dimensions. Architecture and the 3D model have not been 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Title">
            <a:extLst>
              <a:ext uri="{FF2B5EF4-FFF2-40B4-BE49-F238E27FC236}">
                <a16:creationId xmlns:a16="http://schemas.microsoft.com/office/drawing/2014/main" id="{1A5BBFC0-1B8B-4CB6-9AFE-182E7E2076C8}"/>
              </a:ext>
            </a:extLst>
          </p:cNvPr>
          <p:cNvSpPr>
            <a:spLocks noGrp="1"/>
          </p:cNvSpPr>
          <p:nvPr/>
        </p:nvSpPr>
        <p:spPr>
          <a:xfrm>
            <a:off x="609600" y="400050"/>
            <a:ext cx="13906500" cy="514350"/>
          </a:xfrm>
          <a:prstGeom prst="rect">
            <a:avLst/>
          </a:prstGeom>
          <a:noFill/>
          <a:ln w="0">
            <a:noFill/>
            <a:prstDash val="solid"/>
          </a:ln>
        </p:spPr>
        <p:txBody>
          <a:bodyPr wrap="none" lIns="0" tIns="0" rIns="0" bIns="0" anchor="ctr">
            <a:noAutofit/>
          </a:bodyPr>
          <a:lstStyle/>
          <a:p>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Kitchen counter layout</a:t>
            </a:r>
          </a:p>
        </p:txBody>
      </p:sp>
      <p:sp>
        <p:nvSpPr>
          <p:cNvPr id="2" name="Subtitle">
            <a:extLst>
              <a:ext uri="{FF2B5EF4-FFF2-40B4-BE49-F238E27FC236}">
                <a16:creationId xmlns:a16="http://schemas.microsoft.com/office/drawing/2014/main" id="{15118ABA-01D2-4C60-96E5-5CFD1D30A6C1}"/>
              </a:ext>
            </a:extLst>
          </p:cNvPr>
          <p:cNvSpPr>
            <a:spLocks noGrp="1"/>
          </p:cNvSpPr>
          <p:nvPr/>
        </p:nvSpPr>
        <p:spPr>
          <a:xfrm>
            <a:off x="628650" y="990600"/>
            <a:ext cx="13906500" cy="323850"/>
          </a:xfrm>
          <a:prstGeom prst="rect">
            <a:avLst/>
          </a:prstGeom>
          <a:noFill/>
          <a:ln w="0">
            <a:noFill/>
            <a:prstDash val="solid"/>
          </a:ln>
        </p:spPr>
        <p:txBody>
          <a:bodyPr wrap="none" lIns="0" tIns="0" rIns="0" bIns="0" anchor="ctr">
            <a:noAutofit/>
          </a:bodyPr>
          <a:lstStyle/>
          <a:p>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Top view of the working L-shaped runs</a:t>
            </a:r>
          </a:p>
        </p:txBody>
      </p:sp>
      <p:sp>
        <p:nvSpPr>
          <p:cNvPr id="3" name="Title rule">
            <a:extLst>
              <a:ext uri="{FF2B5EF4-FFF2-40B4-BE49-F238E27FC236}">
                <a16:creationId xmlns:a16="http://schemas.microsoft.com/office/drawing/2014/main" id="{C1C49E75-1880-496C-9433-7E0A9746C7D9}"/>
              </a:ext>
            </a:extLst>
          </p:cNvPr>
          <p:cNvSpPr>
            <a:spLocks noGrp="1"/>
          </p:cNvSpPr>
          <p:nvPr/>
        </p:nvSpPr>
        <p:spPr>
          <a:xfrm>
            <a:off x="628650" y="1419225"/>
            <a:ext cx="13982700" cy="0"/>
          </a:xfrm>
          <a:prstGeom prst="line">
            <a:avLst/>
          </a:prstGeom>
          <a:noFill/>
          <a:ln w="9525">
            <a:solidFill>
              <a:srgbClr val="CFC5B7"/>
            </a:solidFill>
            <a:prstDash val="solid"/>
          </a:ln>
        </p:spPr>
      </p:sp>
      <p:sp>
        <p:nvSpPr>
          <p:cNvPr id="4" name="Corrections heading">
            <a:extLst>
              <a:ext uri="{FF2B5EF4-FFF2-40B4-BE49-F238E27FC236}">
                <a16:creationId xmlns:a16="http://schemas.microsoft.com/office/drawing/2014/main" id="{198070EF-85C5-4139-8890-D6F8336830A5}"/>
              </a:ext>
            </a:extLst>
          </p:cNvPr>
          <p:cNvSpPr>
            <a:spLocks noGrp="1"/>
          </p:cNvSpPr>
          <p:nvPr/>
        </p:nvSpPr>
        <p:spPr>
          <a:xfrm>
            <a:off x="12334875" y="1885950"/>
            <a:ext cx="2333625" cy="333375"/>
          </a:xfrm>
          <a:prstGeom prst="rect">
            <a:avLst/>
          </a:prstGeom>
          <a:noFill/>
          <a:ln w="0">
            <a:noFill/>
            <a:prstDash val="solid"/>
          </a:ln>
        </p:spPr>
        <p:txBody>
          <a:bodyPr wrap="none" lIns="0" tIns="0" rIns="0" bIns="0" anchor="ctr">
            <a:noAutofit/>
          </a:bodyPr>
          <a:lstStyle/>
          <a:p>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a:ext uri="{FF2B5EF4-FFF2-40B4-BE49-F238E27FC236}">
                <a16:creationId xmlns:a16="http://schemas.microsoft.com/office/drawing/2014/main" id="{DE4DD1BB-573A-4288-9D84-8D89B31F21DA}"/>
              </a:ext>
            </a:extLst>
          </p:cNvPr>
          <p:cNvSpPr>
            <a:spLocks noGrp="1"/>
          </p:cNvSpPr>
          <p:nvPr/>
        </p:nvSpPr>
        <p:spPr>
          <a:xfrm>
            <a:off x="12334875" y="2495550"/>
            <a:ext cx="2276475" cy="0"/>
          </a:xfrm>
          <a:prstGeom prst="line">
            <a:avLst/>
          </a:prstGeom>
          <a:noFill/>
          <a:ln w="9525">
            <a:solidFill>
              <a:srgbClr val="D9D4CD"/>
            </a:solidFill>
            <a:prstDash val="solid"/>
          </a:ln>
        </p:spPr>
      </p:sp>
      <p:sp>
        <p:nvSpPr>
          <p:cNvPr id="6" name="Correction line 1">
            <a:extLst>
              <a:ext uri="{FF2B5EF4-FFF2-40B4-BE49-F238E27FC236}">
                <a16:creationId xmlns:a16="http://schemas.microsoft.com/office/drawing/2014/main" id="{52F3584E-82C2-44A5-A749-3A821BF7A7F1}"/>
              </a:ext>
            </a:extLst>
          </p:cNvPr>
          <p:cNvSpPr>
            <a:spLocks noGrp="1"/>
          </p:cNvSpPr>
          <p:nvPr/>
        </p:nvSpPr>
        <p:spPr>
          <a:xfrm>
            <a:off x="12334875" y="3181350"/>
            <a:ext cx="2276475" cy="0"/>
          </a:xfrm>
          <a:prstGeom prst="line">
            <a:avLst/>
          </a:prstGeom>
          <a:noFill/>
          <a:ln w="9525">
            <a:solidFill>
              <a:srgbClr val="D9D4CD"/>
            </a:solidFill>
            <a:prstDash val="solid"/>
          </a:ln>
        </p:spPr>
      </p:sp>
      <p:sp>
        <p:nvSpPr>
          <p:cNvPr id="7" name="Correction line 2">
            <a:extLst>
              <a:ext uri="{FF2B5EF4-FFF2-40B4-BE49-F238E27FC236}">
                <a16:creationId xmlns:a16="http://schemas.microsoft.com/office/drawing/2014/main" id="{7A2178E5-E80A-49E3-B91A-FB92C868A104}"/>
              </a:ext>
            </a:extLst>
          </p:cNvPr>
          <p:cNvSpPr>
            <a:spLocks noGrp="1"/>
          </p:cNvSpPr>
          <p:nvPr/>
        </p:nvSpPr>
        <p:spPr>
          <a:xfrm>
            <a:off x="12334875" y="3867150"/>
            <a:ext cx="2276475" cy="0"/>
          </a:xfrm>
          <a:prstGeom prst="line">
            <a:avLst/>
          </a:prstGeom>
          <a:noFill/>
          <a:ln w="9525">
            <a:solidFill>
              <a:srgbClr val="D9D4CD"/>
            </a:solidFill>
            <a:prstDash val="solid"/>
          </a:ln>
        </p:spPr>
      </p:sp>
      <p:sp>
        <p:nvSpPr>
          <p:cNvPr id="8" name="Correction line 3">
            <a:extLst>
              <a:ext uri="{FF2B5EF4-FFF2-40B4-BE49-F238E27FC236}">
                <a16:creationId xmlns:a16="http://schemas.microsoft.com/office/drawing/2014/main" id="{545A10E2-A676-4C37-81AE-59FFBEAEF7B8}"/>
              </a:ext>
            </a:extLst>
          </p:cNvPr>
          <p:cNvSpPr>
            <a:spLocks noGrp="1"/>
          </p:cNvSpPr>
          <p:nvPr/>
        </p:nvSpPr>
        <p:spPr>
          <a:xfrm>
            <a:off x="12334875" y="4552950"/>
            <a:ext cx="2276475" cy="0"/>
          </a:xfrm>
          <a:prstGeom prst="line">
            <a:avLst/>
          </a:prstGeom>
          <a:noFill/>
          <a:ln w="9525">
            <a:solidFill>
              <a:srgbClr val="D9D4CD"/>
            </a:solidFill>
            <a:prstDash val="solid"/>
          </a:ln>
        </p:spPr>
      </p:sp>
      <p:sp>
        <p:nvSpPr>
          <p:cNvPr id="9" name="Correction line 4">
            <a:extLst>
              <a:ext uri="{FF2B5EF4-FFF2-40B4-BE49-F238E27FC236}">
                <a16:creationId xmlns:a16="http://schemas.microsoft.com/office/drawing/2014/main" id="{C4273FCA-5073-4F48-A100-1CD2D1DCF2AA}"/>
              </a:ext>
            </a:extLst>
          </p:cNvPr>
          <p:cNvSpPr>
            <a:spLocks noGrp="1"/>
          </p:cNvSpPr>
          <p:nvPr/>
        </p:nvSpPr>
        <p:spPr>
          <a:xfrm>
            <a:off x="12334875" y="5238750"/>
            <a:ext cx="2276475" cy="0"/>
          </a:xfrm>
          <a:prstGeom prst="line">
            <a:avLst/>
          </a:prstGeom>
          <a:noFill/>
          <a:ln w="9525">
            <a:solidFill>
              <a:srgbClr val="D9D4CD"/>
            </a:solidFill>
            <a:prstDash val="solid"/>
          </a:ln>
        </p:spPr>
      </p:sp>
      <p:sp>
        <p:nvSpPr>
          <p:cNvPr id="10" name="Correction line 5">
            <a:extLst>
              <a:ext uri="{FF2B5EF4-FFF2-40B4-BE49-F238E27FC236}">
                <a16:creationId xmlns:a16="http://schemas.microsoft.com/office/drawing/2014/main" id="{FB0D5B29-4D8F-435B-9FA6-9B52F31D2903}"/>
              </a:ext>
            </a:extLst>
          </p:cNvPr>
          <p:cNvSpPr>
            <a:spLocks noGrp="1"/>
          </p:cNvSpPr>
          <p:nvPr/>
        </p:nvSpPr>
        <p:spPr>
          <a:xfrm>
            <a:off x="12334875" y="5924550"/>
            <a:ext cx="2276475" cy="0"/>
          </a:xfrm>
          <a:prstGeom prst="line">
            <a:avLst/>
          </a:prstGeom>
          <a:noFill/>
          <a:ln w="9525">
            <a:solidFill>
              <a:srgbClr val="D9D4CD"/>
            </a:solidFill>
            <a:prstDash val="solid"/>
          </a:ln>
        </p:spPr>
      </p:sp>
      <p:sp>
        <p:nvSpPr>
          <p:cNvPr id="11" name="Footer">
            <a:extLst>
              <a:ext uri="{FF2B5EF4-FFF2-40B4-BE49-F238E27FC236}">
                <a16:creationId xmlns:a16="http://schemas.microsoft.com/office/drawing/2014/main" id="{9C726097-56D6-4229-B477-E06175B7DD5B}"/>
              </a:ext>
            </a:extLst>
          </p:cNvPr>
          <p:cNvSpPr>
            <a:spLocks noGrp="1"/>
          </p:cNvSpPr>
          <p:nvPr/>
        </p:nvSpPr>
        <p:spPr>
          <a:xfrm>
            <a:off x="628650" y="8048625"/>
            <a:ext cx="13811250" cy="285750"/>
          </a:xfrm>
          <a:prstGeom prst="rect">
            <a:avLst/>
          </a:prstGeom>
          <a:noFill/>
          <a:ln w="0">
            <a:noFill/>
            <a:prstDash val="solid"/>
          </a:ln>
        </p:spPr>
        <p:txBody>
          <a:bodyPr wrap="none" lIns="0" tIns="0" rIns="0" bIns="0" anchor="ctr">
            <a:noAutofit/>
          </a:bodyPr>
          <a:lstStyle/>
          <a:p>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Window-wall worktop">
            <a:extLst>
              <a:ext uri="{FF2B5EF4-FFF2-40B4-BE49-F238E27FC236}">
                <a16:creationId xmlns:a16="http://schemas.microsoft.com/office/drawing/2014/main" id="{3B636C17-8727-4116-8642-C695D87AADBB}"/>
              </a:ext>
            </a:extLst>
          </p:cNvPr>
          <p:cNvSpPr>
            <a:spLocks noGrp="1"/>
          </p:cNvSpPr>
          <p:nvPr/>
        </p:nvSpPr>
        <p:spPr>
          <a:xfrm>
            <a:off x="1047750" y="2190750"/>
            <a:ext cx="9239250" cy="1238250"/>
          </a:xfrm>
          <a:prstGeom prst="rect">
            <a:avLst/>
          </a:prstGeom>
          <a:solidFill>
            <a:srgbClr val="292B2D"/>
          </a:solidFill>
          <a:ln w="14288">
            <a:solidFill>
              <a:srgbClr val="6B5543"/>
            </a:solidFill>
            <a:prstDash val="solid"/>
          </a:ln>
        </p:spPr>
      </p:sp>
      <p:sp>
        <p:nvSpPr>
          <p:cNvPr id="13" name="RO-wall worktop">
            <a:extLst>
              <a:ext uri="{FF2B5EF4-FFF2-40B4-BE49-F238E27FC236}">
                <a16:creationId xmlns:a16="http://schemas.microsoft.com/office/drawing/2014/main" id="{4E18506A-0826-4ACB-AFEB-85351460802B}"/>
              </a:ext>
            </a:extLst>
          </p:cNvPr>
          <p:cNvSpPr>
            <a:spLocks noGrp="1"/>
          </p:cNvSpPr>
          <p:nvPr/>
        </p:nvSpPr>
        <p:spPr>
          <a:xfrm>
            <a:off x="9048750" y="3429000"/>
            <a:ext cx="1238250" cy="3524250"/>
          </a:xfrm>
          <a:prstGeom prst="rect">
            <a:avLst/>
          </a:prstGeom>
          <a:solidFill>
            <a:srgbClr val="292B2D"/>
          </a:solidFill>
          <a:ln w="14288">
            <a:solidFill>
              <a:srgbClr val="6B5543"/>
            </a:solidFill>
            <a:prstDash val="solid"/>
          </a:ln>
        </p:spPr>
      </p:sp>
      <p:sp>
        <p:nvSpPr>
          <p:cNvPr id="14" name="Window wall">
            <a:extLst>
              <a:ext uri="{FF2B5EF4-FFF2-40B4-BE49-F238E27FC236}">
                <a16:creationId xmlns:a16="http://schemas.microsoft.com/office/drawing/2014/main" id="{3AE6E52B-19AD-413E-9482-36151DE570C8}"/>
              </a:ext>
            </a:extLst>
          </p:cNvPr>
          <p:cNvSpPr>
            <a:spLocks noGrp="1"/>
          </p:cNvSpPr>
          <p:nvPr/>
        </p:nvSpPr>
        <p:spPr>
          <a:xfrm>
            <a:off x="1047750" y="2009775"/>
            <a:ext cx="9239250" cy="0"/>
          </a:xfrm>
          <a:prstGeom prst="line">
            <a:avLst/>
          </a:prstGeom>
          <a:noFill/>
          <a:ln w="38100">
            <a:solidFill>
              <a:srgbClr val="6B5543"/>
            </a:solidFill>
            <a:prstDash val="solid"/>
          </a:ln>
        </p:spPr>
      </p:sp>
      <p:sp>
        <p:nvSpPr>
          <p:cNvPr id="15" name="RO wall">
            <a:extLst>
              <a:ext uri="{FF2B5EF4-FFF2-40B4-BE49-F238E27FC236}">
                <a16:creationId xmlns:a16="http://schemas.microsoft.com/office/drawing/2014/main" id="{B582B29B-7FB5-49D1-9544-5B8BCE20BB3E}"/>
              </a:ext>
            </a:extLst>
          </p:cNvPr>
          <p:cNvSpPr>
            <a:spLocks noGrp="1"/>
          </p:cNvSpPr>
          <p:nvPr/>
        </p:nvSpPr>
        <p:spPr>
          <a:xfrm>
            <a:off x="10429875" y="2190750"/>
            <a:ext cx="0" cy="4857750"/>
          </a:xfrm>
          <a:prstGeom prst="line">
            <a:avLst/>
          </a:prstGeom>
          <a:noFill/>
          <a:ln w="38100">
            <a:solidFill>
              <a:srgbClr val="6B5543"/>
            </a:solidFill>
            <a:prstDash val="solid"/>
          </a:ln>
        </p:spPr>
      </p:sp>
      <p:sp>
        <p:nvSpPr>
          <p:cNvPr id="16" name="Main window plan">
            <a:extLst>
              <a:ext uri="{FF2B5EF4-FFF2-40B4-BE49-F238E27FC236}">
                <a16:creationId xmlns:a16="http://schemas.microsoft.com/office/drawing/2014/main" id="{C9C56DCB-E05C-45AF-8B3F-CB312434629E}"/>
              </a:ext>
            </a:extLst>
          </p:cNvPr>
          <p:cNvSpPr>
            <a:spLocks noGrp="1"/>
          </p:cNvSpPr>
          <p:nvPr/>
        </p:nvSpPr>
        <p:spPr>
          <a:xfrm>
            <a:off x="4238625" y="1924050"/>
            <a:ext cx="3190875" cy="171450"/>
          </a:xfrm>
          <a:prstGeom prst="rect">
            <a:avLst/>
          </a:prstGeom>
          <a:solidFill>
            <a:srgbClr val="1C3042"/>
          </a:solidFill>
          <a:ln w="19050">
            <a:solidFill>
              <a:srgbClr val="457A90"/>
            </a:solidFill>
            <a:prstDash val="solid"/>
          </a:ln>
        </p:spPr>
      </p:sp>
      <p:sp>
        <p:nvSpPr>
          <p:cNvPr id="17" name="Window centre mullion">
            <a:extLst>
              <a:ext uri="{FF2B5EF4-FFF2-40B4-BE49-F238E27FC236}">
                <a16:creationId xmlns:a16="http://schemas.microsoft.com/office/drawing/2014/main" id="{0A7CFBA2-4BDF-4D62-9290-110BF947E5B1}"/>
              </a:ext>
            </a:extLst>
          </p:cNvPr>
          <p:cNvSpPr>
            <a:spLocks noGrp="1"/>
          </p:cNvSpPr>
          <p:nvPr/>
        </p:nvSpPr>
        <p:spPr>
          <a:xfrm>
            <a:off x="5829300" y="1924050"/>
            <a:ext cx="0" cy="171450"/>
          </a:xfrm>
          <a:prstGeom prst="line">
            <a:avLst/>
          </a:prstGeom>
          <a:noFill/>
          <a:ln w="38100">
            <a:solidFill>
              <a:srgbClr val="A8ADB0"/>
            </a:solidFill>
            <a:prstDash val="solid"/>
          </a:ln>
        </p:spPr>
      </p:sp>
      <p:sp>
        <p:nvSpPr>
          <p:cNvPr id="18" name="Window-wall label">
            <a:extLst>
              <a:ext uri="{FF2B5EF4-FFF2-40B4-BE49-F238E27FC236}">
                <a16:creationId xmlns:a16="http://schemas.microsoft.com/office/drawing/2014/main" id="{6E56B8FD-B5D5-4417-B2AA-E5206B22F9BA}"/>
              </a:ext>
            </a:extLst>
          </p:cNvPr>
          <p:cNvSpPr>
            <a:spLocks noGrp="1"/>
          </p:cNvSpPr>
          <p:nvPr/>
        </p:nvSpPr>
        <p:spPr>
          <a:xfrm>
            <a:off x="3476625" y="1619250"/>
            <a:ext cx="4857750" cy="285750"/>
          </a:xfrm>
          <a:prstGeom prst="rect">
            <a:avLst/>
          </a:prstGeom>
          <a:noFill/>
          <a:ln w="0">
            <a:noFill/>
            <a:prstDash val="solid"/>
          </a:ln>
        </p:spPr>
        <p:txBody>
          <a:bodyPr wrap="none" lIns="0" tIns="0" rIns="0" bIns="0" anchor="ctr">
            <a:noAutofit/>
          </a:bodyPr>
          <a:lstStyle/>
          <a:p>
            <a:pPr algn="ctr">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WINDOW WALL</a:t>
            </a:r>
          </a:p>
        </p:txBody>
      </p:sp>
      <p:sp>
        <p:nvSpPr>
          <p:cNvPr id="19" name="RO-wall label">
            <a:extLst>
              <a:ext uri="{FF2B5EF4-FFF2-40B4-BE49-F238E27FC236}">
                <a16:creationId xmlns:a16="http://schemas.microsoft.com/office/drawing/2014/main" id="{64A0B1FB-CAA6-44B8-92F1-BF9BADB29024}"/>
              </a:ext>
            </a:extLst>
          </p:cNvPr>
          <p:cNvSpPr>
            <a:spLocks noGrp="1"/>
          </p:cNvSpPr>
          <p:nvPr/>
        </p:nvSpPr>
        <p:spPr>
          <a:xfrm>
            <a:off x="10572750" y="3857625"/>
            <a:ext cx="1333500" cy="333375"/>
          </a:xfrm>
          <a:prstGeom prst="rect">
            <a:avLst/>
          </a:prstGeom>
          <a:noFill/>
          <a:ln w="0">
            <a:noFill/>
            <a:prstDash val="solid"/>
          </a:ln>
        </p:spPr>
        <p:txBody>
          <a:bodyPr wrap="none" lIns="0" tIns="0" rIns="0" bIns="0" anchor="ctr">
            <a:noAutofit/>
          </a:bodyPr>
          <a:lstStyle/>
          <a:p>
            <a:pPr algn="l">
              <a:defRPr sz="1800" b="1">
                <a:solidFill>
                  <a:srgbClr val="292B2D"/>
                </a:solidFill>
                <a:latin typeface="Helvetica Neue"/>
                <a:ea typeface="Helvetica Neue"/>
                <a:cs typeface="Helvetica Neue"/>
              </a:defRPr>
            </a:pPr>
            <a:r>
              <a:rPr sz="1800" b="1">
                <a:solidFill>
                  <a:srgbClr val="292B2D"/>
                </a:solidFill>
                <a:latin typeface="Helvetica Neue"/>
                <a:ea typeface="Helvetica Neue"/>
                <a:cs typeface="Helvetica Neue"/>
              </a:rPr>
              <a:t>RO WALL</a:t>
            </a:r>
          </a:p>
        </p:txBody>
      </p:sp>
      <p:sp>
        <p:nvSpPr>
          <p:cNvPr id="20" name="Hob plan">
            <a:extLst>
              <a:ext uri="{FF2B5EF4-FFF2-40B4-BE49-F238E27FC236}">
                <a16:creationId xmlns:a16="http://schemas.microsoft.com/office/drawing/2014/main" id="{EB53C7D6-89AA-4F2E-823A-5FD73804EC0F}"/>
              </a:ext>
            </a:extLst>
          </p:cNvPr>
          <p:cNvSpPr>
            <a:spLocks noGrp="1"/>
          </p:cNvSpPr>
          <p:nvPr/>
        </p:nvSpPr>
        <p:spPr>
          <a:xfrm>
            <a:off x="7858125" y="2400300"/>
            <a:ext cx="1905000" cy="819150"/>
          </a:xfrm>
          <a:prstGeom prst="rect">
            <a:avLst/>
          </a:prstGeom>
          <a:solidFill>
            <a:srgbClr val="292B2D"/>
          </a:solidFill>
          <a:ln w="19050">
            <a:solidFill>
              <a:srgbClr val="A8ADB0"/>
            </a:solidFill>
            <a:prstDash val="solid"/>
          </a:ln>
        </p:spPr>
      </p:sp>
      <p:sp>
        <p:nvSpPr>
          <p:cNvPr id="21" name="Burner 1 outer">
            <a:extLst>
              <a:ext uri="{FF2B5EF4-FFF2-40B4-BE49-F238E27FC236}">
                <a16:creationId xmlns:a16="http://schemas.microsoft.com/office/drawing/2014/main" id="{7107EF56-D810-4A74-B51E-8F38000A7BED}"/>
              </a:ext>
            </a:extLst>
          </p:cNvPr>
          <p:cNvSpPr>
            <a:spLocks noGrp="1"/>
          </p:cNvSpPr>
          <p:nvPr/>
        </p:nvSpPr>
        <p:spPr>
          <a:xfrm>
            <a:off x="8048625" y="2476500"/>
            <a:ext cx="247650" cy="247650"/>
          </a:xfrm>
          <a:prstGeom prst="ellipse">
            <a:avLst/>
          </a:prstGeom>
          <a:solidFill>
            <a:srgbClr val="292B2D"/>
          </a:solidFill>
          <a:ln w="12383">
            <a:solidFill>
              <a:srgbClr val="A8ADB0"/>
            </a:solidFill>
            <a:prstDash val="solid"/>
          </a:ln>
        </p:spPr>
      </p:sp>
      <p:sp>
        <p:nvSpPr>
          <p:cNvPr id="22" name="Burner 1 ring">
            <a:extLst>
              <a:ext uri="{FF2B5EF4-FFF2-40B4-BE49-F238E27FC236}">
                <a16:creationId xmlns:a16="http://schemas.microsoft.com/office/drawing/2014/main" id="{459D3E71-46ED-415F-BE77-495898E34432}"/>
              </a:ext>
            </a:extLst>
          </p:cNvPr>
          <p:cNvSpPr>
            <a:spLocks noGrp="1"/>
          </p:cNvSpPr>
          <p:nvPr/>
        </p:nvSpPr>
        <p:spPr>
          <a:xfrm>
            <a:off x="8104346" y="2532221"/>
            <a:ext cx="136208" cy="136208"/>
          </a:xfrm>
          <a:prstGeom prst="ellipse">
            <a:avLst/>
          </a:prstGeom>
          <a:solidFill>
            <a:srgbClr val="A8ADB0"/>
          </a:solidFill>
          <a:ln w="9525">
            <a:solidFill>
              <a:srgbClr val="292B2D"/>
            </a:solidFill>
            <a:prstDash val="solid"/>
          </a:ln>
        </p:spPr>
      </p:sp>
      <p:sp>
        <p:nvSpPr>
          <p:cNvPr id="23" name="Burner 1 grate H">
            <a:extLst>
              <a:ext uri="{FF2B5EF4-FFF2-40B4-BE49-F238E27FC236}">
                <a16:creationId xmlns:a16="http://schemas.microsoft.com/office/drawing/2014/main" id="{8EE3DC90-D0C9-4A04-9787-BB2609C16543}"/>
              </a:ext>
            </a:extLst>
          </p:cNvPr>
          <p:cNvSpPr>
            <a:spLocks noGrp="1"/>
          </p:cNvSpPr>
          <p:nvPr/>
        </p:nvSpPr>
        <p:spPr>
          <a:xfrm>
            <a:off x="7991475" y="2600325"/>
            <a:ext cx="361950" cy="0"/>
          </a:xfrm>
          <a:prstGeom prst="line">
            <a:avLst/>
          </a:prstGeom>
          <a:noFill/>
          <a:ln w="28575">
            <a:solidFill>
              <a:srgbClr val="A8ADB0"/>
            </a:solidFill>
            <a:prstDash val="solid"/>
          </a:ln>
        </p:spPr>
      </p:sp>
      <p:sp>
        <p:nvSpPr>
          <p:cNvPr id="24" name="Burner 1 grate V">
            <a:extLst>
              <a:ext uri="{FF2B5EF4-FFF2-40B4-BE49-F238E27FC236}">
                <a16:creationId xmlns:a16="http://schemas.microsoft.com/office/drawing/2014/main" id="{A43F1D58-4EE0-48E5-B1FD-517B8FAD74EF}"/>
              </a:ext>
            </a:extLst>
          </p:cNvPr>
          <p:cNvSpPr>
            <a:spLocks noGrp="1"/>
          </p:cNvSpPr>
          <p:nvPr/>
        </p:nvSpPr>
        <p:spPr>
          <a:xfrm>
            <a:off x="8172450" y="2419350"/>
            <a:ext cx="0" cy="361950"/>
          </a:xfrm>
          <a:prstGeom prst="line">
            <a:avLst/>
          </a:prstGeom>
          <a:noFill/>
          <a:ln w="28575">
            <a:solidFill>
              <a:srgbClr val="A8ADB0"/>
            </a:solidFill>
            <a:prstDash val="solid"/>
          </a:ln>
        </p:spPr>
      </p:sp>
      <p:sp>
        <p:nvSpPr>
          <p:cNvPr id="25" name="Burner 2 outer">
            <a:extLst>
              <a:ext uri="{FF2B5EF4-FFF2-40B4-BE49-F238E27FC236}">
                <a16:creationId xmlns:a16="http://schemas.microsoft.com/office/drawing/2014/main" id="{91D935CC-0506-4AF2-A091-E2E08F82CBA8}"/>
              </a:ext>
            </a:extLst>
          </p:cNvPr>
          <p:cNvSpPr>
            <a:spLocks noGrp="1"/>
          </p:cNvSpPr>
          <p:nvPr/>
        </p:nvSpPr>
        <p:spPr>
          <a:xfrm>
            <a:off x="9334500" y="2476500"/>
            <a:ext cx="247650" cy="247650"/>
          </a:xfrm>
          <a:prstGeom prst="ellipse">
            <a:avLst/>
          </a:prstGeom>
          <a:solidFill>
            <a:srgbClr val="292B2D"/>
          </a:solidFill>
          <a:ln w="12383">
            <a:solidFill>
              <a:srgbClr val="A8ADB0"/>
            </a:solidFill>
            <a:prstDash val="solid"/>
          </a:ln>
        </p:spPr>
      </p:sp>
      <p:sp>
        <p:nvSpPr>
          <p:cNvPr id="26" name="Burner 2 ring">
            <a:extLst>
              <a:ext uri="{FF2B5EF4-FFF2-40B4-BE49-F238E27FC236}">
                <a16:creationId xmlns:a16="http://schemas.microsoft.com/office/drawing/2014/main" id="{4247E2F7-4B9E-42CB-B9B8-6C925C4EBCF7}"/>
              </a:ext>
            </a:extLst>
          </p:cNvPr>
          <p:cNvSpPr>
            <a:spLocks noGrp="1"/>
          </p:cNvSpPr>
          <p:nvPr/>
        </p:nvSpPr>
        <p:spPr>
          <a:xfrm>
            <a:off x="9390221" y="2532221"/>
            <a:ext cx="136208" cy="136208"/>
          </a:xfrm>
          <a:prstGeom prst="ellipse">
            <a:avLst/>
          </a:prstGeom>
          <a:solidFill>
            <a:srgbClr val="A8ADB0"/>
          </a:solidFill>
          <a:ln w="9525">
            <a:solidFill>
              <a:srgbClr val="292B2D"/>
            </a:solidFill>
            <a:prstDash val="solid"/>
          </a:ln>
        </p:spPr>
      </p:sp>
      <p:sp>
        <p:nvSpPr>
          <p:cNvPr id="27" name="Burner 2 grate H">
            <a:extLst>
              <a:ext uri="{FF2B5EF4-FFF2-40B4-BE49-F238E27FC236}">
                <a16:creationId xmlns:a16="http://schemas.microsoft.com/office/drawing/2014/main" id="{59379FD6-8027-44B2-A42A-C7AB938E8F76}"/>
              </a:ext>
            </a:extLst>
          </p:cNvPr>
          <p:cNvSpPr>
            <a:spLocks noGrp="1"/>
          </p:cNvSpPr>
          <p:nvPr/>
        </p:nvSpPr>
        <p:spPr>
          <a:xfrm>
            <a:off x="9277350" y="2600325"/>
            <a:ext cx="361950" cy="0"/>
          </a:xfrm>
          <a:prstGeom prst="line">
            <a:avLst/>
          </a:prstGeom>
          <a:noFill/>
          <a:ln w="28575">
            <a:solidFill>
              <a:srgbClr val="A8ADB0"/>
            </a:solidFill>
            <a:prstDash val="solid"/>
          </a:ln>
        </p:spPr>
      </p:sp>
      <p:sp>
        <p:nvSpPr>
          <p:cNvPr id="28" name="Burner 2 grate V">
            <a:extLst>
              <a:ext uri="{FF2B5EF4-FFF2-40B4-BE49-F238E27FC236}">
                <a16:creationId xmlns:a16="http://schemas.microsoft.com/office/drawing/2014/main" id="{A61879B0-F619-40D4-9C8E-E5367C5B2F3D}"/>
              </a:ext>
            </a:extLst>
          </p:cNvPr>
          <p:cNvSpPr>
            <a:spLocks noGrp="1"/>
          </p:cNvSpPr>
          <p:nvPr/>
        </p:nvSpPr>
        <p:spPr>
          <a:xfrm>
            <a:off x="9458325" y="2419350"/>
            <a:ext cx="0" cy="361950"/>
          </a:xfrm>
          <a:prstGeom prst="line">
            <a:avLst/>
          </a:prstGeom>
          <a:noFill/>
          <a:ln w="28575">
            <a:solidFill>
              <a:srgbClr val="A8ADB0"/>
            </a:solidFill>
            <a:prstDash val="solid"/>
          </a:ln>
        </p:spPr>
      </p:sp>
      <p:sp>
        <p:nvSpPr>
          <p:cNvPr id="29" name="Burner 3 outer">
            <a:extLst>
              <a:ext uri="{FF2B5EF4-FFF2-40B4-BE49-F238E27FC236}">
                <a16:creationId xmlns:a16="http://schemas.microsoft.com/office/drawing/2014/main" id="{C982B21A-9825-4EDB-884E-7CE2226F58FE}"/>
              </a:ext>
            </a:extLst>
          </p:cNvPr>
          <p:cNvSpPr>
            <a:spLocks noGrp="1"/>
          </p:cNvSpPr>
          <p:nvPr/>
        </p:nvSpPr>
        <p:spPr>
          <a:xfrm>
            <a:off x="8048625" y="2905125"/>
            <a:ext cx="247650" cy="247650"/>
          </a:xfrm>
          <a:prstGeom prst="ellipse">
            <a:avLst/>
          </a:prstGeom>
          <a:solidFill>
            <a:srgbClr val="292B2D"/>
          </a:solidFill>
          <a:ln w="12383">
            <a:solidFill>
              <a:srgbClr val="A8ADB0"/>
            </a:solidFill>
            <a:prstDash val="solid"/>
          </a:ln>
        </p:spPr>
      </p:sp>
      <p:sp>
        <p:nvSpPr>
          <p:cNvPr id="30" name="Burner 3 ring">
            <a:extLst>
              <a:ext uri="{FF2B5EF4-FFF2-40B4-BE49-F238E27FC236}">
                <a16:creationId xmlns:a16="http://schemas.microsoft.com/office/drawing/2014/main" id="{A8649211-1710-48DB-8D7E-201B4D229CB2}"/>
              </a:ext>
            </a:extLst>
          </p:cNvPr>
          <p:cNvSpPr>
            <a:spLocks noGrp="1"/>
          </p:cNvSpPr>
          <p:nvPr/>
        </p:nvSpPr>
        <p:spPr>
          <a:xfrm>
            <a:off x="8104346" y="2960846"/>
            <a:ext cx="136208" cy="136208"/>
          </a:xfrm>
          <a:prstGeom prst="ellipse">
            <a:avLst/>
          </a:prstGeom>
          <a:solidFill>
            <a:srgbClr val="A8ADB0"/>
          </a:solidFill>
          <a:ln w="9525">
            <a:solidFill>
              <a:srgbClr val="292B2D"/>
            </a:solidFill>
            <a:prstDash val="solid"/>
          </a:ln>
        </p:spPr>
      </p:sp>
      <p:sp>
        <p:nvSpPr>
          <p:cNvPr id="31" name="Burner 3 grate H">
            <a:extLst>
              <a:ext uri="{FF2B5EF4-FFF2-40B4-BE49-F238E27FC236}">
                <a16:creationId xmlns:a16="http://schemas.microsoft.com/office/drawing/2014/main" id="{12DF94CF-71CE-4428-B80C-37618C2187F8}"/>
              </a:ext>
            </a:extLst>
          </p:cNvPr>
          <p:cNvSpPr>
            <a:spLocks noGrp="1"/>
          </p:cNvSpPr>
          <p:nvPr/>
        </p:nvSpPr>
        <p:spPr>
          <a:xfrm>
            <a:off x="7991475" y="3028950"/>
            <a:ext cx="361950" cy="0"/>
          </a:xfrm>
          <a:prstGeom prst="line">
            <a:avLst/>
          </a:prstGeom>
          <a:noFill/>
          <a:ln w="28575">
            <a:solidFill>
              <a:srgbClr val="A8ADB0"/>
            </a:solidFill>
            <a:prstDash val="solid"/>
          </a:ln>
        </p:spPr>
      </p:sp>
      <p:sp>
        <p:nvSpPr>
          <p:cNvPr id="32" name="Burner 3 grate V">
            <a:extLst>
              <a:ext uri="{FF2B5EF4-FFF2-40B4-BE49-F238E27FC236}">
                <a16:creationId xmlns:a16="http://schemas.microsoft.com/office/drawing/2014/main" id="{300FCB54-773E-4283-A114-BD6B1A505CC8}"/>
              </a:ext>
            </a:extLst>
          </p:cNvPr>
          <p:cNvSpPr>
            <a:spLocks noGrp="1"/>
          </p:cNvSpPr>
          <p:nvPr/>
        </p:nvSpPr>
        <p:spPr>
          <a:xfrm>
            <a:off x="8172450" y="2847975"/>
            <a:ext cx="0" cy="361950"/>
          </a:xfrm>
          <a:prstGeom prst="line">
            <a:avLst/>
          </a:prstGeom>
          <a:noFill/>
          <a:ln w="28575">
            <a:solidFill>
              <a:srgbClr val="A8ADB0"/>
            </a:solidFill>
            <a:prstDash val="solid"/>
          </a:ln>
        </p:spPr>
      </p:sp>
      <p:sp>
        <p:nvSpPr>
          <p:cNvPr id="33" name="Burner 4 outer">
            <a:extLst>
              <a:ext uri="{FF2B5EF4-FFF2-40B4-BE49-F238E27FC236}">
                <a16:creationId xmlns:a16="http://schemas.microsoft.com/office/drawing/2014/main" id="{7C52094D-9AC6-41C3-BD66-D9BF7C12DAF2}"/>
              </a:ext>
            </a:extLst>
          </p:cNvPr>
          <p:cNvSpPr>
            <a:spLocks noGrp="1"/>
          </p:cNvSpPr>
          <p:nvPr/>
        </p:nvSpPr>
        <p:spPr>
          <a:xfrm>
            <a:off x="9334500" y="2905125"/>
            <a:ext cx="247650" cy="247650"/>
          </a:xfrm>
          <a:prstGeom prst="ellipse">
            <a:avLst/>
          </a:prstGeom>
          <a:solidFill>
            <a:srgbClr val="292B2D"/>
          </a:solidFill>
          <a:ln w="12383">
            <a:solidFill>
              <a:srgbClr val="A8ADB0"/>
            </a:solidFill>
            <a:prstDash val="solid"/>
          </a:ln>
        </p:spPr>
      </p:sp>
      <p:sp>
        <p:nvSpPr>
          <p:cNvPr id="34" name="Burner 4 ring">
            <a:extLst>
              <a:ext uri="{FF2B5EF4-FFF2-40B4-BE49-F238E27FC236}">
                <a16:creationId xmlns:a16="http://schemas.microsoft.com/office/drawing/2014/main" id="{6415109F-3033-4D48-A9B8-C66F0831ECDC}"/>
              </a:ext>
            </a:extLst>
          </p:cNvPr>
          <p:cNvSpPr>
            <a:spLocks noGrp="1"/>
          </p:cNvSpPr>
          <p:nvPr/>
        </p:nvSpPr>
        <p:spPr>
          <a:xfrm>
            <a:off x="9390221" y="2960846"/>
            <a:ext cx="136208" cy="136208"/>
          </a:xfrm>
          <a:prstGeom prst="ellipse">
            <a:avLst/>
          </a:prstGeom>
          <a:solidFill>
            <a:srgbClr val="A8ADB0"/>
          </a:solidFill>
          <a:ln w="9525">
            <a:solidFill>
              <a:srgbClr val="292B2D"/>
            </a:solidFill>
            <a:prstDash val="solid"/>
          </a:ln>
        </p:spPr>
      </p:sp>
      <p:sp>
        <p:nvSpPr>
          <p:cNvPr id="35" name="Burner 4 grate H">
            <a:extLst>
              <a:ext uri="{FF2B5EF4-FFF2-40B4-BE49-F238E27FC236}">
                <a16:creationId xmlns:a16="http://schemas.microsoft.com/office/drawing/2014/main" id="{B2879E16-D403-46DB-ACC1-D1ED031CE65D}"/>
              </a:ext>
            </a:extLst>
          </p:cNvPr>
          <p:cNvSpPr>
            <a:spLocks noGrp="1"/>
          </p:cNvSpPr>
          <p:nvPr/>
        </p:nvSpPr>
        <p:spPr>
          <a:xfrm>
            <a:off x="9277350" y="3028950"/>
            <a:ext cx="361950" cy="0"/>
          </a:xfrm>
          <a:prstGeom prst="line">
            <a:avLst/>
          </a:prstGeom>
          <a:noFill/>
          <a:ln w="28575">
            <a:solidFill>
              <a:srgbClr val="A8ADB0"/>
            </a:solidFill>
            <a:prstDash val="solid"/>
          </a:ln>
        </p:spPr>
      </p:sp>
      <p:sp>
        <p:nvSpPr>
          <p:cNvPr id="36" name="Burner 4 grate V">
            <a:extLst>
              <a:ext uri="{FF2B5EF4-FFF2-40B4-BE49-F238E27FC236}">
                <a16:creationId xmlns:a16="http://schemas.microsoft.com/office/drawing/2014/main" id="{86C421EF-F8C5-4CCE-8FDA-C41C9FA253B4}"/>
              </a:ext>
            </a:extLst>
          </p:cNvPr>
          <p:cNvSpPr>
            <a:spLocks noGrp="1"/>
          </p:cNvSpPr>
          <p:nvPr/>
        </p:nvSpPr>
        <p:spPr>
          <a:xfrm>
            <a:off x="9458325" y="2847975"/>
            <a:ext cx="0" cy="361950"/>
          </a:xfrm>
          <a:prstGeom prst="line">
            <a:avLst/>
          </a:prstGeom>
          <a:noFill/>
          <a:ln w="28575">
            <a:solidFill>
              <a:srgbClr val="A8ADB0"/>
            </a:solidFill>
            <a:prstDash val="solid"/>
          </a:ln>
        </p:spPr>
      </p:sp>
      <p:sp>
        <p:nvSpPr>
          <p:cNvPr id="37" name="Hob plan label">
            <a:extLst>
              <a:ext uri="{FF2B5EF4-FFF2-40B4-BE49-F238E27FC236}">
                <a16:creationId xmlns:a16="http://schemas.microsoft.com/office/drawing/2014/main" id="{5A2FFD73-0B0F-49F0-ADCA-230BEFA6202E}"/>
              </a:ext>
            </a:extLst>
          </p:cNvPr>
          <p:cNvSpPr>
            <a:spLocks noGrp="1"/>
          </p:cNvSpPr>
          <p:nvPr/>
        </p:nvSpPr>
        <p:spPr>
          <a:xfrm>
            <a:off x="7410450" y="3524250"/>
            <a:ext cx="2000250" cy="285750"/>
          </a:xfrm>
          <a:prstGeom prst="rect">
            <a:avLst/>
          </a:prstGeom>
          <a:noFill/>
          <a:ln w="0">
            <a:noFill/>
            <a:prstDash val="solid"/>
          </a:ln>
        </p:spPr>
        <p:txBody>
          <a:bodyPr wrap="none" lIns="0" tIns="0" rIns="0" bIns="0" anchor="ctr">
            <a:noAutofit/>
          </a:bodyPr>
          <a:lstStyle/>
          <a:p>
            <a:pPr algn="l">
              <a:defRPr sz="1650" b="0">
                <a:solidFill>
                  <a:srgbClr val="292B2D"/>
                </a:solidFill>
                <a:latin typeface="Helvetica Neue"/>
                <a:ea typeface="Helvetica Neue"/>
                <a:cs typeface="Helvetica Neue"/>
              </a:defRPr>
            </a:pPr>
            <a:r>
              <a:rPr sz="1650" b="0">
                <a:solidFill>
                  <a:srgbClr val="292B2D"/>
                </a:solidFill>
                <a:latin typeface="Helvetica Neue"/>
                <a:ea typeface="Helvetica Neue"/>
                <a:cs typeface="Helvetica Neue"/>
              </a:rPr>
              <a:t>Four-burner hob</a:t>
            </a:r>
          </a:p>
        </p:txBody>
      </p:sp>
      <p:sp>
        <p:nvSpPr>
          <p:cNvPr id="38" name="Corner hardware footprint">
            <a:extLst>
              <a:ext uri="{FF2B5EF4-FFF2-40B4-BE49-F238E27FC236}">
                <a16:creationId xmlns:a16="http://schemas.microsoft.com/office/drawing/2014/main" id="{9178BDEA-81A1-4A1F-B2FD-B10B67D53D2A}"/>
              </a:ext>
            </a:extLst>
          </p:cNvPr>
          <p:cNvSpPr>
            <a:spLocks noGrp="1"/>
          </p:cNvSpPr>
          <p:nvPr/>
        </p:nvSpPr>
        <p:spPr>
          <a:xfrm>
            <a:off x="9048750" y="2190750"/>
            <a:ext cx="1238250" cy="1238250"/>
          </a:xfrm>
          <a:prstGeom prst="rect">
            <a:avLst/>
          </a:prstGeom>
          <a:noFill/>
          <a:ln w="28575">
            <a:solidFill>
              <a:srgbClr val="457A90"/>
            </a:solidFill>
            <a:prstDash val="solid"/>
          </a:ln>
        </p:spPr>
      </p:sp>
      <p:sp>
        <p:nvSpPr>
          <p:cNvPr id="39" name="Corner plan label">
            <a:extLst>
              <a:ext uri="{FF2B5EF4-FFF2-40B4-BE49-F238E27FC236}">
                <a16:creationId xmlns:a16="http://schemas.microsoft.com/office/drawing/2014/main" id="{C3BA8EE7-795A-40A7-B65E-8B9004C319E5}"/>
              </a:ext>
            </a:extLst>
          </p:cNvPr>
          <p:cNvSpPr>
            <a:spLocks noGrp="1"/>
          </p:cNvSpPr>
          <p:nvPr/>
        </p:nvSpPr>
        <p:spPr>
          <a:xfrm>
            <a:off x="7391400" y="4029075"/>
            <a:ext cx="1762125" cy="285750"/>
          </a:xfrm>
          <a:prstGeom prst="rect">
            <a:avLst/>
          </a:prstGeom>
          <a:noFill/>
          <a:ln w="0">
            <a:noFill/>
            <a:prstDash val="solid"/>
          </a:ln>
        </p:spPr>
        <p:txBody>
          <a:bodyPr wrap="none" lIns="0" tIns="0" rIns="0" bIns="0" anchor="ctr">
            <a:noAutofit/>
          </a:bodyPr>
          <a:lstStyle/>
          <a:p>
            <a:pPr algn="l">
              <a:defRPr sz="1650" b="1">
                <a:solidFill>
                  <a:srgbClr val="457A90"/>
                </a:solidFill>
                <a:latin typeface="Helvetica Neue"/>
                <a:ea typeface="Helvetica Neue"/>
                <a:cs typeface="Helvetica Neue"/>
              </a:defRPr>
            </a:pPr>
            <a:r>
              <a:rPr sz="1650" b="1">
                <a:solidFill>
                  <a:srgbClr val="457A90"/>
                </a:solidFill>
                <a:latin typeface="Helvetica Neue"/>
                <a:ea typeface="Helvetica Neue"/>
                <a:cs typeface="Helvetica Neue"/>
              </a:rPr>
              <a:t>Corner storage</a:t>
            </a:r>
          </a:p>
        </p:txBody>
      </p:sp>
      <p:sp>
        <p:nvSpPr>
          <p:cNvPr id="40" name="Corner access direction">
            <a:extLst>
              <a:ext uri="{FF2B5EF4-FFF2-40B4-BE49-F238E27FC236}">
                <a16:creationId xmlns:a16="http://schemas.microsoft.com/office/drawing/2014/main" id="{866D1882-FA23-487F-9990-194F345B7FDD}"/>
              </a:ext>
            </a:extLst>
          </p:cNvPr>
          <p:cNvSpPr>
            <a:spLocks noGrp="1"/>
          </p:cNvSpPr>
          <p:nvPr/>
        </p:nvSpPr>
        <p:spPr>
          <a:xfrm flipH="1">
            <a:off x="8696325" y="3619500"/>
            <a:ext cx="400050" cy="390525"/>
          </a:xfrm>
          <a:prstGeom prst="line">
            <a:avLst/>
          </a:prstGeom>
          <a:noFill/>
          <a:ln w="19050">
            <a:solidFill>
              <a:srgbClr val="457A90"/>
            </a:solidFill>
            <a:prstDash val="solid"/>
          </a:ln>
        </p:spPr>
      </p:sp>
      <p:sp>
        <p:nvSpPr>
          <p:cNvPr id="41" name="Sink plan rim">
            <a:extLst>
              <a:ext uri="{FF2B5EF4-FFF2-40B4-BE49-F238E27FC236}">
                <a16:creationId xmlns:a16="http://schemas.microsoft.com/office/drawing/2014/main" id="{B62C1F37-52C2-4802-A4EA-7F055289E054}"/>
              </a:ext>
            </a:extLst>
          </p:cNvPr>
          <p:cNvSpPr>
            <a:spLocks noGrp="1"/>
          </p:cNvSpPr>
          <p:nvPr/>
        </p:nvSpPr>
        <p:spPr>
          <a:xfrm>
            <a:off x="9229725" y="4191000"/>
            <a:ext cx="895350" cy="1581150"/>
          </a:xfrm>
          <a:prstGeom prst="rect">
            <a:avLst/>
          </a:prstGeom>
          <a:solidFill>
            <a:srgbClr val="A8ADB0"/>
          </a:solidFill>
          <a:ln w="14288">
            <a:solidFill>
              <a:srgbClr val="6B5543"/>
            </a:solidFill>
            <a:prstDash val="solid"/>
          </a:ln>
        </p:spPr>
      </p:sp>
      <p:sp>
        <p:nvSpPr>
          <p:cNvPr id="42" name="Sink plan bowl 1">
            <a:extLst>
              <a:ext uri="{FF2B5EF4-FFF2-40B4-BE49-F238E27FC236}">
                <a16:creationId xmlns:a16="http://schemas.microsoft.com/office/drawing/2014/main" id="{4945B6B4-05D8-40CC-AA32-2AFED05CD0CC}"/>
              </a:ext>
            </a:extLst>
          </p:cNvPr>
          <p:cNvSpPr>
            <a:spLocks noGrp="1"/>
          </p:cNvSpPr>
          <p:nvPr/>
        </p:nvSpPr>
        <p:spPr>
          <a:xfrm>
            <a:off x="9305925" y="4267200"/>
            <a:ext cx="742950" cy="676275"/>
          </a:xfrm>
          <a:prstGeom prst="rect">
            <a:avLst/>
          </a:prstGeom>
          <a:solidFill>
            <a:srgbClr val="1C3042"/>
          </a:solidFill>
          <a:ln w="9525">
            <a:solidFill>
              <a:srgbClr val="A8ADB0"/>
            </a:solidFill>
            <a:prstDash val="solid"/>
          </a:ln>
        </p:spPr>
      </p:sp>
      <p:sp>
        <p:nvSpPr>
          <p:cNvPr id="43" name="Sink plan bowl 2">
            <a:extLst>
              <a:ext uri="{FF2B5EF4-FFF2-40B4-BE49-F238E27FC236}">
                <a16:creationId xmlns:a16="http://schemas.microsoft.com/office/drawing/2014/main" id="{86123CCE-656A-4D8B-A7AD-62C94D262C3C}"/>
              </a:ext>
            </a:extLst>
          </p:cNvPr>
          <p:cNvSpPr>
            <a:spLocks noGrp="1"/>
          </p:cNvSpPr>
          <p:nvPr/>
        </p:nvSpPr>
        <p:spPr>
          <a:xfrm>
            <a:off x="9305925" y="5010150"/>
            <a:ext cx="742950" cy="676275"/>
          </a:xfrm>
          <a:prstGeom prst="rect">
            <a:avLst/>
          </a:prstGeom>
          <a:solidFill>
            <a:srgbClr val="1C3042"/>
          </a:solidFill>
          <a:ln w="9525">
            <a:solidFill>
              <a:srgbClr val="A8ADB0"/>
            </a:solidFill>
            <a:prstDash val="solid"/>
          </a:ln>
        </p:spPr>
      </p:sp>
      <p:sp>
        <p:nvSpPr>
          <p:cNvPr id="44" name="Sink plan label">
            <a:extLst>
              <a:ext uri="{FF2B5EF4-FFF2-40B4-BE49-F238E27FC236}">
                <a16:creationId xmlns:a16="http://schemas.microsoft.com/office/drawing/2014/main" id="{A4212F2B-506E-4D86-8505-7D6DD401881B}"/>
              </a:ext>
            </a:extLst>
          </p:cNvPr>
          <p:cNvSpPr>
            <a:spLocks noGrp="1"/>
          </p:cNvSpPr>
          <p:nvPr/>
        </p:nvSpPr>
        <p:spPr>
          <a:xfrm>
            <a:off x="6438900" y="4714875"/>
            <a:ext cx="2381250" cy="333375"/>
          </a:xfrm>
          <a:prstGeom prst="rect">
            <a:avLst/>
          </a:prstGeom>
          <a:noFill/>
          <a:ln w="0">
            <a:noFill/>
            <a:prstDash val="solid"/>
          </a:ln>
        </p:spPr>
        <p:txBody>
          <a:bodyPr wrap="none" lIns="0" tIns="0" rIns="0" bIns="0" anchor="ctr">
            <a:noAutofit/>
          </a:bodyPr>
          <a:lstStyle/>
          <a:p>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Double-bowl sink</a:t>
            </a:r>
          </a:p>
        </p:txBody>
      </p:sp>
      <p:sp>
        <p:nvSpPr>
          <p:cNvPr id="45" name="Geyser location">
            <a:extLst>
              <a:ext uri="{FF2B5EF4-FFF2-40B4-BE49-F238E27FC236}">
                <a16:creationId xmlns:a16="http://schemas.microsoft.com/office/drawing/2014/main" id="{0CF9CDB4-F4F4-47FE-9436-F89E4547E153}"/>
              </a:ext>
            </a:extLst>
          </p:cNvPr>
          <p:cNvSpPr>
            <a:spLocks noGrp="1"/>
          </p:cNvSpPr>
          <p:nvPr/>
        </p:nvSpPr>
        <p:spPr>
          <a:xfrm>
            <a:off x="9144000" y="5953125"/>
            <a:ext cx="1047750" cy="771525"/>
          </a:xfrm>
          <a:prstGeom prst="rect">
            <a:avLst/>
          </a:prstGeom>
          <a:solidFill>
            <a:srgbClr val="E7D7C2"/>
          </a:solidFill>
          <a:ln w="14288">
            <a:solidFill>
              <a:srgbClr val="6B5543"/>
            </a:solidFill>
            <a:prstDash val="solid"/>
          </a:ln>
        </p:spPr>
      </p:sp>
      <p:sp>
        <p:nvSpPr>
          <p:cNvPr id="46" name="Geyser plan label">
            <a:extLst>
              <a:ext uri="{FF2B5EF4-FFF2-40B4-BE49-F238E27FC236}">
                <a16:creationId xmlns:a16="http://schemas.microsoft.com/office/drawing/2014/main" id="{1332ACEA-E429-4D45-85D9-C5F2DA4F1D62}"/>
              </a:ext>
            </a:extLst>
          </p:cNvPr>
          <p:cNvSpPr>
            <a:spLocks noGrp="1"/>
          </p:cNvSpPr>
          <p:nvPr/>
        </p:nvSpPr>
        <p:spPr>
          <a:xfrm>
            <a:off x="6677025" y="6181725"/>
            <a:ext cx="2286000" cy="323850"/>
          </a:xfrm>
          <a:prstGeom prst="rect">
            <a:avLst/>
          </a:prstGeom>
          <a:noFill/>
          <a:ln w="0">
            <a:noFill/>
            <a:prstDash val="solid"/>
          </a:ln>
        </p:spPr>
        <p:txBody>
          <a:bodyPr wrap="none" lIns="0" tIns="0" rIns="0" bIns="0" anchor="ctr">
            <a:noAutofit/>
          </a:bodyPr>
          <a:lstStyle/>
          <a:p>
            <a:pPr algn="l">
              <a:defRPr sz="1650" b="0">
                <a:solidFill>
                  <a:srgbClr val="292B2D"/>
                </a:solidFill>
                <a:latin typeface="Helvetica Neue"/>
                <a:ea typeface="Helvetica Neue"/>
                <a:cs typeface="Helvetica Neue"/>
              </a:defRPr>
            </a:pPr>
            <a:r>
              <a:rPr sz="1650" b="0">
                <a:solidFill>
                  <a:srgbClr val="292B2D"/>
                </a:solidFill>
                <a:latin typeface="Helvetica Neue"/>
                <a:ea typeface="Helvetica Neue"/>
                <a:cs typeface="Helvetica Neue"/>
              </a:rPr>
              <a:t>Geyser below</a:t>
            </a:r>
          </a:p>
        </p:txBody>
      </p:sp>
      <p:sp>
        <p:nvSpPr>
          <p:cNvPr id="47" name="Fridge plan">
            <a:extLst>
              <a:ext uri="{FF2B5EF4-FFF2-40B4-BE49-F238E27FC236}">
                <a16:creationId xmlns:a16="http://schemas.microsoft.com/office/drawing/2014/main" id="{C3B59402-B377-4FEB-973E-91B3EBA04237}"/>
              </a:ext>
            </a:extLst>
          </p:cNvPr>
          <p:cNvSpPr>
            <a:spLocks noGrp="1"/>
          </p:cNvSpPr>
          <p:nvPr/>
        </p:nvSpPr>
        <p:spPr>
          <a:xfrm>
            <a:off x="9048750" y="7019925"/>
            <a:ext cx="1238250" cy="685800"/>
          </a:xfrm>
          <a:prstGeom prst="rect">
            <a:avLst/>
          </a:prstGeom>
          <a:solidFill>
            <a:srgbClr val="A8ADB0"/>
          </a:solidFill>
          <a:ln w="14288">
            <a:solidFill>
              <a:srgbClr val="6B5543"/>
            </a:solidFill>
            <a:prstDash val="solid"/>
          </a:ln>
        </p:spPr>
      </p:sp>
      <p:sp>
        <p:nvSpPr>
          <p:cNvPr id="48" name="Fridge plan label">
            <a:extLst>
              <a:ext uri="{FF2B5EF4-FFF2-40B4-BE49-F238E27FC236}">
                <a16:creationId xmlns:a16="http://schemas.microsoft.com/office/drawing/2014/main" id="{B2275AAF-AB13-42A8-9B8F-C15D81B33698}"/>
              </a:ext>
            </a:extLst>
          </p:cNvPr>
          <p:cNvSpPr>
            <a:spLocks noGrp="1"/>
          </p:cNvSpPr>
          <p:nvPr/>
        </p:nvSpPr>
        <p:spPr>
          <a:xfrm>
            <a:off x="7753350" y="7200900"/>
            <a:ext cx="1238250" cy="285750"/>
          </a:xfrm>
          <a:prstGeom prst="rect">
            <a:avLst/>
          </a:prstGeom>
          <a:noFill/>
          <a:ln w="0">
            <a:noFill/>
            <a:prstDash val="solid"/>
          </a:ln>
        </p:spPr>
        <p:txBody>
          <a:bodyPr wrap="none" lIns="0" tIns="0" rIns="0" bIns="0" anchor="ctr">
            <a:noAutofit/>
          </a:bodyPr>
          <a:lstStyle/>
          <a:p>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Fridge</a:t>
            </a:r>
          </a:p>
        </p:txBody>
      </p:sp>
      <p:sp>
        <p:nvSpPr>
          <p:cNvPr id="49" name="Open-floor label">
            <a:extLst>
              <a:ext uri="{FF2B5EF4-FFF2-40B4-BE49-F238E27FC236}">
                <a16:creationId xmlns:a16="http://schemas.microsoft.com/office/drawing/2014/main" id="{E0C37F92-D0C9-4691-A47E-CFC4D69FB9A6}"/>
              </a:ext>
            </a:extLst>
          </p:cNvPr>
          <p:cNvSpPr>
            <a:spLocks noGrp="1"/>
          </p:cNvSpPr>
          <p:nvPr/>
        </p:nvSpPr>
        <p:spPr>
          <a:xfrm>
            <a:off x="2952750" y="5734050"/>
            <a:ext cx="4762500" cy="476250"/>
          </a:xfrm>
          <a:prstGeom prst="rect">
            <a:avLst/>
          </a:prstGeom>
          <a:noFill/>
          <a:ln w="0">
            <a:noFill/>
            <a:prstDash val="solid"/>
          </a:ln>
        </p:spPr>
        <p:txBody>
          <a:bodyPr wrap="none" lIns="0" tIns="0" rIns="0" bIns="0" anchor="ctr">
            <a:noAutofit/>
          </a:bodyPr>
          <a:lstStyle/>
          <a:p>
            <a:pPr algn="ctr">
              <a:defRPr sz="2325" b="1">
                <a:solidFill>
                  <a:srgbClr val="71695D"/>
                </a:solidFill>
                <a:latin typeface="Helvetica Neue"/>
                <a:ea typeface="Helvetica Neue"/>
                <a:cs typeface="Helvetica Neue"/>
              </a:defRPr>
            </a:pPr>
            <a:r>
              <a:rPr sz="2325" b="1">
                <a:solidFill>
                  <a:srgbClr val="71695D"/>
                </a:solidFill>
                <a:latin typeface="Helvetica Neue"/>
                <a:ea typeface="Helvetica Neue"/>
                <a:cs typeface="Helvetica Neue"/>
              </a:rPr>
              <a:t>Open kitchen floor</a:t>
            </a:r>
          </a:p>
        </p:txBody>
      </p:sp>
      <p:sp>
        <p:nvSpPr>
          <p:cNvPr id="50" name="Plan cabinet note">
            <a:extLst>
              <a:ext uri="{FF2B5EF4-FFF2-40B4-BE49-F238E27FC236}">
                <a16:creationId xmlns:a16="http://schemas.microsoft.com/office/drawing/2014/main" id="{B21B2666-80E5-4E7F-8491-C83CB0558AF0}"/>
              </a:ext>
            </a:extLst>
          </p:cNvPr>
          <p:cNvSpPr>
            <a:spLocks noGrp="1"/>
          </p:cNvSpPr>
          <p:nvPr/>
        </p:nvSpPr>
        <p:spPr>
          <a:xfrm>
            <a:off x="2705100" y="6858000"/>
            <a:ext cx="5762625" cy="666750"/>
          </a:xfrm>
          <a:prstGeom prst="rect">
            <a:avLst/>
          </a:prstGeom>
          <a:noFill/>
          <a:ln w="0">
            <a:noFill/>
            <a:prstDash val="solid"/>
          </a:ln>
        </p:spPr>
        <p:txBody>
          <a:bodyPr wrap="none" lIns="0" tIns="0" rIns="0" bIns="0" anchor="ctr">
            <a:noAutofit/>
          </a:bodyPr>
          <a:lstStyle/>
          <a:p>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Rack and RO cupboards sit above the sink run</a:t>
            </a:r>
          </a:p>
        </p:txBody>
      </p:sp>
    </p:spTree>
    <p:extLst>
      <p:ext uri="{BB962C8B-B14F-4D97-AF65-F5344CB8AC3E}">
        <p14:creationId xmlns:p14="http://schemas.microsoft.com/office/powerpoint/2010/main" val="138909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Title">
            <a:extLst>
              <a:ext uri="{FF2B5EF4-FFF2-40B4-BE49-F238E27FC236}">
                <a16:creationId xmlns:a16="http://schemas.microsoft.com/office/drawing/2014/main" id="{64756836-57C4-4364-8170-8B6A19B163AA}"/>
              </a:ext>
            </a:extLst>
          </p:cNvPr>
          <p:cNvSpPr>
            <a:spLocks noGrp="1"/>
          </p:cNvSpPr>
          <p:nvPr/>
        </p:nvSpPr>
        <p:spPr>
          <a:xfrm>
            <a:off x="609600" y="400050"/>
            <a:ext cx="13906500" cy="514350"/>
          </a:xfrm>
          <a:prstGeom prst="rect">
            <a:avLst/>
          </a:prstGeom>
          <a:noFill/>
          <a:ln w="0">
            <a:noFill/>
            <a:prstDash val="solid"/>
          </a:ln>
        </p:spPr>
        <p:txBody>
          <a:bodyPr wrap="none" lIns="0" tIns="0" rIns="0" bIns="0" anchor="ctr">
            <a:noAutofit/>
          </a:bodyPr>
          <a:lstStyle/>
          <a:p>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Window wall</a:t>
            </a:r>
          </a:p>
        </p:txBody>
      </p:sp>
      <p:sp>
        <p:nvSpPr>
          <p:cNvPr id="2" name="Subtitle">
            <a:extLst>
              <a:ext uri="{FF2B5EF4-FFF2-40B4-BE49-F238E27FC236}">
                <a16:creationId xmlns:a16="http://schemas.microsoft.com/office/drawing/2014/main" id="{B6DC2606-93EE-446D-8856-4B1F045248A4}"/>
              </a:ext>
            </a:extLst>
          </p:cNvPr>
          <p:cNvSpPr>
            <a:spLocks noGrp="1"/>
          </p:cNvSpPr>
          <p:nvPr/>
        </p:nvSpPr>
        <p:spPr>
          <a:xfrm>
            <a:off x="628650" y="990600"/>
            <a:ext cx="13906500" cy="323850"/>
          </a:xfrm>
          <a:prstGeom prst="rect">
            <a:avLst/>
          </a:prstGeom>
          <a:noFill/>
          <a:ln w="0">
            <a:noFill/>
            <a:prstDash val="solid"/>
          </a:ln>
        </p:spPr>
        <p:txBody>
          <a:bodyPr wrap="none" lIns="0" tIns="0" rIns="0" bIns="0" anchor="ctr">
            <a:noAutofit/>
          </a:bodyPr>
          <a:lstStyle/>
          <a:p>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Front elevation with aligned drawer tiers and window division</a:t>
            </a:r>
          </a:p>
        </p:txBody>
      </p:sp>
      <p:sp>
        <p:nvSpPr>
          <p:cNvPr id="3" name="Title rule">
            <a:extLst>
              <a:ext uri="{FF2B5EF4-FFF2-40B4-BE49-F238E27FC236}">
                <a16:creationId xmlns:a16="http://schemas.microsoft.com/office/drawing/2014/main" id="{90598C74-A43D-4BF2-BEA8-7D56334EE642}"/>
              </a:ext>
            </a:extLst>
          </p:cNvPr>
          <p:cNvSpPr>
            <a:spLocks noGrp="1"/>
          </p:cNvSpPr>
          <p:nvPr/>
        </p:nvSpPr>
        <p:spPr>
          <a:xfrm>
            <a:off x="628650" y="1419225"/>
            <a:ext cx="13982700" cy="0"/>
          </a:xfrm>
          <a:prstGeom prst="line">
            <a:avLst/>
          </a:prstGeom>
          <a:noFill/>
          <a:ln w="9525">
            <a:solidFill>
              <a:srgbClr val="CFC5B7"/>
            </a:solidFill>
            <a:prstDash val="solid"/>
          </a:ln>
        </p:spPr>
      </p:sp>
      <p:sp>
        <p:nvSpPr>
          <p:cNvPr id="4" name="Corrections heading">
            <a:extLst>
              <a:ext uri="{FF2B5EF4-FFF2-40B4-BE49-F238E27FC236}">
                <a16:creationId xmlns:a16="http://schemas.microsoft.com/office/drawing/2014/main" id="{4A300C13-9355-4586-BA51-45AB1469142F}"/>
              </a:ext>
            </a:extLst>
          </p:cNvPr>
          <p:cNvSpPr>
            <a:spLocks noGrp="1"/>
          </p:cNvSpPr>
          <p:nvPr/>
        </p:nvSpPr>
        <p:spPr>
          <a:xfrm>
            <a:off x="12334875" y="1885950"/>
            <a:ext cx="2333625" cy="333375"/>
          </a:xfrm>
          <a:prstGeom prst="rect">
            <a:avLst/>
          </a:prstGeom>
          <a:noFill/>
          <a:ln w="0">
            <a:noFill/>
            <a:prstDash val="solid"/>
          </a:ln>
        </p:spPr>
        <p:txBody>
          <a:bodyPr wrap="none" lIns="0" tIns="0" rIns="0" bIns="0" anchor="ctr">
            <a:noAutofit/>
          </a:bodyPr>
          <a:lstStyle/>
          <a:p>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a:ext uri="{FF2B5EF4-FFF2-40B4-BE49-F238E27FC236}">
                <a16:creationId xmlns:a16="http://schemas.microsoft.com/office/drawing/2014/main" id="{3EA9E4F2-98F5-4928-850F-CFC3101D0FB5}"/>
              </a:ext>
            </a:extLst>
          </p:cNvPr>
          <p:cNvSpPr>
            <a:spLocks noGrp="1"/>
          </p:cNvSpPr>
          <p:nvPr/>
        </p:nvSpPr>
        <p:spPr>
          <a:xfrm>
            <a:off x="12334875" y="2495550"/>
            <a:ext cx="2276475" cy="0"/>
          </a:xfrm>
          <a:prstGeom prst="line">
            <a:avLst/>
          </a:prstGeom>
          <a:noFill/>
          <a:ln w="9525">
            <a:solidFill>
              <a:srgbClr val="D9D4CD"/>
            </a:solidFill>
            <a:prstDash val="solid"/>
          </a:ln>
        </p:spPr>
      </p:sp>
      <p:sp>
        <p:nvSpPr>
          <p:cNvPr id="11" name="Footer">
            <a:extLst>
              <a:ext uri="{FF2B5EF4-FFF2-40B4-BE49-F238E27FC236}">
                <a16:creationId xmlns:a16="http://schemas.microsoft.com/office/drawing/2014/main" id="{D2830556-4B8D-4DA3-AEF7-657046E5CD81}"/>
              </a:ext>
            </a:extLst>
          </p:cNvPr>
          <p:cNvSpPr>
            <a:spLocks noGrp="1"/>
          </p:cNvSpPr>
          <p:nvPr/>
        </p:nvSpPr>
        <p:spPr>
          <a:xfrm>
            <a:off x="628650" y="8048625"/>
            <a:ext cx="13811250" cy="285750"/>
          </a:xfrm>
          <a:prstGeom prst="rect">
            <a:avLst/>
          </a:prstGeom>
          <a:noFill/>
          <a:ln w="0">
            <a:noFill/>
            <a:prstDash val="solid"/>
          </a:ln>
        </p:spPr>
        <p:txBody>
          <a:bodyPr wrap="none" lIns="0" tIns="0" rIns="0" bIns="0" anchor="ctr">
            <a:noAutofit/>
          </a:bodyPr>
          <a:lstStyle/>
          <a:p>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Ceiling datum">
            <a:extLst>
              <a:ext uri="{FF2B5EF4-FFF2-40B4-BE49-F238E27FC236}">
                <a16:creationId xmlns:a16="http://schemas.microsoft.com/office/drawing/2014/main" id="{10AC967C-CC49-4C44-B02A-1C93AECB0A86}"/>
              </a:ext>
            </a:extLst>
          </p:cNvPr>
          <p:cNvSpPr>
            <a:spLocks noGrp="1"/>
          </p:cNvSpPr>
          <p:nvPr/>
        </p:nvSpPr>
        <p:spPr>
          <a:xfrm>
            <a:off x="666750" y="1714500"/>
            <a:ext cx="10858500" cy="0"/>
          </a:xfrm>
          <a:prstGeom prst="line">
            <a:avLst/>
          </a:prstGeom>
          <a:noFill/>
          <a:ln w="19050">
            <a:solidFill>
              <a:srgbClr val="68635C"/>
            </a:solidFill>
            <a:prstDash val="solid"/>
          </a:ln>
        </p:spPr>
      </p:sp>
      <p:sp>
        <p:nvSpPr>
          <p:cNvPr id="13" name="Floor datum">
            <a:extLst>
              <a:ext uri="{FF2B5EF4-FFF2-40B4-BE49-F238E27FC236}">
                <a16:creationId xmlns:a16="http://schemas.microsoft.com/office/drawing/2014/main" id="{541CD0CA-B2FF-45B3-A637-DADEE8AB7744}"/>
              </a:ext>
            </a:extLst>
          </p:cNvPr>
          <p:cNvSpPr>
            <a:spLocks noGrp="1"/>
          </p:cNvSpPr>
          <p:nvPr/>
        </p:nvSpPr>
        <p:spPr>
          <a:xfrm>
            <a:off x="666750" y="7600950"/>
            <a:ext cx="10858500" cy="0"/>
          </a:xfrm>
          <a:prstGeom prst="line">
            <a:avLst/>
          </a:prstGeom>
          <a:noFill/>
          <a:ln w="19050">
            <a:solidFill>
              <a:srgbClr val="68635C"/>
            </a:solidFill>
            <a:prstDash val="solid"/>
          </a:ln>
        </p:spPr>
      </p:sp>
      <p:sp>
        <p:nvSpPr>
          <p:cNvPr id="14" name="Ceiling label">
            <a:extLst>
              <a:ext uri="{FF2B5EF4-FFF2-40B4-BE49-F238E27FC236}">
                <a16:creationId xmlns:a16="http://schemas.microsoft.com/office/drawing/2014/main" id="{76485D30-275F-4004-BA85-FAE5A0208B63}"/>
              </a:ext>
            </a:extLst>
          </p:cNvPr>
          <p:cNvSpPr>
            <a:spLocks noGrp="1"/>
          </p:cNvSpPr>
          <p:nvPr/>
        </p:nvSpPr>
        <p:spPr>
          <a:xfrm>
            <a:off x="666750" y="1438275"/>
            <a:ext cx="1714500" cy="266700"/>
          </a:xfrm>
          <a:prstGeom prst="rect">
            <a:avLst/>
          </a:prstGeom>
          <a:noFill/>
          <a:ln w="0">
            <a:noFill/>
            <a:prstDash val="solid"/>
          </a:ln>
        </p:spPr>
        <p:txBody>
          <a:bodyPr wrap="none" lIns="0" tIns="0" rIns="0" bIns="0" anchor="ctr">
            <a:noAutofit/>
          </a:bodyPr>
          <a:lstStyle/>
          <a:p>
            <a:pPr algn="l">
              <a:defRPr sz="1500" b="0">
                <a:solidFill>
                  <a:srgbClr val="292B2D"/>
                </a:solidFill>
                <a:latin typeface="Helvetica Neue"/>
                <a:ea typeface="Helvetica Neue"/>
                <a:cs typeface="Helvetica Neue"/>
              </a:defRPr>
            </a:pPr>
            <a:r>
              <a:rPr sz="1500" b="0">
                <a:solidFill>
                  <a:srgbClr val="292B2D"/>
                </a:solidFill>
                <a:latin typeface="Helvetica Neue"/>
                <a:ea typeface="Helvetica Neue"/>
                <a:cs typeface="Helvetica Neue"/>
              </a:rPr>
              <a:t>Ceiling</a:t>
            </a:r>
          </a:p>
        </p:txBody>
      </p:sp>
      <p:sp>
        <p:nvSpPr>
          <p:cNvPr id="15" name="W1 loft shutter">
            <a:extLst>
              <a:ext uri="{FF2B5EF4-FFF2-40B4-BE49-F238E27FC236}">
                <a16:creationId xmlns:a16="http://schemas.microsoft.com/office/drawing/2014/main" id="{06A0FF16-D996-45D5-83F1-C6EAD84E3159}"/>
              </a:ext>
            </a:extLst>
          </p:cNvPr>
          <p:cNvSpPr>
            <a:spLocks noGrp="1"/>
          </p:cNvSpPr>
          <p:nvPr/>
        </p:nvSpPr>
        <p:spPr>
          <a:xfrm>
            <a:off x="666750" y="1714500"/>
            <a:ext cx="1571625" cy="1190625"/>
          </a:xfrm>
          <a:prstGeom prst="rect">
            <a:avLst/>
          </a:prstGeom>
          <a:solidFill>
            <a:srgbClr val="DCC6A8"/>
          </a:solidFill>
          <a:ln w="14288">
            <a:solidFill>
              <a:srgbClr val="6B5543"/>
            </a:solidFill>
            <a:prstDash val="solid"/>
          </a:ln>
        </p:spPr>
      </p:sp>
      <p:sp>
        <p:nvSpPr>
          <p:cNvPr id="16" name="W1 loft handle">
            <a:extLst>
              <a:ext uri="{FF2B5EF4-FFF2-40B4-BE49-F238E27FC236}">
                <a16:creationId xmlns:a16="http://schemas.microsoft.com/office/drawing/2014/main" id="{930236C4-D724-4466-A575-FEC09610C033}"/>
              </a:ext>
            </a:extLst>
          </p:cNvPr>
          <p:cNvSpPr>
            <a:spLocks noGrp="1"/>
          </p:cNvSpPr>
          <p:nvPr/>
        </p:nvSpPr>
        <p:spPr>
          <a:xfrm>
            <a:off x="1252538" y="2695575"/>
            <a:ext cx="400050" cy="38100"/>
          </a:xfrm>
          <a:prstGeom prst="rect">
            <a:avLst/>
          </a:prstGeom>
          <a:solidFill>
            <a:srgbClr val="A8ADB0"/>
          </a:solidFill>
          <a:ln w="6668">
            <a:solidFill>
              <a:srgbClr val="292B2D"/>
            </a:solidFill>
            <a:prstDash val="solid"/>
          </a:ln>
        </p:spPr>
      </p:sp>
      <p:sp>
        <p:nvSpPr>
          <p:cNvPr id="17" name="W1 lower shutter">
            <a:extLst>
              <a:ext uri="{FF2B5EF4-FFF2-40B4-BE49-F238E27FC236}">
                <a16:creationId xmlns:a16="http://schemas.microsoft.com/office/drawing/2014/main" id="{335312C8-1441-4ED3-B697-278855148944}"/>
              </a:ext>
            </a:extLst>
          </p:cNvPr>
          <p:cNvSpPr>
            <a:spLocks noGrp="1"/>
          </p:cNvSpPr>
          <p:nvPr/>
        </p:nvSpPr>
        <p:spPr>
          <a:xfrm>
            <a:off x="666750" y="2905125"/>
            <a:ext cx="1571625" cy="1571625"/>
          </a:xfrm>
          <a:prstGeom prst="rect">
            <a:avLst/>
          </a:prstGeom>
          <a:solidFill>
            <a:srgbClr val="DCC6A8"/>
          </a:solidFill>
          <a:ln w="14288">
            <a:solidFill>
              <a:srgbClr val="6B5543"/>
            </a:solidFill>
            <a:prstDash val="solid"/>
          </a:ln>
        </p:spPr>
      </p:sp>
      <p:sp>
        <p:nvSpPr>
          <p:cNvPr id="18" name="W1 lower handle">
            <a:extLst>
              <a:ext uri="{FF2B5EF4-FFF2-40B4-BE49-F238E27FC236}">
                <a16:creationId xmlns:a16="http://schemas.microsoft.com/office/drawing/2014/main" id="{665BBF25-55FF-4166-9697-02526E8530BE}"/>
              </a:ext>
            </a:extLst>
          </p:cNvPr>
          <p:cNvSpPr>
            <a:spLocks noGrp="1"/>
          </p:cNvSpPr>
          <p:nvPr/>
        </p:nvSpPr>
        <p:spPr>
          <a:xfrm>
            <a:off x="1252538" y="4267200"/>
            <a:ext cx="400050" cy="38100"/>
          </a:xfrm>
          <a:prstGeom prst="rect">
            <a:avLst/>
          </a:prstGeom>
          <a:solidFill>
            <a:srgbClr val="A8ADB0"/>
          </a:solidFill>
          <a:ln w="6668">
            <a:solidFill>
              <a:srgbClr val="292B2D"/>
            </a:solidFill>
            <a:prstDash val="solid"/>
          </a:ln>
        </p:spPr>
      </p:sp>
      <p:sp>
        <p:nvSpPr>
          <p:cNvPr id="19" name="W2 loft shutter">
            <a:extLst>
              <a:ext uri="{FF2B5EF4-FFF2-40B4-BE49-F238E27FC236}">
                <a16:creationId xmlns:a16="http://schemas.microsoft.com/office/drawing/2014/main" id="{0EECA27D-6DA2-45B3-A822-A0C51CC4CD8B}"/>
              </a:ext>
            </a:extLst>
          </p:cNvPr>
          <p:cNvSpPr>
            <a:spLocks noGrp="1"/>
          </p:cNvSpPr>
          <p:nvPr/>
        </p:nvSpPr>
        <p:spPr>
          <a:xfrm>
            <a:off x="2238375" y="1714500"/>
            <a:ext cx="1571625" cy="1190625"/>
          </a:xfrm>
          <a:prstGeom prst="rect">
            <a:avLst/>
          </a:prstGeom>
          <a:solidFill>
            <a:srgbClr val="DCC6A8"/>
          </a:solidFill>
          <a:ln w="14288">
            <a:solidFill>
              <a:srgbClr val="6B5543"/>
            </a:solidFill>
            <a:prstDash val="solid"/>
          </a:ln>
        </p:spPr>
      </p:sp>
      <p:sp>
        <p:nvSpPr>
          <p:cNvPr id="20" name="W2 loft handle">
            <a:extLst>
              <a:ext uri="{FF2B5EF4-FFF2-40B4-BE49-F238E27FC236}">
                <a16:creationId xmlns:a16="http://schemas.microsoft.com/office/drawing/2014/main" id="{F22D08F5-225A-41D3-838A-71EDDA4B235C}"/>
              </a:ext>
            </a:extLst>
          </p:cNvPr>
          <p:cNvSpPr>
            <a:spLocks noGrp="1"/>
          </p:cNvSpPr>
          <p:nvPr/>
        </p:nvSpPr>
        <p:spPr>
          <a:xfrm>
            <a:off x="2824163" y="2695575"/>
            <a:ext cx="400050" cy="38100"/>
          </a:xfrm>
          <a:prstGeom prst="rect">
            <a:avLst/>
          </a:prstGeom>
          <a:solidFill>
            <a:srgbClr val="A8ADB0"/>
          </a:solidFill>
          <a:ln w="6668">
            <a:solidFill>
              <a:srgbClr val="292B2D"/>
            </a:solidFill>
            <a:prstDash val="solid"/>
          </a:ln>
        </p:spPr>
      </p:sp>
      <p:sp>
        <p:nvSpPr>
          <p:cNvPr id="21" name="W2 lower shutter">
            <a:extLst>
              <a:ext uri="{FF2B5EF4-FFF2-40B4-BE49-F238E27FC236}">
                <a16:creationId xmlns:a16="http://schemas.microsoft.com/office/drawing/2014/main" id="{72653760-B824-4ACE-8D11-C4B8B76A316C}"/>
              </a:ext>
            </a:extLst>
          </p:cNvPr>
          <p:cNvSpPr>
            <a:spLocks noGrp="1"/>
          </p:cNvSpPr>
          <p:nvPr/>
        </p:nvSpPr>
        <p:spPr>
          <a:xfrm>
            <a:off x="2238375" y="2905125"/>
            <a:ext cx="1571625" cy="1571625"/>
          </a:xfrm>
          <a:prstGeom prst="rect">
            <a:avLst/>
          </a:prstGeom>
          <a:solidFill>
            <a:srgbClr val="DCC6A8"/>
          </a:solidFill>
          <a:ln w="14288">
            <a:solidFill>
              <a:srgbClr val="6B5543"/>
            </a:solidFill>
            <a:prstDash val="solid"/>
          </a:ln>
        </p:spPr>
      </p:sp>
      <p:sp>
        <p:nvSpPr>
          <p:cNvPr id="22" name="W2 lower handle">
            <a:extLst>
              <a:ext uri="{FF2B5EF4-FFF2-40B4-BE49-F238E27FC236}">
                <a16:creationId xmlns:a16="http://schemas.microsoft.com/office/drawing/2014/main" id="{4C7FC565-4457-403D-8AF6-EED3050C5C57}"/>
              </a:ext>
            </a:extLst>
          </p:cNvPr>
          <p:cNvSpPr>
            <a:spLocks noGrp="1"/>
          </p:cNvSpPr>
          <p:nvPr/>
        </p:nvSpPr>
        <p:spPr>
          <a:xfrm>
            <a:off x="2824163" y="4267200"/>
            <a:ext cx="400050" cy="38100"/>
          </a:xfrm>
          <a:prstGeom prst="rect">
            <a:avLst/>
          </a:prstGeom>
          <a:solidFill>
            <a:srgbClr val="A8ADB0"/>
          </a:solidFill>
          <a:ln w="6668">
            <a:solidFill>
              <a:srgbClr val="292B2D"/>
            </a:solidFill>
            <a:prstDash val="solid"/>
          </a:ln>
        </p:spPr>
      </p:sp>
      <p:sp>
        <p:nvSpPr>
          <p:cNvPr id="23" name="W3 above-window loft left shutter">
            <a:extLst>
              <a:ext uri="{FF2B5EF4-FFF2-40B4-BE49-F238E27FC236}">
                <a16:creationId xmlns:a16="http://schemas.microsoft.com/office/drawing/2014/main" id="{5B57A0CC-45D1-4491-8382-2041B76A5743}"/>
              </a:ext>
            </a:extLst>
          </p:cNvPr>
          <p:cNvSpPr>
            <a:spLocks noGrp="1"/>
          </p:cNvSpPr>
          <p:nvPr/>
        </p:nvSpPr>
        <p:spPr>
          <a:xfrm>
            <a:off x="3810000" y="1714500"/>
            <a:ext cx="2095500" cy="1190625"/>
          </a:xfrm>
          <a:prstGeom prst="rect">
            <a:avLst/>
          </a:prstGeom>
          <a:solidFill>
            <a:srgbClr val="DCC6A8"/>
          </a:solidFill>
          <a:ln w="14288">
            <a:solidFill>
              <a:srgbClr val="6B5543"/>
            </a:solidFill>
            <a:prstDash val="solid"/>
          </a:ln>
        </p:spPr>
      </p:sp>
      <p:sp>
        <p:nvSpPr>
          <p:cNvPr id="24" name="W3 above-window loft left handle">
            <a:extLst>
              <a:ext uri="{FF2B5EF4-FFF2-40B4-BE49-F238E27FC236}">
                <a16:creationId xmlns:a16="http://schemas.microsoft.com/office/drawing/2014/main" id="{753012B3-F4AF-42DF-B930-9FB1E666B7B1}"/>
              </a:ext>
            </a:extLst>
          </p:cNvPr>
          <p:cNvSpPr>
            <a:spLocks noGrp="1"/>
          </p:cNvSpPr>
          <p:nvPr/>
        </p:nvSpPr>
        <p:spPr>
          <a:xfrm>
            <a:off x="4657725" y="2695575"/>
            <a:ext cx="400050" cy="38100"/>
          </a:xfrm>
          <a:prstGeom prst="rect">
            <a:avLst/>
          </a:prstGeom>
          <a:solidFill>
            <a:srgbClr val="A8ADB0"/>
          </a:solidFill>
          <a:ln w="6668">
            <a:solidFill>
              <a:srgbClr val="292B2D"/>
            </a:solidFill>
            <a:prstDash val="solid"/>
          </a:ln>
        </p:spPr>
      </p:sp>
      <p:sp>
        <p:nvSpPr>
          <p:cNvPr id="25" name="W4 exhaust service loft shutter">
            <a:extLst>
              <a:ext uri="{FF2B5EF4-FFF2-40B4-BE49-F238E27FC236}">
                <a16:creationId xmlns:a16="http://schemas.microsoft.com/office/drawing/2014/main" id="{AF0DF41F-E447-4D2C-BB6A-445D2DE84D4A}"/>
              </a:ext>
            </a:extLst>
          </p:cNvPr>
          <p:cNvSpPr>
            <a:spLocks noGrp="1"/>
          </p:cNvSpPr>
          <p:nvPr/>
        </p:nvSpPr>
        <p:spPr>
          <a:xfrm>
            <a:off x="5905500" y="1714500"/>
            <a:ext cx="2095500" cy="1190625"/>
          </a:xfrm>
          <a:prstGeom prst="rect">
            <a:avLst/>
          </a:prstGeom>
          <a:solidFill>
            <a:srgbClr val="DCC6A8"/>
          </a:solidFill>
          <a:ln w="14288">
            <a:solidFill>
              <a:srgbClr val="6B5543"/>
            </a:solidFill>
            <a:prstDash val="solid"/>
          </a:ln>
        </p:spPr>
      </p:sp>
      <p:sp>
        <p:nvSpPr>
          <p:cNvPr id="26" name="W4 exhaust service loft handle">
            <a:extLst>
              <a:ext uri="{FF2B5EF4-FFF2-40B4-BE49-F238E27FC236}">
                <a16:creationId xmlns:a16="http://schemas.microsoft.com/office/drawing/2014/main" id="{484B099E-7F63-4D7E-B24E-C7A0FD6A3ACA}"/>
              </a:ext>
            </a:extLst>
          </p:cNvPr>
          <p:cNvSpPr>
            <a:spLocks noGrp="1"/>
          </p:cNvSpPr>
          <p:nvPr/>
        </p:nvSpPr>
        <p:spPr>
          <a:xfrm>
            <a:off x="6753225" y="2695575"/>
            <a:ext cx="400050" cy="38100"/>
          </a:xfrm>
          <a:prstGeom prst="rect">
            <a:avLst/>
          </a:prstGeom>
          <a:solidFill>
            <a:srgbClr val="A8ADB0"/>
          </a:solidFill>
          <a:ln w="6668">
            <a:solidFill>
              <a:srgbClr val="292B2D"/>
            </a:solidFill>
            <a:prstDash val="solid"/>
          </a:ln>
        </p:spPr>
      </p:sp>
      <p:sp>
        <p:nvSpPr>
          <p:cNvPr id="27" name="Exhaust grille">
            <a:extLst>
              <a:ext uri="{FF2B5EF4-FFF2-40B4-BE49-F238E27FC236}">
                <a16:creationId xmlns:a16="http://schemas.microsoft.com/office/drawing/2014/main" id="{DF6A6233-B4E3-4A40-A3CD-F3F215957DC1}"/>
              </a:ext>
            </a:extLst>
          </p:cNvPr>
          <p:cNvSpPr>
            <a:spLocks noGrp="1"/>
          </p:cNvSpPr>
          <p:nvPr/>
        </p:nvSpPr>
        <p:spPr>
          <a:xfrm>
            <a:off x="6057900" y="2359030"/>
            <a:ext cx="1758949" cy="546093"/>
          </a:xfrm>
          <a:prstGeom prst="rect">
            <a:avLst/>
          </a:prstGeom>
          <a:solidFill>
            <a:srgbClr val="292B2D"/>
          </a:solidFill>
          <a:ln w="9525">
            <a:solidFill>
              <a:srgbClr val="A8ADB0"/>
            </a:solidFill>
            <a:prstDash val="solid"/>
          </a:ln>
        </p:spPr>
      </p:sp>
      <p:sp>
        <p:nvSpPr>
          <p:cNvPr id="28" name="Exhaust louvre 0">
            <a:extLst>
              <a:ext uri="{FF2B5EF4-FFF2-40B4-BE49-F238E27FC236}">
                <a16:creationId xmlns:a16="http://schemas.microsoft.com/office/drawing/2014/main" id="{10234ECA-7A35-4112-8C6F-E83E0C1A84A9}"/>
              </a:ext>
            </a:extLst>
          </p:cNvPr>
          <p:cNvSpPr>
            <a:spLocks noGrp="1"/>
          </p:cNvSpPr>
          <p:nvPr/>
        </p:nvSpPr>
        <p:spPr>
          <a:xfrm>
            <a:off x="6219372" y="2438400"/>
            <a:ext cx="1423911" cy="0"/>
          </a:xfrm>
          <a:prstGeom prst="line">
            <a:avLst/>
          </a:prstGeom>
          <a:noFill/>
          <a:ln w="19050">
            <a:solidFill>
              <a:srgbClr val="A8ADB0"/>
            </a:solidFill>
            <a:prstDash val="solid"/>
          </a:ln>
        </p:spPr>
      </p:sp>
      <p:sp>
        <p:nvSpPr>
          <p:cNvPr id="29" name="Exhaust louvre 1">
            <a:extLst>
              <a:ext uri="{FF2B5EF4-FFF2-40B4-BE49-F238E27FC236}">
                <a16:creationId xmlns:a16="http://schemas.microsoft.com/office/drawing/2014/main" id="{26C37A22-F433-4E74-BD4A-B69D29288050}"/>
              </a:ext>
            </a:extLst>
          </p:cNvPr>
          <p:cNvSpPr>
            <a:spLocks noGrp="1"/>
          </p:cNvSpPr>
          <p:nvPr/>
        </p:nvSpPr>
        <p:spPr>
          <a:xfrm>
            <a:off x="6219372" y="2505075"/>
            <a:ext cx="1423911" cy="0"/>
          </a:xfrm>
          <a:prstGeom prst="line">
            <a:avLst/>
          </a:prstGeom>
          <a:noFill/>
          <a:ln w="19050">
            <a:solidFill>
              <a:srgbClr val="A8ADB0"/>
            </a:solidFill>
            <a:prstDash val="solid"/>
          </a:ln>
        </p:spPr>
      </p:sp>
      <p:sp>
        <p:nvSpPr>
          <p:cNvPr id="30" name="Exhaust louvre 2">
            <a:extLst>
              <a:ext uri="{FF2B5EF4-FFF2-40B4-BE49-F238E27FC236}">
                <a16:creationId xmlns:a16="http://schemas.microsoft.com/office/drawing/2014/main" id="{4CC01341-4FE6-4CF2-8764-B8E2FE2647F6}"/>
              </a:ext>
            </a:extLst>
          </p:cNvPr>
          <p:cNvSpPr>
            <a:spLocks noGrp="1"/>
          </p:cNvSpPr>
          <p:nvPr/>
        </p:nvSpPr>
        <p:spPr>
          <a:xfrm>
            <a:off x="6219372" y="2571750"/>
            <a:ext cx="1423911" cy="0"/>
          </a:xfrm>
          <a:prstGeom prst="line">
            <a:avLst/>
          </a:prstGeom>
          <a:noFill/>
          <a:ln w="19050">
            <a:solidFill>
              <a:srgbClr val="A8ADB0"/>
            </a:solidFill>
            <a:prstDash val="solid"/>
          </a:ln>
        </p:spPr>
      </p:sp>
      <p:sp>
        <p:nvSpPr>
          <p:cNvPr id="31" name="Exhaust louvre 3">
            <a:extLst>
              <a:ext uri="{FF2B5EF4-FFF2-40B4-BE49-F238E27FC236}">
                <a16:creationId xmlns:a16="http://schemas.microsoft.com/office/drawing/2014/main" id="{CE0442B0-406C-4CF3-A366-D385111D6492}"/>
              </a:ext>
            </a:extLst>
          </p:cNvPr>
          <p:cNvSpPr>
            <a:spLocks noGrp="1"/>
          </p:cNvSpPr>
          <p:nvPr/>
        </p:nvSpPr>
        <p:spPr>
          <a:xfrm>
            <a:off x="6219372" y="2638425"/>
            <a:ext cx="1423911" cy="0"/>
          </a:xfrm>
          <a:prstGeom prst="line">
            <a:avLst/>
          </a:prstGeom>
          <a:noFill/>
          <a:ln w="19050">
            <a:solidFill>
              <a:srgbClr val="A8ADB0"/>
            </a:solidFill>
            <a:prstDash val="solid"/>
          </a:ln>
        </p:spPr>
      </p:sp>
      <p:sp>
        <p:nvSpPr>
          <p:cNvPr id="32" name="Exhaust louvre 4">
            <a:extLst>
              <a:ext uri="{FF2B5EF4-FFF2-40B4-BE49-F238E27FC236}">
                <a16:creationId xmlns:a16="http://schemas.microsoft.com/office/drawing/2014/main" id="{ED2FF53A-BD78-4FEC-ACF3-0D449098C11D}"/>
              </a:ext>
            </a:extLst>
          </p:cNvPr>
          <p:cNvSpPr>
            <a:spLocks noGrp="1"/>
          </p:cNvSpPr>
          <p:nvPr/>
        </p:nvSpPr>
        <p:spPr>
          <a:xfrm>
            <a:off x="6219372" y="2705100"/>
            <a:ext cx="1423911" cy="0"/>
          </a:xfrm>
          <a:prstGeom prst="line">
            <a:avLst/>
          </a:prstGeom>
          <a:noFill/>
          <a:ln w="19050">
            <a:solidFill>
              <a:srgbClr val="A8ADB0"/>
            </a:solidFill>
            <a:prstDash val="solid"/>
          </a:ln>
        </p:spPr>
      </p:sp>
      <p:sp>
        <p:nvSpPr>
          <p:cNvPr id="33" name="Main window frame">
            <a:extLst>
              <a:ext uri="{FF2B5EF4-FFF2-40B4-BE49-F238E27FC236}">
                <a16:creationId xmlns:a16="http://schemas.microsoft.com/office/drawing/2014/main" id="{D6A93777-BF8F-45CD-AD4B-8849FA4E9AEE}"/>
              </a:ext>
            </a:extLst>
          </p:cNvPr>
          <p:cNvSpPr>
            <a:spLocks noGrp="1"/>
          </p:cNvSpPr>
          <p:nvPr/>
        </p:nvSpPr>
        <p:spPr>
          <a:xfrm>
            <a:off x="3810000" y="2907030"/>
            <a:ext cx="4191000" cy="2609850"/>
          </a:xfrm>
          <a:prstGeom prst="rect">
            <a:avLst/>
          </a:prstGeom>
          <a:solidFill>
            <a:srgbClr val="1C3042"/>
          </a:solidFill>
          <a:ln w="28575">
            <a:solidFill>
              <a:srgbClr val="292B2D"/>
            </a:solidFill>
            <a:prstDash val="solid"/>
          </a:ln>
        </p:spPr>
      </p:sp>
      <p:sp>
        <p:nvSpPr>
          <p:cNvPr id="34" name="Main window mullion">
            <a:extLst>
              <a:ext uri="{FF2B5EF4-FFF2-40B4-BE49-F238E27FC236}">
                <a16:creationId xmlns:a16="http://schemas.microsoft.com/office/drawing/2014/main" id="{298F58E6-A320-4DF5-82BC-9C671D9622E1}"/>
              </a:ext>
            </a:extLst>
          </p:cNvPr>
          <p:cNvSpPr>
            <a:spLocks noGrp="1"/>
          </p:cNvSpPr>
          <p:nvPr/>
        </p:nvSpPr>
        <p:spPr>
          <a:xfrm>
            <a:off x="5905500" y="2914650"/>
            <a:ext cx="0" cy="2609850"/>
          </a:xfrm>
          <a:prstGeom prst="line">
            <a:avLst/>
          </a:prstGeom>
          <a:noFill/>
          <a:ln w="57150">
            <a:solidFill>
              <a:srgbClr val="A8ADB0"/>
            </a:solidFill>
            <a:prstDash val="solid"/>
          </a:ln>
        </p:spPr>
      </p:sp>
      <p:sp>
        <p:nvSpPr>
          <p:cNvPr id="35" name="W5 chimney loft shutter">
            <a:extLst>
              <a:ext uri="{FF2B5EF4-FFF2-40B4-BE49-F238E27FC236}">
                <a16:creationId xmlns:a16="http://schemas.microsoft.com/office/drawing/2014/main" id="{A89FF90A-1816-4EA1-A8A7-2403810CD033}"/>
              </a:ext>
            </a:extLst>
          </p:cNvPr>
          <p:cNvSpPr>
            <a:spLocks noGrp="1"/>
          </p:cNvSpPr>
          <p:nvPr/>
        </p:nvSpPr>
        <p:spPr>
          <a:xfrm>
            <a:off x="8001000" y="1714500"/>
            <a:ext cx="3048000" cy="1190625"/>
          </a:xfrm>
          <a:prstGeom prst="rect">
            <a:avLst/>
          </a:prstGeom>
          <a:solidFill>
            <a:srgbClr val="DCC6A8"/>
          </a:solidFill>
          <a:ln w="14288">
            <a:solidFill>
              <a:srgbClr val="6B5543"/>
            </a:solidFill>
            <a:prstDash val="solid"/>
          </a:ln>
        </p:spPr>
      </p:sp>
      <p:sp>
        <p:nvSpPr>
          <p:cNvPr id="36" name="W5 chimney loft handle">
            <a:extLst>
              <a:ext uri="{FF2B5EF4-FFF2-40B4-BE49-F238E27FC236}">
                <a16:creationId xmlns:a16="http://schemas.microsoft.com/office/drawing/2014/main" id="{0801260F-C1E4-4113-A46E-6C01CF172D96}"/>
              </a:ext>
            </a:extLst>
          </p:cNvPr>
          <p:cNvSpPr>
            <a:spLocks noGrp="1"/>
          </p:cNvSpPr>
          <p:nvPr/>
        </p:nvSpPr>
        <p:spPr>
          <a:xfrm>
            <a:off x="9324975" y="2695575"/>
            <a:ext cx="400050" cy="38100"/>
          </a:xfrm>
          <a:prstGeom prst="rect">
            <a:avLst/>
          </a:prstGeom>
          <a:solidFill>
            <a:srgbClr val="A8ADB0"/>
          </a:solidFill>
          <a:ln w="6668">
            <a:solidFill>
              <a:srgbClr val="292B2D"/>
            </a:solidFill>
            <a:prstDash val="solid"/>
          </a:ln>
        </p:spPr>
      </p:sp>
      <p:sp>
        <p:nvSpPr>
          <p:cNvPr id="37" name="W5 concealed chimney lower shutter">
            <a:extLst>
              <a:ext uri="{FF2B5EF4-FFF2-40B4-BE49-F238E27FC236}">
                <a16:creationId xmlns:a16="http://schemas.microsoft.com/office/drawing/2014/main" id="{B97460EA-7505-45C6-A111-7B0CD08EA4C0}"/>
              </a:ext>
            </a:extLst>
          </p:cNvPr>
          <p:cNvSpPr>
            <a:spLocks noGrp="1"/>
          </p:cNvSpPr>
          <p:nvPr/>
        </p:nvSpPr>
        <p:spPr>
          <a:xfrm>
            <a:off x="8001000" y="2905125"/>
            <a:ext cx="3048000" cy="1571625"/>
          </a:xfrm>
          <a:prstGeom prst="rect">
            <a:avLst/>
          </a:prstGeom>
          <a:solidFill>
            <a:srgbClr val="DCC6A8"/>
          </a:solidFill>
          <a:ln w="14288">
            <a:solidFill>
              <a:srgbClr val="6B5543"/>
            </a:solidFill>
            <a:prstDash val="solid"/>
          </a:ln>
        </p:spPr>
      </p:sp>
      <p:sp>
        <p:nvSpPr>
          <p:cNvPr id="38" name="W5 concealed chimney lower handle">
            <a:extLst>
              <a:ext uri="{FF2B5EF4-FFF2-40B4-BE49-F238E27FC236}">
                <a16:creationId xmlns:a16="http://schemas.microsoft.com/office/drawing/2014/main" id="{0508E955-EC6E-4313-85D8-3C21B45574FF}"/>
              </a:ext>
            </a:extLst>
          </p:cNvPr>
          <p:cNvSpPr>
            <a:spLocks noGrp="1"/>
          </p:cNvSpPr>
          <p:nvPr/>
        </p:nvSpPr>
        <p:spPr>
          <a:xfrm>
            <a:off x="9324975" y="4267200"/>
            <a:ext cx="400050" cy="38100"/>
          </a:xfrm>
          <a:prstGeom prst="rect">
            <a:avLst/>
          </a:prstGeom>
          <a:solidFill>
            <a:srgbClr val="A8ADB0"/>
          </a:solidFill>
          <a:ln w="6668">
            <a:solidFill>
              <a:srgbClr val="292B2D"/>
            </a:solidFill>
            <a:prstDash val="solid"/>
          </a:ln>
        </p:spPr>
      </p:sp>
      <p:sp>
        <p:nvSpPr>
          <p:cNvPr id="39" name="Hood filter underside">
            <a:extLst>
              <a:ext uri="{FF2B5EF4-FFF2-40B4-BE49-F238E27FC236}">
                <a16:creationId xmlns:a16="http://schemas.microsoft.com/office/drawing/2014/main" id="{CE0B1B75-30E1-4A6B-A69D-594400F3E191}"/>
              </a:ext>
            </a:extLst>
          </p:cNvPr>
          <p:cNvSpPr>
            <a:spLocks noGrp="1"/>
          </p:cNvSpPr>
          <p:nvPr/>
        </p:nvSpPr>
        <p:spPr>
          <a:xfrm>
            <a:off x="8362950" y="4429125"/>
            <a:ext cx="2324100" cy="95250"/>
          </a:xfrm>
          <a:prstGeom prst="rect">
            <a:avLst/>
          </a:prstGeom>
          <a:solidFill>
            <a:srgbClr val="A8ADB0"/>
          </a:solidFill>
          <a:ln w="9525">
            <a:solidFill>
              <a:srgbClr val="292B2D"/>
            </a:solidFill>
            <a:prstDash val="solid"/>
          </a:ln>
        </p:spPr>
      </p:sp>
      <p:sp>
        <p:nvSpPr>
          <p:cNvPr id="40" name="Hood lamp 0">
            <a:extLst>
              <a:ext uri="{FF2B5EF4-FFF2-40B4-BE49-F238E27FC236}">
                <a16:creationId xmlns:a16="http://schemas.microsoft.com/office/drawing/2014/main" id="{35DEE3D4-5423-4E63-844B-7CD56F9386B1}"/>
              </a:ext>
            </a:extLst>
          </p:cNvPr>
          <p:cNvSpPr>
            <a:spLocks noGrp="1"/>
          </p:cNvSpPr>
          <p:nvPr/>
        </p:nvSpPr>
        <p:spPr>
          <a:xfrm>
            <a:off x="8763000" y="4476750"/>
            <a:ext cx="142875" cy="47625"/>
          </a:xfrm>
          <a:prstGeom prst="ellipse">
            <a:avLst/>
          </a:prstGeom>
          <a:solidFill>
            <a:srgbClr val="F5C96D"/>
          </a:solidFill>
          <a:ln w="9525">
            <a:solidFill>
              <a:srgbClr val="292B2D"/>
            </a:solidFill>
            <a:prstDash val="solid"/>
          </a:ln>
        </p:spPr>
      </p:sp>
      <p:sp>
        <p:nvSpPr>
          <p:cNvPr id="41" name="Hood lamp 1">
            <a:extLst>
              <a:ext uri="{FF2B5EF4-FFF2-40B4-BE49-F238E27FC236}">
                <a16:creationId xmlns:a16="http://schemas.microsoft.com/office/drawing/2014/main" id="{B273AA53-CE2E-46AD-B047-C486C857B5E8}"/>
              </a:ext>
            </a:extLst>
          </p:cNvPr>
          <p:cNvSpPr>
            <a:spLocks noGrp="1"/>
          </p:cNvSpPr>
          <p:nvPr/>
        </p:nvSpPr>
        <p:spPr>
          <a:xfrm>
            <a:off x="10287000" y="4476750"/>
            <a:ext cx="142875" cy="47625"/>
          </a:xfrm>
          <a:prstGeom prst="ellipse">
            <a:avLst/>
          </a:prstGeom>
          <a:solidFill>
            <a:srgbClr val="F5C96D"/>
          </a:solidFill>
          <a:ln w="9525">
            <a:solidFill>
              <a:srgbClr val="292B2D"/>
            </a:solidFill>
            <a:prstDash val="solid"/>
          </a:ln>
        </p:spPr>
      </p:sp>
      <p:sp>
        <p:nvSpPr>
          <p:cNvPr id="42" name="Window-wall backsplash left">
            <a:extLst>
              <a:ext uri="{FF2B5EF4-FFF2-40B4-BE49-F238E27FC236}">
                <a16:creationId xmlns:a16="http://schemas.microsoft.com/office/drawing/2014/main" id="{4DD5B3C5-C66C-47C5-84FE-C791951E8E34}"/>
              </a:ext>
            </a:extLst>
          </p:cNvPr>
          <p:cNvSpPr>
            <a:spLocks noGrp="1"/>
          </p:cNvSpPr>
          <p:nvPr/>
        </p:nvSpPr>
        <p:spPr>
          <a:xfrm>
            <a:off x="666750" y="4524375"/>
            <a:ext cx="3143250" cy="1285875"/>
          </a:xfrm>
          <a:prstGeom prst="rect">
            <a:avLst/>
          </a:prstGeom>
          <a:solidFill>
            <a:srgbClr val="F6F3ED"/>
          </a:solidFill>
          <a:ln w="0">
            <a:noFill/>
            <a:prstDash val="solid"/>
          </a:ln>
        </p:spPr>
      </p:sp>
      <p:sp>
        <p:nvSpPr>
          <p:cNvPr id="43" name="Window-wall backsplash right">
            <a:extLst>
              <a:ext uri="{FF2B5EF4-FFF2-40B4-BE49-F238E27FC236}">
                <a16:creationId xmlns:a16="http://schemas.microsoft.com/office/drawing/2014/main" id="{515F7538-D288-4842-89AC-6111EE47710D}"/>
              </a:ext>
            </a:extLst>
          </p:cNvPr>
          <p:cNvSpPr>
            <a:spLocks noGrp="1"/>
          </p:cNvSpPr>
          <p:nvPr/>
        </p:nvSpPr>
        <p:spPr>
          <a:xfrm>
            <a:off x="8001000" y="4572000"/>
            <a:ext cx="3048000" cy="1238250"/>
          </a:xfrm>
          <a:prstGeom prst="rect">
            <a:avLst/>
          </a:prstGeom>
          <a:solidFill>
            <a:srgbClr val="F6F3ED"/>
          </a:solidFill>
          <a:ln w="0">
            <a:noFill/>
            <a:prstDash val="solid"/>
          </a:ln>
        </p:spPr>
      </p:sp>
      <p:sp>
        <p:nvSpPr>
          <p:cNvPr id="44" name="Left task light">
            <a:extLst>
              <a:ext uri="{FF2B5EF4-FFF2-40B4-BE49-F238E27FC236}">
                <a16:creationId xmlns:a16="http://schemas.microsoft.com/office/drawing/2014/main" id="{FDFC834A-072B-4392-B9A4-DCE95CB99766}"/>
              </a:ext>
            </a:extLst>
          </p:cNvPr>
          <p:cNvSpPr>
            <a:spLocks noGrp="1"/>
          </p:cNvSpPr>
          <p:nvPr/>
        </p:nvSpPr>
        <p:spPr>
          <a:xfrm>
            <a:off x="666750" y="4505325"/>
            <a:ext cx="3143250" cy="0"/>
          </a:xfrm>
          <a:prstGeom prst="line">
            <a:avLst/>
          </a:prstGeom>
          <a:noFill/>
          <a:ln w="47625">
            <a:solidFill>
              <a:srgbClr val="F5C96D"/>
            </a:solidFill>
            <a:prstDash val="solid"/>
          </a:ln>
        </p:spPr>
      </p:sp>
      <p:sp>
        <p:nvSpPr>
          <p:cNvPr id="45" name="Hood task light">
            <a:extLst>
              <a:ext uri="{FF2B5EF4-FFF2-40B4-BE49-F238E27FC236}">
                <a16:creationId xmlns:a16="http://schemas.microsoft.com/office/drawing/2014/main" id="{90BE448B-073E-4F0C-B944-CBB7CB956A71}"/>
              </a:ext>
            </a:extLst>
          </p:cNvPr>
          <p:cNvSpPr>
            <a:spLocks noGrp="1"/>
          </p:cNvSpPr>
          <p:nvPr/>
        </p:nvSpPr>
        <p:spPr>
          <a:xfrm>
            <a:off x="8001000" y="4572000"/>
            <a:ext cx="3048000" cy="0"/>
          </a:xfrm>
          <a:prstGeom prst="line">
            <a:avLst/>
          </a:prstGeom>
          <a:noFill/>
          <a:ln w="38100">
            <a:solidFill>
              <a:srgbClr val="F5C96D"/>
            </a:solidFill>
            <a:prstDash val="solid"/>
          </a:ln>
        </p:spPr>
      </p:sp>
      <p:sp>
        <p:nvSpPr>
          <p:cNvPr id="46" name="Continuous window-wall worktop">
            <a:extLst>
              <a:ext uri="{FF2B5EF4-FFF2-40B4-BE49-F238E27FC236}">
                <a16:creationId xmlns:a16="http://schemas.microsoft.com/office/drawing/2014/main" id="{09813064-A2B2-4C6F-AF39-AA8DC900497D}"/>
              </a:ext>
            </a:extLst>
          </p:cNvPr>
          <p:cNvSpPr>
            <a:spLocks noGrp="1"/>
          </p:cNvSpPr>
          <p:nvPr/>
        </p:nvSpPr>
        <p:spPr>
          <a:xfrm>
            <a:off x="666750" y="5810250"/>
            <a:ext cx="10382250" cy="133350"/>
          </a:xfrm>
          <a:prstGeom prst="rect">
            <a:avLst/>
          </a:prstGeom>
          <a:solidFill>
            <a:srgbClr val="292B2D"/>
          </a:solidFill>
          <a:ln w="9525">
            <a:solidFill>
              <a:srgbClr val="292B2D"/>
            </a:solidFill>
            <a:prstDash val="solid"/>
          </a:ln>
        </p:spPr>
      </p:sp>
      <p:sp>
        <p:nvSpPr>
          <p:cNvPr id="47" name="W1 light drawer 1 shutter">
            <a:extLst>
              <a:ext uri="{FF2B5EF4-FFF2-40B4-BE49-F238E27FC236}">
                <a16:creationId xmlns:a16="http://schemas.microsoft.com/office/drawing/2014/main" id="{98806166-8F2D-442E-9D0B-0B3A3883B721}"/>
              </a:ext>
            </a:extLst>
          </p:cNvPr>
          <p:cNvSpPr>
            <a:spLocks noGrp="1"/>
          </p:cNvSpPr>
          <p:nvPr/>
        </p:nvSpPr>
        <p:spPr>
          <a:xfrm>
            <a:off x="666750" y="5943600"/>
            <a:ext cx="1571625" cy="400050"/>
          </a:xfrm>
          <a:prstGeom prst="rect">
            <a:avLst/>
          </a:prstGeom>
          <a:solidFill>
            <a:srgbClr val="DCC6A8"/>
          </a:solidFill>
          <a:ln w="14288">
            <a:solidFill>
              <a:srgbClr val="6B5543"/>
            </a:solidFill>
            <a:prstDash val="solid"/>
          </a:ln>
        </p:spPr>
      </p:sp>
      <p:sp>
        <p:nvSpPr>
          <p:cNvPr id="48" name="W1 light drawer 1 handle">
            <a:extLst>
              <a:ext uri="{FF2B5EF4-FFF2-40B4-BE49-F238E27FC236}">
                <a16:creationId xmlns:a16="http://schemas.microsoft.com/office/drawing/2014/main" id="{F5494B26-1DE0-4433-B007-E1C72B72A6FB}"/>
              </a:ext>
            </a:extLst>
          </p:cNvPr>
          <p:cNvSpPr>
            <a:spLocks noGrp="1"/>
          </p:cNvSpPr>
          <p:nvPr/>
        </p:nvSpPr>
        <p:spPr>
          <a:xfrm>
            <a:off x="1252538" y="6143625"/>
            <a:ext cx="400050" cy="38100"/>
          </a:xfrm>
          <a:prstGeom prst="rect">
            <a:avLst/>
          </a:prstGeom>
          <a:solidFill>
            <a:srgbClr val="A8ADB0"/>
          </a:solidFill>
          <a:ln w="6668">
            <a:solidFill>
              <a:srgbClr val="292B2D"/>
            </a:solidFill>
            <a:prstDash val="solid"/>
          </a:ln>
        </p:spPr>
      </p:sp>
      <p:sp>
        <p:nvSpPr>
          <p:cNvPr id="49" name="W1 light drawer 2 shutter">
            <a:extLst>
              <a:ext uri="{FF2B5EF4-FFF2-40B4-BE49-F238E27FC236}">
                <a16:creationId xmlns:a16="http://schemas.microsoft.com/office/drawing/2014/main" id="{DEA366D8-766A-448A-9EE2-57B9181A8E23}"/>
              </a:ext>
            </a:extLst>
          </p:cNvPr>
          <p:cNvSpPr>
            <a:spLocks noGrp="1"/>
          </p:cNvSpPr>
          <p:nvPr/>
        </p:nvSpPr>
        <p:spPr>
          <a:xfrm>
            <a:off x="666750" y="6343650"/>
            <a:ext cx="1571625" cy="571500"/>
          </a:xfrm>
          <a:prstGeom prst="rect">
            <a:avLst/>
          </a:prstGeom>
          <a:solidFill>
            <a:srgbClr val="DCC6A8"/>
          </a:solidFill>
          <a:ln w="14288">
            <a:solidFill>
              <a:srgbClr val="6B5543"/>
            </a:solidFill>
            <a:prstDash val="solid"/>
          </a:ln>
        </p:spPr>
      </p:sp>
      <p:sp>
        <p:nvSpPr>
          <p:cNvPr id="50" name="W1 light drawer 2 handle">
            <a:extLst>
              <a:ext uri="{FF2B5EF4-FFF2-40B4-BE49-F238E27FC236}">
                <a16:creationId xmlns:a16="http://schemas.microsoft.com/office/drawing/2014/main" id="{DDF6088B-0E42-47C2-9FA4-DB24A4562B34}"/>
              </a:ext>
            </a:extLst>
          </p:cNvPr>
          <p:cNvSpPr>
            <a:spLocks noGrp="1"/>
          </p:cNvSpPr>
          <p:nvPr/>
        </p:nvSpPr>
        <p:spPr>
          <a:xfrm>
            <a:off x="1252538" y="6629400"/>
            <a:ext cx="400050" cy="38100"/>
          </a:xfrm>
          <a:prstGeom prst="rect">
            <a:avLst/>
          </a:prstGeom>
          <a:solidFill>
            <a:srgbClr val="A8ADB0"/>
          </a:solidFill>
          <a:ln w="6668">
            <a:solidFill>
              <a:srgbClr val="292B2D"/>
            </a:solidFill>
            <a:prstDash val="solid"/>
          </a:ln>
        </p:spPr>
      </p:sp>
      <p:sp>
        <p:nvSpPr>
          <p:cNvPr id="51" name="W1 light drawer 3 shutter">
            <a:extLst>
              <a:ext uri="{FF2B5EF4-FFF2-40B4-BE49-F238E27FC236}">
                <a16:creationId xmlns:a16="http://schemas.microsoft.com/office/drawing/2014/main" id="{9CF0942F-7494-4417-9E33-59AD52882827}"/>
              </a:ext>
            </a:extLst>
          </p:cNvPr>
          <p:cNvSpPr>
            <a:spLocks noGrp="1"/>
          </p:cNvSpPr>
          <p:nvPr/>
        </p:nvSpPr>
        <p:spPr>
          <a:xfrm>
            <a:off x="666750" y="6915150"/>
            <a:ext cx="1571625" cy="571500"/>
          </a:xfrm>
          <a:prstGeom prst="rect">
            <a:avLst/>
          </a:prstGeom>
          <a:solidFill>
            <a:srgbClr val="DCC6A8"/>
          </a:solidFill>
          <a:ln w="14288">
            <a:solidFill>
              <a:srgbClr val="6B5543"/>
            </a:solidFill>
            <a:prstDash val="solid"/>
          </a:ln>
        </p:spPr>
      </p:sp>
      <p:sp>
        <p:nvSpPr>
          <p:cNvPr id="52" name="W1 light drawer 3 handle">
            <a:extLst>
              <a:ext uri="{FF2B5EF4-FFF2-40B4-BE49-F238E27FC236}">
                <a16:creationId xmlns:a16="http://schemas.microsoft.com/office/drawing/2014/main" id="{123E4816-E542-4FC3-A55B-8420BD859700}"/>
              </a:ext>
            </a:extLst>
          </p:cNvPr>
          <p:cNvSpPr>
            <a:spLocks noGrp="1"/>
          </p:cNvSpPr>
          <p:nvPr/>
        </p:nvSpPr>
        <p:spPr>
          <a:xfrm>
            <a:off x="1252538" y="7200900"/>
            <a:ext cx="400050" cy="38100"/>
          </a:xfrm>
          <a:prstGeom prst="rect">
            <a:avLst/>
          </a:prstGeom>
          <a:solidFill>
            <a:srgbClr val="A8ADB0"/>
          </a:solidFill>
          <a:ln w="6668">
            <a:solidFill>
              <a:srgbClr val="292B2D"/>
            </a:solidFill>
            <a:prstDash val="solid"/>
          </a:ln>
        </p:spPr>
      </p:sp>
      <p:sp>
        <p:nvSpPr>
          <p:cNvPr id="53" name="W2 light drawer 1 shutter">
            <a:extLst>
              <a:ext uri="{FF2B5EF4-FFF2-40B4-BE49-F238E27FC236}">
                <a16:creationId xmlns:a16="http://schemas.microsoft.com/office/drawing/2014/main" id="{055C806A-19BF-416A-B786-E1A628E92994}"/>
              </a:ext>
            </a:extLst>
          </p:cNvPr>
          <p:cNvSpPr>
            <a:spLocks noGrp="1"/>
          </p:cNvSpPr>
          <p:nvPr/>
        </p:nvSpPr>
        <p:spPr>
          <a:xfrm>
            <a:off x="2238375" y="5943600"/>
            <a:ext cx="1571625" cy="400050"/>
          </a:xfrm>
          <a:prstGeom prst="rect">
            <a:avLst/>
          </a:prstGeom>
          <a:solidFill>
            <a:srgbClr val="DCC6A8"/>
          </a:solidFill>
          <a:ln w="14288">
            <a:solidFill>
              <a:srgbClr val="6B5543"/>
            </a:solidFill>
            <a:prstDash val="solid"/>
          </a:ln>
        </p:spPr>
      </p:sp>
      <p:sp>
        <p:nvSpPr>
          <p:cNvPr id="54" name="W2 light drawer 1 handle">
            <a:extLst>
              <a:ext uri="{FF2B5EF4-FFF2-40B4-BE49-F238E27FC236}">
                <a16:creationId xmlns:a16="http://schemas.microsoft.com/office/drawing/2014/main" id="{FA442C4E-D351-4A59-A4B6-E3FDE27E88A2}"/>
              </a:ext>
            </a:extLst>
          </p:cNvPr>
          <p:cNvSpPr>
            <a:spLocks noGrp="1"/>
          </p:cNvSpPr>
          <p:nvPr/>
        </p:nvSpPr>
        <p:spPr>
          <a:xfrm>
            <a:off x="2824163" y="6143625"/>
            <a:ext cx="400050" cy="38100"/>
          </a:xfrm>
          <a:prstGeom prst="rect">
            <a:avLst/>
          </a:prstGeom>
          <a:solidFill>
            <a:srgbClr val="A8ADB0"/>
          </a:solidFill>
          <a:ln w="6668">
            <a:solidFill>
              <a:srgbClr val="292B2D"/>
            </a:solidFill>
            <a:prstDash val="solid"/>
          </a:ln>
        </p:spPr>
      </p:sp>
      <p:sp>
        <p:nvSpPr>
          <p:cNvPr id="55" name="W2 light drawer 2 shutter">
            <a:extLst>
              <a:ext uri="{FF2B5EF4-FFF2-40B4-BE49-F238E27FC236}">
                <a16:creationId xmlns:a16="http://schemas.microsoft.com/office/drawing/2014/main" id="{D04809CB-CD95-46EF-885C-2497B2C8288F}"/>
              </a:ext>
            </a:extLst>
          </p:cNvPr>
          <p:cNvSpPr>
            <a:spLocks noGrp="1"/>
          </p:cNvSpPr>
          <p:nvPr/>
        </p:nvSpPr>
        <p:spPr>
          <a:xfrm>
            <a:off x="2238375" y="6343650"/>
            <a:ext cx="1571625" cy="571500"/>
          </a:xfrm>
          <a:prstGeom prst="rect">
            <a:avLst/>
          </a:prstGeom>
          <a:solidFill>
            <a:srgbClr val="DCC6A8"/>
          </a:solidFill>
          <a:ln w="14288">
            <a:solidFill>
              <a:srgbClr val="6B5543"/>
            </a:solidFill>
            <a:prstDash val="solid"/>
          </a:ln>
        </p:spPr>
      </p:sp>
      <p:sp>
        <p:nvSpPr>
          <p:cNvPr id="56" name="W2 light drawer 2 handle">
            <a:extLst>
              <a:ext uri="{FF2B5EF4-FFF2-40B4-BE49-F238E27FC236}">
                <a16:creationId xmlns:a16="http://schemas.microsoft.com/office/drawing/2014/main" id="{E8B4354F-AB15-4DDB-A9C8-979C1C00CE28}"/>
              </a:ext>
            </a:extLst>
          </p:cNvPr>
          <p:cNvSpPr>
            <a:spLocks noGrp="1"/>
          </p:cNvSpPr>
          <p:nvPr/>
        </p:nvSpPr>
        <p:spPr>
          <a:xfrm>
            <a:off x="2824163" y="6629400"/>
            <a:ext cx="400050" cy="38100"/>
          </a:xfrm>
          <a:prstGeom prst="rect">
            <a:avLst/>
          </a:prstGeom>
          <a:solidFill>
            <a:srgbClr val="A8ADB0"/>
          </a:solidFill>
          <a:ln w="6668">
            <a:solidFill>
              <a:srgbClr val="292B2D"/>
            </a:solidFill>
            <a:prstDash val="solid"/>
          </a:ln>
        </p:spPr>
      </p:sp>
      <p:sp>
        <p:nvSpPr>
          <p:cNvPr id="57" name="W2 light drawer 3 shutter">
            <a:extLst>
              <a:ext uri="{FF2B5EF4-FFF2-40B4-BE49-F238E27FC236}">
                <a16:creationId xmlns:a16="http://schemas.microsoft.com/office/drawing/2014/main" id="{3D620E12-54E1-4A2F-ACD8-F4D7711671A6}"/>
              </a:ext>
            </a:extLst>
          </p:cNvPr>
          <p:cNvSpPr>
            <a:spLocks noGrp="1"/>
          </p:cNvSpPr>
          <p:nvPr/>
        </p:nvSpPr>
        <p:spPr>
          <a:xfrm>
            <a:off x="2238375" y="6915150"/>
            <a:ext cx="1571625" cy="571500"/>
          </a:xfrm>
          <a:prstGeom prst="rect">
            <a:avLst/>
          </a:prstGeom>
          <a:solidFill>
            <a:srgbClr val="DCC6A8"/>
          </a:solidFill>
          <a:ln w="14288">
            <a:solidFill>
              <a:srgbClr val="6B5543"/>
            </a:solidFill>
            <a:prstDash val="solid"/>
          </a:ln>
        </p:spPr>
      </p:sp>
      <p:sp>
        <p:nvSpPr>
          <p:cNvPr id="58" name="W2 light drawer 3 handle">
            <a:extLst>
              <a:ext uri="{FF2B5EF4-FFF2-40B4-BE49-F238E27FC236}">
                <a16:creationId xmlns:a16="http://schemas.microsoft.com/office/drawing/2014/main" id="{EC8BD87E-16E3-426F-9F91-8D58CDC4BA40}"/>
              </a:ext>
            </a:extLst>
          </p:cNvPr>
          <p:cNvSpPr>
            <a:spLocks noGrp="1"/>
          </p:cNvSpPr>
          <p:nvPr/>
        </p:nvSpPr>
        <p:spPr>
          <a:xfrm>
            <a:off x="2824163" y="7200900"/>
            <a:ext cx="400050" cy="38100"/>
          </a:xfrm>
          <a:prstGeom prst="rect">
            <a:avLst/>
          </a:prstGeom>
          <a:solidFill>
            <a:srgbClr val="A8ADB0"/>
          </a:solidFill>
          <a:ln w="6668">
            <a:solidFill>
              <a:srgbClr val="292B2D"/>
            </a:solidFill>
            <a:prstDash val="solid"/>
          </a:ln>
        </p:spPr>
      </p:sp>
      <p:sp>
        <p:nvSpPr>
          <p:cNvPr id="65" name="W4 walnut drawer 1 shutter">
            <a:extLst>
              <a:ext uri="{FF2B5EF4-FFF2-40B4-BE49-F238E27FC236}">
                <a16:creationId xmlns:a16="http://schemas.microsoft.com/office/drawing/2014/main" id="{7D401EA1-BC86-4B8D-AFB5-53867E146E7D}"/>
              </a:ext>
            </a:extLst>
          </p:cNvPr>
          <p:cNvSpPr>
            <a:spLocks noGrp="1"/>
          </p:cNvSpPr>
          <p:nvPr/>
        </p:nvSpPr>
        <p:spPr>
          <a:xfrm>
            <a:off x="3828768" y="5943600"/>
            <a:ext cx="4172232" cy="400050"/>
          </a:xfrm>
          <a:prstGeom prst="rect">
            <a:avLst/>
          </a:prstGeom>
          <a:solidFill>
            <a:srgbClr val="875B3D"/>
          </a:solidFill>
          <a:ln w="14288">
            <a:solidFill>
              <a:srgbClr val="6B5543"/>
            </a:solidFill>
            <a:prstDash val="solid"/>
          </a:ln>
        </p:spPr>
      </p:sp>
      <p:sp>
        <p:nvSpPr>
          <p:cNvPr id="66" name="W4 walnut drawer 1 handle">
            <a:extLst>
              <a:ext uri="{FF2B5EF4-FFF2-40B4-BE49-F238E27FC236}">
                <a16:creationId xmlns:a16="http://schemas.microsoft.com/office/drawing/2014/main" id="{9AD7FB29-95F4-4C6A-8B33-73E4AC5FF2D6}"/>
              </a:ext>
            </a:extLst>
          </p:cNvPr>
          <p:cNvSpPr>
            <a:spLocks noGrp="1"/>
          </p:cNvSpPr>
          <p:nvPr/>
        </p:nvSpPr>
        <p:spPr>
          <a:xfrm>
            <a:off x="5657850" y="6151033"/>
            <a:ext cx="400050" cy="38100"/>
          </a:xfrm>
          <a:prstGeom prst="rect">
            <a:avLst/>
          </a:prstGeom>
          <a:solidFill>
            <a:srgbClr val="A8ADB0"/>
          </a:solidFill>
          <a:ln w="6668">
            <a:solidFill>
              <a:srgbClr val="292B2D"/>
            </a:solidFill>
            <a:prstDash val="solid"/>
          </a:ln>
        </p:spPr>
      </p:sp>
      <p:sp>
        <p:nvSpPr>
          <p:cNvPr id="67" name="W4 walnut drawer 2 shutter">
            <a:extLst>
              <a:ext uri="{FF2B5EF4-FFF2-40B4-BE49-F238E27FC236}">
                <a16:creationId xmlns:a16="http://schemas.microsoft.com/office/drawing/2014/main" id="{DBD7621C-2182-42D0-9020-17A5B170240E}"/>
              </a:ext>
            </a:extLst>
          </p:cNvPr>
          <p:cNvSpPr>
            <a:spLocks noGrp="1"/>
          </p:cNvSpPr>
          <p:nvPr/>
        </p:nvSpPr>
        <p:spPr>
          <a:xfrm>
            <a:off x="3828768" y="6343650"/>
            <a:ext cx="4172232" cy="571500"/>
          </a:xfrm>
          <a:prstGeom prst="rect">
            <a:avLst/>
          </a:prstGeom>
          <a:solidFill>
            <a:srgbClr val="875B3D"/>
          </a:solidFill>
          <a:ln w="14288">
            <a:solidFill>
              <a:srgbClr val="6B5543"/>
            </a:solidFill>
            <a:prstDash val="solid"/>
          </a:ln>
        </p:spPr>
      </p:sp>
      <p:sp>
        <p:nvSpPr>
          <p:cNvPr id="68" name="W4 walnut drawer 2 handle">
            <a:extLst>
              <a:ext uri="{FF2B5EF4-FFF2-40B4-BE49-F238E27FC236}">
                <a16:creationId xmlns:a16="http://schemas.microsoft.com/office/drawing/2014/main" id="{46F6D8C2-5CA4-4807-A606-2927EA9A1DC6}"/>
              </a:ext>
            </a:extLst>
          </p:cNvPr>
          <p:cNvSpPr>
            <a:spLocks noGrp="1"/>
          </p:cNvSpPr>
          <p:nvPr/>
        </p:nvSpPr>
        <p:spPr>
          <a:xfrm>
            <a:off x="5657850" y="6659881"/>
            <a:ext cx="400050" cy="45719"/>
          </a:xfrm>
          <a:prstGeom prst="rect">
            <a:avLst/>
          </a:prstGeom>
          <a:solidFill>
            <a:srgbClr val="A8ADB0"/>
          </a:solidFill>
          <a:ln w="6668">
            <a:solidFill>
              <a:srgbClr val="292B2D"/>
            </a:solidFill>
            <a:prstDash val="solid"/>
          </a:ln>
        </p:spPr>
      </p:sp>
      <p:sp>
        <p:nvSpPr>
          <p:cNvPr id="69" name="W4 walnut drawer 3 shutter">
            <a:extLst>
              <a:ext uri="{FF2B5EF4-FFF2-40B4-BE49-F238E27FC236}">
                <a16:creationId xmlns:a16="http://schemas.microsoft.com/office/drawing/2014/main" id="{D2CA00D4-C037-4A4E-897D-9B27CBA55028}"/>
              </a:ext>
            </a:extLst>
          </p:cNvPr>
          <p:cNvSpPr>
            <a:spLocks noGrp="1"/>
          </p:cNvSpPr>
          <p:nvPr/>
        </p:nvSpPr>
        <p:spPr>
          <a:xfrm>
            <a:off x="3828768" y="6915150"/>
            <a:ext cx="4172232" cy="571500"/>
          </a:xfrm>
          <a:prstGeom prst="rect">
            <a:avLst/>
          </a:prstGeom>
          <a:solidFill>
            <a:srgbClr val="875B3D"/>
          </a:solidFill>
          <a:ln w="14288">
            <a:solidFill>
              <a:srgbClr val="6B5543"/>
            </a:solidFill>
            <a:prstDash val="solid"/>
          </a:ln>
        </p:spPr>
      </p:sp>
      <p:sp>
        <p:nvSpPr>
          <p:cNvPr id="70" name="W4 walnut drawer 3 handle">
            <a:extLst>
              <a:ext uri="{FF2B5EF4-FFF2-40B4-BE49-F238E27FC236}">
                <a16:creationId xmlns:a16="http://schemas.microsoft.com/office/drawing/2014/main" id="{DE152A00-4785-443D-9571-0BFC1FAF4191}"/>
              </a:ext>
            </a:extLst>
          </p:cNvPr>
          <p:cNvSpPr>
            <a:spLocks noGrp="1"/>
          </p:cNvSpPr>
          <p:nvPr/>
        </p:nvSpPr>
        <p:spPr>
          <a:xfrm>
            <a:off x="5657850" y="7193281"/>
            <a:ext cx="400050" cy="45719"/>
          </a:xfrm>
          <a:prstGeom prst="rect">
            <a:avLst/>
          </a:prstGeom>
          <a:solidFill>
            <a:srgbClr val="A8ADB0"/>
          </a:solidFill>
          <a:ln w="6668">
            <a:solidFill>
              <a:srgbClr val="292B2D"/>
            </a:solidFill>
            <a:prstDash val="solid"/>
          </a:ln>
        </p:spPr>
      </p:sp>
      <p:sp>
        <p:nvSpPr>
          <p:cNvPr id="71" name="Continuous base plinth">
            <a:extLst>
              <a:ext uri="{FF2B5EF4-FFF2-40B4-BE49-F238E27FC236}">
                <a16:creationId xmlns:a16="http://schemas.microsoft.com/office/drawing/2014/main" id="{D213E1F6-FBCF-438F-8E50-7503D94EAF07}"/>
              </a:ext>
            </a:extLst>
          </p:cNvPr>
          <p:cNvSpPr>
            <a:spLocks noGrp="1"/>
          </p:cNvSpPr>
          <p:nvPr/>
        </p:nvSpPr>
        <p:spPr>
          <a:xfrm>
            <a:off x="666750" y="7486650"/>
            <a:ext cx="10382250" cy="114300"/>
          </a:xfrm>
          <a:prstGeom prst="rect">
            <a:avLst/>
          </a:prstGeom>
          <a:solidFill>
            <a:srgbClr val="292B2D"/>
          </a:solidFill>
          <a:ln w="9525">
            <a:solidFill>
              <a:srgbClr val="292B2D"/>
            </a:solidFill>
            <a:prstDash val="solid"/>
          </a:ln>
        </p:spPr>
      </p:sp>
      <p:sp>
        <p:nvSpPr>
          <p:cNvPr id="72" name="Hob front">
            <a:extLst>
              <a:ext uri="{FF2B5EF4-FFF2-40B4-BE49-F238E27FC236}">
                <a16:creationId xmlns:a16="http://schemas.microsoft.com/office/drawing/2014/main" id="{3050B294-FD28-4668-A05B-E1A4B2E6539A}"/>
              </a:ext>
            </a:extLst>
          </p:cNvPr>
          <p:cNvSpPr>
            <a:spLocks noGrp="1"/>
          </p:cNvSpPr>
          <p:nvPr/>
        </p:nvSpPr>
        <p:spPr>
          <a:xfrm>
            <a:off x="8810625" y="5657850"/>
            <a:ext cx="1524000" cy="152400"/>
          </a:xfrm>
          <a:prstGeom prst="rect">
            <a:avLst/>
          </a:prstGeom>
          <a:solidFill>
            <a:srgbClr val="292B2D"/>
          </a:solidFill>
          <a:ln w="9525">
            <a:solidFill>
              <a:srgbClr val="A8ADB0"/>
            </a:solidFill>
            <a:prstDash val="solid"/>
          </a:ln>
        </p:spPr>
      </p:sp>
      <p:sp>
        <p:nvSpPr>
          <p:cNvPr id="73" name="Window elevation burner 0 outer">
            <a:extLst>
              <a:ext uri="{FF2B5EF4-FFF2-40B4-BE49-F238E27FC236}">
                <a16:creationId xmlns:a16="http://schemas.microsoft.com/office/drawing/2014/main" id="{DC5216A0-D957-4F6E-8E8A-FF4F314749D3}"/>
              </a:ext>
            </a:extLst>
          </p:cNvPr>
          <p:cNvSpPr>
            <a:spLocks noGrp="1"/>
          </p:cNvSpPr>
          <p:nvPr/>
        </p:nvSpPr>
        <p:spPr>
          <a:xfrm>
            <a:off x="8972550" y="5581650"/>
            <a:ext cx="152400" cy="152400"/>
          </a:xfrm>
          <a:prstGeom prst="ellipse">
            <a:avLst/>
          </a:prstGeom>
          <a:solidFill>
            <a:srgbClr val="292B2D"/>
          </a:solidFill>
          <a:ln w="12383">
            <a:solidFill>
              <a:srgbClr val="A8ADB0"/>
            </a:solidFill>
            <a:prstDash val="solid"/>
          </a:ln>
        </p:spPr>
      </p:sp>
      <p:sp>
        <p:nvSpPr>
          <p:cNvPr id="74" name="Window elevation burner 0 ring">
            <a:extLst>
              <a:ext uri="{FF2B5EF4-FFF2-40B4-BE49-F238E27FC236}">
                <a16:creationId xmlns:a16="http://schemas.microsoft.com/office/drawing/2014/main" id="{D9DF0449-A19C-4233-8A2F-538E477807EB}"/>
              </a:ext>
            </a:extLst>
          </p:cNvPr>
          <p:cNvSpPr>
            <a:spLocks noGrp="1"/>
          </p:cNvSpPr>
          <p:nvPr/>
        </p:nvSpPr>
        <p:spPr>
          <a:xfrm>
            <a:off x="9006840" y="5615940"/>
            <a:ext cx="83820" cy="83820"/>
          </a:xfrm>
          <a:prstGeom prst="ellipse">
            <a:avLst/>
          </a:prstGeom>
          <a:solidFill>
            <a:srgbClr val="A8ADB0"/>
          </a:solidFill>
          <a:ln w="9525">
            <a:solidFill>
              <a:srgbClr val="292B2D"/>
            </a:solidFill>
            <a:prstDash val="solid"/>
          </a:ln>
        </p:spPr>
      </p:sp>
      <p:sp>
        <p:nvSpPr>
          <p:cNvPr id="75" name="Window elevation burner 0 grate H">
            <a:extLst>
              <a:ext uri="{FF2B5EF4-FFF2-40B4-BE49-F238E27FC236}">
                <a16:creationId xmlns:a16="http://schemas.microsoft.com/office/drawing/2014/main" id="{302D9321-B2CF-4455-AEF5-042A627FB347}"/>
              </a:ext>
            </a:extLst>
          </p:cNvPr>
          <p:cNvSpPr>
            <a:spLocks noGrp="1"/>
          </p:cNvSpPr>
          <p:nvPr/>
        </p:nvSpPr>
        <p:spPr>
          <a:xfrm>
            <a:off x="8915400" y="5657850"/>
            <a:ext cx="266700" cy="0"/>
          </a:xfrm>
          <a:prstGeom prst="line">
            <a:avLst/>
          </a:prstGeom>
          <a:noFill/>
          <a:ln w="28575">
            <a:solidFill>
              <a:srgbClr val="A8ADB0"/>
            </a:solidFill>
            <a:prstDash val="solid"/>
          </a:ln>
        </p:spPr>
      </p:sp>
      <p:sp>
        <p:nvSpPr>
          <p:cNvPr id="76" name="Window elevation burner 0 grate V">
            <a:extLst>
              <a:ext uri="{FF2B5EF4-FFF2-40B4-BE49-F238E27FC236}">
                <a16:creationId xmlns:a16="http://schemas.microsoft.com/office/drawing/2014/main" id="{9EA49195-F36D-44ED-A23F-069C951AAF2A}"/>
              </a:ext>
            </a:extLst>
          </p:cNvPr>
          <p:cNvSpPr>
            <a:spLocks noGrp="1"/>
          </p:cNvSpPr>
          <p:nvPr/>
        </p:nvSpPr>
        <p:spPr>
          <a:xfrm>
            <a:off x="9048750" y="5524500"/>
            <a:ext cx="0" cy="266700"/>
          </a:xfrm>
          <a:prstGeom prst="line">
            <a:avLst/>
          </a:prstGeom>
          <a:noFill/>
          <a:ln w="28575">
            <a:solidFill>
              <a:srgbClr val="A8ADB0"/>
            </a:solidFill>
            <a:prstDash val="solid"/>
          </a:ln>
        </p:spPr>
      </p:sp>
      <p:sp>
        <p:nvSpPr>
          <p:cNvPr id="77" name="Window elevation burner 1 outer">
            <a:extLst>
              <a:ext uri="{FF2B5EF4-FFF2-40B4-BE49-F238E27FC236}">
                <a16:creationId xmlns:a16="http://schemas.microsoft.com/office/drawing/2014/main" id="{35C8E14D-023C-42EA-9A17-2A3929BFF7F9}"/>
              </a:ext>
            </a:extLst>
          </p:cNvPr>
          <p:cNvSpPr>
            <a:spLocks noGrp="1"/>
          </p:cNvSpPr>
          <p:nvPr/>
        </p:nvSpPr>
        <p:spPr>
          <a:xfrm>
            <a:off x="10020300" y="5581650"/>
            <a:ext cx="152400" cy="152400"/>
          </a:xfrm>
          <a:prstGeom prst="ellipse">
            <a:avLst/>
          </a:prstGeom>
          <a:solidFill>
            <a:srgbClr val="292B2D"/>
          </a:solidFill>
          <a:ln w="12383">
            <a:solidFill>
              <a:srgbClr val="A8ADB0"/>
            </a:solidFill>
            <a:prstDash val="solid"/>
          </a:ln>
        </p:spPr>
      </p:sp>
      <p:sp>
        <p:nvSpPr>
          <p:cNvPr id="78" name="Window elevation burner 1 ring">
            <a:extLst>
              <a:ext uri="{FF2B5EF4-FFF2-40B4-BE49-F238E27FC236}">
                <a16:creationId xmlns:a16="http://schemas.microsoft.com/office/drawing/2014/main" id="{13CCA14F-9DC6-460C-ACA8-E6822B373F36}"/>
              </a:ext>
            </a:extLst>
          </p:cNvPr>
          <p:cNvSpPr>
            <a:spLocks noGrp="1"/>
          </p:cNvSpPr>
          <p:nvPr/>
        </p:nvSpPr>
        <p:spPr>
          <a:xfrm>
            <a:off x="10054590" y="5615940"/>
            <a:ext cx="83820" cy="83820"/>
          </a:xfrm>
          <a:prstGeom prst="ellipse">
            <a:avLst/>
          </a:prstGeom>
          <a:solidFill>
            <a:srgbClr val="A8ADB0"/>
          </a:solidFill>
          <a:ln w="9525">
            <a:solidFill>
              <a:srgbClr val="292B2D"/>
            </a:solidFill>
            <a:prstDash val="solid"/>
          </a:ln>
        </p:spPr>
      </p:sp>
      <p:sp>
        <p:nvSpPr>
          <p:cNvPr id="79" name="Window elevation burner 1 grate H">
            <a:extLst>
              <a:ext uri="{FF2B5EF4-FFF2-40B4-BE49-F238E27FC236}">
                <a16:creationId xmlns:a16="http://schemas.microsoft.com/office/drawing/2014/main" id="{1596F783-AF7C-4A74-99C3-3B9E42E19667}"/>
              </a:ext>
            </a:extLst>
          </p:cNvPr>
          <p:cNvSpPr>
            <a:spLocks noGrp="1"/>
          </p:cNvSpPr>
          <p:nvPr/>
        </p:nvSpPr>
        <p:spPr>
          <a:xfrm>
            <a:off x="9963150" y="5657850"/>
            <a:ext cx="266700" cy="0"/>
          </a:xfrm>
          <a:prstGeom prst="line">
            <a:avLst/>
          </a:prstGeom>
          <a:noFill/>
          <a:ln w="28575">
            <a:solidFill>
              <a:srgbClr val="A8ADB0"/>
            </a:solidFill>
            <a:prstDash val="solid"/>
          </a:ln>
        </p:spPr>
      </p:sp>
      <p:sp>
        <p:nvSpPr>
          <p:cNvPr id="80" name="Window elevation burner 1 grate V">
            <a:extLst>
              <a:ext uri="{FF2B5EF4-FFF2-40B4-BE49-F238E27FC236}">
                <a16:creationId xmlns:a16="http://schemas.microsoft.com/office/drawing/2014/main" id="{ED7B8052-990B-4C98-8DFA-5A997C99A1AE}"/>
              </a:ext>
            </a:extLst>
          </p:cNvPr>
          <p:cNvSpPr>
            <a:spLocks noGrp="1"/>
          </p:cNvSpPr>
          <p:nvPr/>
        </p:nvSpPr>
        <p:spPr>
          <a:xfrm>
            <a:off x="10096500" y="5524500"/>
            <a:ext cx="0" cy="266700"/>
          </a:xfrm>
          <a:prstGeom prst="line">
            <a:avLst/>
          </a:prstGeom>
          <a:noFill/>
          <a:ln w="28575">
            <a:solidFill>
              <a:srgbClr val="A8ADB0"/>
            </a:solidFill>
            <a:prstDash val="solid"/>
          </a:ln>
        </p:spPr>
      </p:sp>
      <p:sp>
        <p:nvSpPr>
          <p:cNvPr id="81" name="Window label">
            <a:extLst>
              <a:ext uri="{FF2B5EF4-FFF2-40B4-BE49-F238E27FC236}">
                <a16:creationId xmlns:a16="http://schemas.microsoft.com/office/drawing/2014/main" id="{4B5C6F50-4115-4FCB-87CB-A75725422C38}"/>
              </a:ext>
            </a:extLst>
          </p:cNvPr>
          <p:cNvSpPr>
            <a:spLocks noGrp="1"/>
          </p:cNvSpPr>
          <p:nvPr/>
        </p:nvSpPr>
        <p:spPr>
          <a:xfrm>
            <a:off x="5048250" y="4048125"/>
            <a:ext cx="1714500" cy="333375"/>
          </a:xfrm>
          <a:prstGeom prst="rect">
            <a:avLst/>
          </a:prstGeom>
          <a:noFill/>
          <a:ln w="0">
            <a:noFill/>
            <a:prstDash val="solid"/>
          </a:ln>
        </p:spPr>
        <p:txBody>
          <a:bodyPr wrap="none" lIns="0" tIns="0" rIns="0" bIns="0" anchor="ctr">
            <a:noAutofit/>
          </a:bodyPr>
          <a:lstStyle/>
          <a:p>
            <a:pPr algn="ctr">
              <a:defRPr sz="1950" b="1">
                <a:solidFill>
                  <a:srgbClr val="FFFFFF"/>
                </a:solidFill>
                <a:latin typeface="Helvetica Neue"/>
                <a:ea typeface="Helvetica Neue"/>
                <a:cs typeface="Helvetica Neue"/>
              </a:defRPr>
            </a:pPr>
            <a:r>
              <a:rPr sz="1950" b="1" dirty="0">
                <a:solidFill>
                  <a:srgbClr val="FFFFFF"/>
                </a:solidFill>
                <a:latin typeface="Helvetica Neue"/>
                <a:ea typeface="Helvetica Neue"/>
                <a:cs typeface="Helvetica Neue"/>
              </a:rPr>
              <a:t>Window</a:t>
            </a:r>
          </a:p>
        </p:txBody>
      </p:sp>
      <p:sp>
        <p:nvSpPr>
          <p:cNvPr id="82" name="Chimney label">
            <a:extLst>
              <a:ext uri="{FF2B5EF4-FFF2-40B4-BE49-F238E27FC236}">
                <a16:creationId xmlns:a16="http://schemas.microsoft.com/office/drawing/2014/main" id="{4B5F9425-E68D-4AFC-BEBF-44D3EE946BA9}"/>
              </a:ext>
            </a:extLst>
          </p:cNvPr>
          <p:cNvSpPr>
            <a:spLocks noGrp="1"/>
          </p:cNvSpPr>
          <p:nvPr/>
        </p:nvSpPr>
        <p:spPr>
          <a:xfrm>
            <a:off x="8315325" y="3295650"/>
            <a:ext cx="2419350" cy="400050"/>
          </a:xfrm>
          <a:prstGeom prst="rect">
            <a:avLst/>
          </a:prstGeom>
          <a:noFill/>
          <a:ln w="0">
            <a:noFill/>
            <a:prstDash val="solid"/>
          </a:ln>
        </p:spPr>
        <p:txBody>
          <a:bodyPr wrap="none" lIns="0" tIns="0" rIns="0" bIns="0" anchor="ctr">
            <a:noAutofit/>
          </a:bodyPr>
          <a:lstStyle/>
          <a:p>
            <a:pPr algn="ctr">
              <a:defRPr sz="1800" b="1">
                <a:solidFill>
                  <a:srgbClr val="292B2D"/>
                </a:solidFill>
                <a:latin typeface="Helvetica Neue"/>
                <a:ea typeface="Helvetica Neue"/>
                <a:cs typeface="Helvetica Neue"/>
              </a:defRPr>
            </a:pPr>
            <a:r>
              <a:rPr sz="1800" b="1">
                <a:solidFill>
                  <a:srgbClr val="292B2D"/>
                </a:solidFill>
                <a:latin typeface="Helvetica Neue"/>
                <a:ea typeface="Helvetica Neue"/>
                <a:cs typeface="Helvetica Neue"/>
              </a:rPr>
              <a:t>Concealed chimney</a:t>
            </a:r>
          </a:p>
        </p:txBody>
      </p:sp>
      <p:sp>
        <p:nvSpPr>
          <p:cNvPr id="84" name="Alignment label">
            <a:extLst>
              <a:ext uri="{FF2B5EF4-FFF2-40B4-BE49-F238E27FC236}">
                <a16:creationId xmlns:a16="http://schemas.microsoft.com/office/drawing/2014/main" id="{41888999-3373-4BD1-8930-CEE9C9D8A105}"/>
              </a:ext>
            </a:extLst>
          </p:cNvPr>
          <p:cNvSpPr>
            <a:spLocks noGrp="1"/>
          </p:cNvSpPr>
          <p:nvPr/>
        </p:nvSpPr>
        <p:spPr>
          <a:xfrm>
            <a:off x="4371975" y="7696200"/>
            <a:ext cx="3238500" cy="285750"/>
          </a:xfrm>
          <a:prstGeom prst="rect">
            <a:avLst/>
          </a:prstGeom>
          <a:noFill/>
          <a:ln w="0">
            <a:noFill/>
            <a:prstDash val="solid"/>
          </a:ln>
        </p:spPr>
        <p:txBody>
          <a:bodyPr wrap="none" lIns="0" tIns="0" rIns="0" bIns="0" anchor="ctr">
            <a:noAutofit/>
          </a:bodyPr>
          <a:lstStyle/>
          <a:p>
            <a:pPr algn="ctr">
              <a:defRPr sz="1575" b="1">
                <a:solidFill>
                  <a:srgbClr val="457A90"/>
                </a:solidFill>
                <a:latin typeface="Helvetica Neue"/>
                <a:ea typeface="Helvetica Neue"/>
                <a:cs typeface="Helvetica Neue"/>
              </a:defRPr>
            </a:pPr>
            <a:r>
              <a:rPr sz="1575" b="1">
                <a:solidFill>
                  <a:srgbClr val="457A90"/>
                </a:solidFill>
                <a:latin typeface="Helvetica Neue"/>
                <a:ea typeface="Helvetica Neue"/>
                <a:cs typeface="Helvetica Neue"/>
              </a:rPr>
              <a:t>Window and drawer division</a:t>
            </a:r>
          </a:p>
        </p:txBody>
      </p:sp>
      <p:sp>
        <p:nvSpPr>
          <p:cNvPr id="85" name="Window-wall electrical outlet">
            <a:extLst>
              <a:ext uri="{FF2B5EF4-FFF2-40B4-BE49-F238E27FC236}">
                <a16:creationId xmlns:a16="http://schemas.microsoft.com/office/drawing/2014/main" id="{E5A3BD5F-FBA3-4AD5-89E3-252121998696}"/>
              </a:ext>
            </a:extLst>
          </p:cNvPr>
          <p:cNvSpPr>
            <a:spLocks noGrp="1"/>
          </p:cNvSpPr>
          <p:nvPr/>
        </p:nvSpPr>
        <p:spPr>
          <a:xfrm>
            <a:off x="8477250" y="5162550"/>
            <a:ext cx="323850" cy="209550"/>
          </a:xfrm>
          <a:prstGeom prst="rect">
            <a:avLst/>
          </a:prstGeom>
          <a:solidFill>
            <a:srgbClr val="FFFFFF"/>
          </a:solidFill>
          <a:ln w="9525">
            <a:solidFill>
              <a:srgbClr val="A8ADB0"/>
            </a:solidFill>
            <a:prstDash val="solid"/>
          </a:ln>
        </p:spPr>
      </p:sp>
      <p:sp>
        <p:nvSpPr>
          <p:cNvPr id="86" name="Window-wall electrical outlet pin 0">
            <a:extLst>
              <a:ext uri="{FF2B5EF4-FFF2-40B4-BE49-F238E27FC236}">
                <a16:creationId xmlns:a16="http://schemas.microsoft.com/office/drawing/2014/main" id="{D6F25053-2D94-407D-B4F3-3E1CFBAD33AC}"/>
              </a:ext>
            </a:extLst>
          </p:cNvPr>
          <p:cNvSpPr>
            <a:spLocks noGrp="1"/>
          </p:cNvSpPr>
          <p:nvPr/>
        </p:nvSpPr>
        <p:spPr>
          <a:xfrm>
            <a:off x="8553450" y="5238750"/>
            <a:ext cx="19050" cy="47625"/>
          </a:xfrm>
          <a:prstGeom prst="rect">
            <a:avLst/>
          </a:prstGeom>
          <a:solidFill>
            <a:srgbClr val="292B2D"/>
          </a:solidFill>
          <a:ln w="0">
            <a:noFill/>
            <a:prstDash val="solid"/>
          </a:ln>
        </p:spPr>
      </p:sp>
      <p:sp>
        <p:nvSpPr>
          <p:cNvPr id="87" name="Window-wall electrical outlet pin 1">
            <a:extLst>
              <a:ext uri="{FF2B5EF4-FFF2-40B4-BE49-F238E27FC236}">
                <a16:creationId xmlns:a16="http://schemas.microsoft.com/office/drawing/2014/main" id="{182D95ED-F0D0-492F-A2C4-4C3FBFC8AF03}"/>
              </a:ext>
            </a:extLst>
          </p:cNvPr>
          <p:cNvSpPr>
            <a:spLocks noGrp="1"/>
          </p:cNvSpPr>
          <p:nvPr/>
        </p:nvSpPr>
        <p:spPr>
          <a:xfrm>
            <a:off x="8629650" y="5238750"/>
            <a:ext cx="19050" cy="47625"/>
          </a:xfrm>
          <a:prstGeom prst="rect">
            <a:avLst/>
          </a:prstGeom>
          <a:solidFill>
            <a:srgbClr val="292B2D"/>
          </a:solidFill>
          <a:ln w="0">
            <a:noFill/>
            <a:prstDash val="solid"/>
          </a:ln>
        </p:spPr>
      </p:sp>
      <p:sp>
        <p:nvSpPr>
          <p:cNvPr id="88" name="Window-wall electrical outlet pin 2">
            <a:extLst>
              <a:ext uri="{FF2B5EF4-FFF2-40B4-BE49-F238E27FC236}">
                <a16:creationId xmlns:a16="http://schemas.microsoft.com/office/drawing/2014/main" id="{6AE24F0F-14D7-44CE-ADE5-FDBA4CC7C0DB}"/>
              </a:ext>
            </a:extLst>
          </p:cNvPr>
          <p:cNvSpPr>
            <a:spLocks noGrp="1"/>
          </p:cNvSpPr>
          <p:nvPr/>
        </p:nvSpPr>
        <p:spPr>
          <a:xfrm>
            <a:off x="8715375" y="5238750"/>
            <a:ext cx="19050" cy="47625"/>
          </a:xfrm>
          <a:prstGeom prst="rect">
            <a:avLst/>
          </a:prstGeom>
          <a:solidFill>
            <a:srgbClr val="292B2D"/>
          </a:solidFill>
          <a:ln w="0">
            <a:noFill/>
            <a:prstDash val="solid"/>
          </a:ln>
        </p:spPr>
      </p:sp>
      <p:sp>
        <p:nvSpPr>
          <p:cNvPr id="91" name="W4 walnut drawer 2 shutter">
            <a:extLst>
              <a:ext uri="{FF2B5EF4-FFF2-40B4-BE49-F238E27FC236}">
                <a16:creationId xmlns:a16="http://schemas.microsoft.com/office/drawing/2014/main" id="{6A61214B-6F0E-7F73-2DF1-95735B3F486C}"/>
              </a:ext>
            </a:extLst>
          </p:cNvPr>
          <p:cNvSpPr>
            <a:spLocks noGrp="1"/>
          </p:cNvSpPr>
          <p:nvPr/>
        </p:nvSpPr>
        <p:spPr>
          <a:xfrm>
            <a:off x="9575800" y="5943599"/>
            <a:ext cx="1463816" cy="1533524"/>
          </a:xfrm>
          <a:prstGeom prst="rect">
            <a:avLst/>
          </a:prstGeom>
          <a:solidFill>
            <a:srgbClr val="875B3D"/>
          </a:solidFill>
          <a:ln w="14288">
            <a:solidFill>
              <a:srgbClr val="6B5543"/>
            </a:solidFill>
            <a:prstDash val="solid"/>
          </a:ln>
        </p:spPr>
      </p:sp>
      <p:sp>
        <p:nvSpPr>
          <p:cNvPr id="92" name="W4 walnut drawer 1 shutter">
            <a:extLst>
              <a:ext uri="{FF2B5EF4-FFF2-40B4-BE49-F238E27FC236}">
                <a16:creationId xmlns:a16="http://schemas.microsoft.com/office/drawing/2014/main" id="{AC5B5D6C-B3D7-9981-B044-3C0BBA3CA09A}"/>
              </a:ext>
            </a:extLst>
          </p:cNvPr>
          <p:cNvSpPr>
            <a:spLocks noGrp="1"/>
          </p:cNvSpPr>
          <p:nvPr/>
        </p:nvSpPr>
        <p:spPr>
          <a:xfrm>
            <a:off x="8000999" y="5942860"/>
            <a:ext cx="1571625" cy="400050"/>
          </a:xfrm>
          <a:prstGeom prst="rect">
            <a:avLst/>
          </a:prstGeom>
          <a:solidFill>
            <a:srgbClr val="875B3D"/>
          </a:solidFill>
          <a:ln w="14288">
            <a:solidFill>
              <a:srgbClr val="6B5543"/>
            </a:solidFill>
            <a:prstDash val="solid"/>
          </a:ln>
        </p:spPr>
      </p:sp>
      <p:sp>
        <p:nvSpPr>
          <p:cNvPr id="93" name="W4 walnut drawer 1 shutter">
            <a:extLst>
              <a:ext uri="{FF2B5EF4-FFF2-40B4-BE49-F238E27FC236}">
                <a16:creationId xmlns:a16="http://schemas.microsoft.com/office/drawing/2014/main" id="{1D46C2DA-5274-BDE5-662A-E7F7F730D043}"/>
              </a:ext>
            </a:extLst>
          </p:cNvPr>
          <p:cNvSpPr>
            <a:spLocks noGrp="1"/>
          </p:cNvSpPr>
          <p:nvPr/>
        </p:nvSpPr>
        <p:spPr>
          <a:xfrm>
            <a:off x="8002834" y="6339945"/>
            <a:ext cx="1571625" cy="575203"/>
          </a:xfrm>
          <a:prstGeom prst="rect">
            <a:avLst/>
          </a:prstGeom>
          <a:solidFill>
            <a:srgbClr val="875B3D"/>
          </a:solidFill>
          <a:ln w="14288">
            <a:solidFill>
              <a:srgbClr val="6B5543"/>
            </a:solidFill>
            <a:prstDash val="solid"/>
          </a:ln>
        </p:spPr>
      </p:sp>
      <p:sp>
        <p:nvSpPr>
          <p:cNvPr id="94" name="W4 walnut drawer 1 shutter">
            <a:extLst>
              <a:ext uri="{FF2B5EF4-FFF2-40B4-BE49-F238E27FC236}">
                <a16:creationId xmlns:a16="http://schemas.microsoft.com/office/drawing/2014/main" id="{F1146003-BD21-0F58-6AE3-22B6B8BE4434}"/>
              </a:ext>
            </a:extLst>
          </p:cNvPr>
          <p:cNvSpPr>
            <a:spLocks noGrp="1"/>
          </p:cNvSpPr>
          <p:nvPr/>
        </p:nvSpPr>
        <p:spPr>
          <a:xfrm>
            <a:off x="8001000" y="6915149"/>
            <a:ext cx="1571625" cy="565679"/>
          </a:xfrm>
          <a:prstGeom prst="rect">
            <a:avLst/>
          </a:prstGeom>
          <a:solidFill>
            <a:srgbClr val="875B3D"/>
          </a:solidFill>
          <a:ln w="14288">
            <a:solidFill>
              <a:srgbClr val="6B5543"/>
            </a:solidFill>
            <a:prstDash val="solid"/>
          </a:ln>
        </p:spPr>
      </p:sp>
      <p:sp>
        <p:nvSpPr>
          <p:cNvPr id="95" name="W4 walnut drawer 1 handle">
            <a:extLst>
              <a:ext uri="{FF2B5EF4-FFF2-40B4-BE49-F238E27FC236}">
                <a16:creationId xmlns:a16="http://schemas.microsoft.com/office/drawing/2014/main" id="{90C09963-8F18-2292-53A4-7EA1059DF570}"/>
              </a:ext>
            </a:extLst>
          </p:cNvPr>
          <p:cNvSpPr>
            <a:spLocks noGrp="1"/>
          </p:cNvSpPr>
          <p:nvPr/>
        </p:nvSpPr>
        <p:spPr>
          <a:xfrm>
            <a:off x="8572500" y="6151033"/>
            <a:ext cx="400050" cy="38100"/>
          </a:xfrm>
          <a:prstGeom prst="rect">
            <a:avLst/>
          </a:prstGeom>
          <a:solidFill>
            <a:srgbClr val="A8ADB0"/>
          </a:solidFill>
          <a:ln w="6668">
            <a:solidFill>
              <a:srgbClr val="292B2D"/>
            </a:solidFill>
            <a:prstDash val="solid"/>
          </a:ln>
        </p:spPr>
      </p:sp>
      <p:sp>
        <p:nvSpPr>
          <p:cNvPr id="96" name="W4 walnut drawer 2 handle">
            <a:extLst>
              <a:ext uri="{FF2B5EF4-FFF2-40B4-BE49-F238E27FC236}">
                <a16:creationId xmlns:a16="http://schemas.microsoft.com/office/drawing/2014/main" id="{B7B39752-1C89-D444-2C2A-8392A75873D0}"/>
              </a:ext>
            </a:extLst>
          </p:cNvPr>
          <p:cNvSpPr>
            <a:spLocks noGrp="1"/>
          </p:cNvSpPr>
          <p:nvPr/>
        </p:nvSpPr>
        <p:spPr>
          <a:xfrm>
            <a:off x="8572500" y="6659881"/>
            <a:ext cx="400050" cy="45719"/>
          </a:xfrm>
          <a:prstGeom prst="rect">
            <a:avLst/>
          </a:prstGeom>
          <a:solidFill>
            <a:srgbClr val="A8ADB0"/>
          </a:solidFill>
          <a:ln w="6668">
            <a:solidFill>
              <a:srgbClr val="292B2D"/>
            </a:solidFill>
            <a:prstDash val="solid"/>
          </a:ln>
        </p:spPr>
      </p:sp>
      <p:sp>
        <p:nvSpPr>
          <p:cNvPr id="97" name="W4 walnut drawer 3 handle">
            <a:extLst>
              <a:ext uri="{FF2B5EF4-FFF2-40B4-BE49-F238E27FC236}">
                <a16:creationId xmlns:a16="http://schemas.microsoft.com/office/drawing/2014/main" id="{5ABB425A-543C-0BE4-86A0-A6392DF8740A}"/>
              </a:ext>
            </a:extLst>
          </p:cNvPr>
          <p:cNvSpPr>
            <a:spLocks noGrp="1"/>
          </p:cNvSpPr>
          <p:nvPr/>
        </p:nvSpPr>
        <p:spPr>
          <a:xfrm>
            <a:off x="8572500" y="7193281"/>
            <a:ext cx="400050" cy="45719"/>
          </a:xfrm>
          <a:prstGeom prst="rect">
            <a:avLst/>
          </a:prstGeom>
          <a:solidFill>
            <a:srgbClr val="A8ADB0"/>
          </a:solidFill>
          <a:ln w="6668">
            <a:solidFill>
              <a:srgbClr val="292B2D"/>
            </a:solidFill>
            <a:prstDash val="solid"/>
          </a:ln>
        </p:spPr>
      </p:sp>
      <p:sp>
        <p:nvSpPr>
          <p:cNvPr id="98" name="W4 walnut drawer 1 handle">
            <a:extLst>
              <a:ext uri="{FF2B5EF4-FFF2-40B4-BE49-F238E27FC236}">
                <a16:creationId xmlns:a16="http://schemas.microsoft.com/office/drawing/2014/main" id="{2B48EA56-54DE-6E24-3C45-794D191049AB}"/>
              </a:ext>
            </a:extLst>
          </p:cNvPr>
          <p:cNvSpPr>
            <a:spLocks noGrp="1"/>
          </p:cNvSpPr>
          <p:nvPr/>
        </p:nvSpPr>
        <p:spPr>
          <a:xfrm>
            <a:off x="10069407" y="6117168"/>
            <a:ext cx="400050" cy="38100"/>
          </a:xfrm>
          <a:prstGeom prst="rect">
            <a:avLst/>
          </a:prstGeom>
          <a:solidFill>
            <a:srgbClr val="A8ADB0"/>
          </a:solidFill>
          <a:ln w="6668">
            <a:solidFill>
              <a:srgbClr val="292B2D"/>
            </a:solidFill>
            <a:prstDash val="solid"/>
          </a:ln>
        </p:spPr>
      </p:sp>
      <p:sp>
        <p:nvSpPr>
          <p:cNvPr id="99" name="W3 above-window loft left handle">
            <a:extLst>
              <a:ext uri="{FF2B5EF4-FFF2-40B4-BE49-F238E27FC236}">
                <a16:creationId xmlns:a16="http://schemas.microsoft.com/office/drawing/2014/main" id="{4EA006DB-60C4-2F80-3CCC-8D69D0E05974}"/>
              </a:ext>
            </a:extLst>
          </p:cNvPr>
          <p:cNvSpPr>
            <a:spLocks noGrp="1"/>
          </p:cNvSpPr>
          <p:nvPr/>
        </p:nvSpPr>
        <p:spPr>
          <a:xfrm>
            <a:off x="6747177" y="1857375"/>
            <a:ext cx="400050" cy="38100"/>
          </a:xfrm>
          <a:prstGeom prst="rect">
            <a:avLst/>
          </a:prstGeom>
          <a:solidFill>
            <a:srgbClr val="A8ADB0"/>
          </a:solidFill>
          <a:ln w="6668">
            <a:solidFill>
              <a:srgbClr val="292B2D"/>
            </a:solidFill>
            <a:prstDash val="solid"/>
          </a:ln>
        </p:spPr>
      </p:sp>
      <p:sp>
        <p:nvSpPr>
          <p:cNvPr id="101" name="TextBox 100">
            <a:extLst>
              <a:ext uri="{FF2B5EF4-FFF2-40B4-BE49-F238E27FC236}">
                <a16:creationId xmlns:a16="http://schemas.microsoft.com/office/drawing/2014/main" id="{F7027C88-54BE-298D-B0BC-61BB6694255B}"/>
              </a:ext>
            </a:extLst>
          </p:cNvPr>
          <p:cNvSpPr txBox="1"/>
          <p:nvPr/>
        </p:nvSpPr>
        <p:spPr>
          <a:xfrm>
            <a:off x="11737734" y="2714625"/>
            <a:ext cx="3326620" cy="4247317"/>
          </a:xfrm>
          <a:prstGeom prst="rect">
            <a:avLst/>
          </a:prstGeom>
          <a:noFill/>
        </p:spPr>
        <p:txBody>
          <a:bodyPr wrap="square" rtlCol="0">
            <a:spAutoFit/>
          </a:bodyPr>
          <a:lstStyle/>
          <a:p>
            <a:pPr marL="285750" indent="-285750">
              <a:buFont typeface="Arial" panose="020B0604020202020204" pitchFamily="34" charset="0"/>
              <a:buChar char="•"/>
            </a:pPr>
            <a:r>
              <a:rPr lang="en-US" dirty="0"/>
              <a:t>I have corrected the drawer layout.</a:t>
            </a:r>
          </a:p>
          <a:p>
            <a:pPr marL="285750" indent="-285750">
              <a:buFont typeface="Arial" panose="020B0604020202020204" pitchFamily="34" charset="0"/>
              <a:buChar char="•"/>
            </a:pPr>
            <a:r>
              <a:rPr lang="en-US" dirty="0"/>
              <a:t>I want the corner storage to be a shelf and to be accessed with the door beneath the kitchen hob. I have removed the corner access from the RO wall</a:t>
            </a:r>
          </a:p>
          <a:p>
            <a:pPr marL="285750" indent="-285750">
              <a:buFont typeface="Arial" panose="020B0604020202020204" pitchFamily="34" charset="0"/>
              <a:buChar char="•"/>
            </a:pPr>
            <a:r>
              <a:rPr lang="en-US" dirty="0"/>
              <a:t>There will be no swing out trays, just one shelf, which will allow accessing the corner storage</a:t>
            </a:r>
          </a:p>
          <a:p>
            <a:pPr marL="285750" indent="-285750">
              <a:buFont typeface="Arial" panose="020B0604020202020204" pitchFamily="34" charset="0"/>
              <a:buChar char="•"/>
            </a:pPr>
            <a:r>
              <a:rPr lang="en-US" dirty="0"/>
              <a:t>I have increased the size of exhaust grill and added a door to access that</a:t>
            </a:r>
          </a:p>
        </p:txBody>
      </p:sp>
      <p:sp>
        <p:nvSpPr>
          <p:cNvPr id="103" name="Window label">
            <a:extLst>
              <a:ext uri="{FF2B5EF4-FFF2-40B4-BE49-F238E27FC236}">
                <a16:creationId xmlns:a16="http://schemas.microsoft.com/office/drawing/2014/main" id="{43EDDF7A-B1F9-DC38-81AF-F582C4E99070}"/>
              </a:ext>
            </a:extLst>
          </p:cNvPr>
          <p:cNvSpPr>
            <a:spLocks noGrp="1"/>
          </p:cNvSpPr>
          <p:nvPr/>
        </p:nvSpPr>
        <p:spPr>
          <a:xfrm>
            <a:off x="9501187" y="6462712"/>
            <a:ext cx="1714500" cy="333375"/>
          </a:xfrm>
          <a:prstGeom prst="rect">
            <a:avLst/>
          </a:prstGeom>
          <a:noFill/>
          <a:ln w="0">
            <a:noFill/>
            <a:prstDash val="solid"/>
          </a:ln>
        </p:spPr>
        <p:txBody>
          <a:bodyPr wrap="none" lIns="0" tIns="0" rIns="0" bIns="0" anchor="ctr">
            <a:noAutofit/>
          </a:bodyPr>
          <a:lstStyle/>
          <a:p>
            <a:pPr algn="ctr">
              <a:defRPr sz="1950" b="1">
                <a:solidFill>
                  <a:srgbClr val="FFFFFF"/>
                </a:solidFill>
                <a:latin typeface="Helvetica Neue"/>
                <a:ea typeface="Helvetica Neue"/>
                <a:cs typeface="Helvetica Neue"/>
              </a:defRPr>
            </a:pPr>
            <a:r>
              <a:rPr lang="en-US" b="1" dirty="0">
                <a:solidFill>
                  <a:srgbClr val="FFFFFF"/>
                </a:solidFill>
                <a:latin typeface="Helvetica Neue"/>
                <a:ea typeface="Helvetica Neue"/>
                <a:cs typeface="Helvetica Neue"/>
              </a:rPr>
              <a:t>Corner</a:t>
            </a:r>
          </a:p>
          <a:p>
            <a:pPr algn="ctr">
              <a:defRPr sz="1950" b="1">
                <a:solidFill>
                  <a:srgbClr val="FFFFFF"/>
                </a:solidFill>
                <a:latin typeface="Helvetica Neue"/>
                <a:ea typeface="Helvetica Neue"/>
                <a:cs typeface="Helvetica Neue"/>
              </a:defRPr>
            </a:pPr>
            <a:r>
              <a:rPr lang="en-US" b="1" dirty="0">
                <a:solidFill>
                  <a:srgbClr val="FFFFFF"/>
                </a:solidFill>
                <a:latin typeface="Helvetica Neue"/>
                <a:ea typeface="Helvetica Neue"/>
                <a:cs typeface="Helvetica Neue"/>
              </a:rPr>
              <a:t>Storage</a:t>
            </a:r>
            <a:endParaRPr b="1" dirty="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1605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Title">
            <a:extLst>
              <a:ext uri="{FF2B5EF4-FFF2-40B4-BE49-F238E27FC236}">
                <a16:creationId xmlns:a16="http://schemas.microsoft.com/office/drawing/2014/main" id="{69C6726C-7A87-453C-A7FE-08544BA90C27}"/>
              </a:ext>
            </a:extLst>
          </p:cNvPr>
          <p:cNvSpPr>
            <a:spLocks noGrp="1"/>
          </p:cNvSpPr>
          <p:nvPr/>
        </p:nvSpPr>
        <p:spPr>
          <a:xfrm>
            <a:off x="609600" y="400050"/>
            <a:ext cx="13906500" cy="514350"/>
          </a:xfrm>
          <a:prstGeom prst="rect">
            <a:avLst/>
          </a:prstGeom>
          <a:noFill/>
          <a:ln w="0">
            <a:noFill/>
            <a:prstDash val="solid"/>
          </a:ln>
        </p:spPr>
        <p:txBody>
          <a:bodyPr wrap="none" lIns="0" tIns="0" rIns="0" bIns="0" anchor="ctr">
            <a:noAutofit/>
          </a:bodyPr>
          <a:lstStyle/>
          <a:p>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RO wall</a:t>
            </a:r>
          </a:p>
        </p:txBody>
      </p:sp>
      <p:sp>
        <p:nvSpPr>
          <p:cNvPr id="2" name="Subtitle">
            <a:extLst>
              <a:ext uri="{FF2B5EF4-FFF2-40B4-BE49-F238E27FC236}">
                <a16:creationId xmlns:a16="http://schemas.microsoft.com/office/drawing/2014/main" id="{6264D33B-09E5-438A-BA27-83B6EECFAAD6}"/>
              </a:ext>
            </a:extLst>
          </p:cNvPr>
          <p:cNvSpPr>
            <a:spLocks noGrp="1"/>
          </p:cNvSpPr>
          <p:nvPr/>
        </p:nvSpPr>
        <p:spPr>
          <a:xfrm>
            <a:off x="628650" y="990600"/>
            <a:ext cx="13906500" cy="323850"/>
          </a:xfrm>
          <a:prstGeom prst="rect">
            <a:avLst/>
          </a:prstGeom>
          <a:noFill/>
          <a:ln w="0">
            <a:noFill/>
            <a:prstDash val="solid"/>
          </a:ln>
        </p:spPr>
        <p:txBody>
          <a:bodyPr wrap="none" lIns="0" tIns="0" rIns="0" bIns="0" anchor="ctr">
            <a:noAutofit/>
          </a:bodyPr>
          <a:lstStyle/>
          <a:p>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Front elevation with closed shutters and direct RO tap access</a:t>
            </a:r>
          </a:p>
        </p:txBody>
      </p:sp>
      <p:sp>
        <p:nvSpPr>
          <p:cNvPr id="3" name="Title rule">
            <a:extLst>
              <a:ext uri="{FF2B5EF4-FFF2-40B4-BE49-F238E27FC236}">
                <a16:creationId xmlns:a16="http://schemas.microsoft.com/office/drawing/2014/main" id="{22DDDA70-D6D6-4FEE-B8DA-9474C5D59D0E}"/>
              </a:ext>
            </a:extLst>
          </p:cNvPr>
          <p:cNvSpPr>
            <a:spLocks noGrp="1"/>
          </p:cNvSpPr>
          <p:nvPr/>
        </p:nvSpPr>
        <p:spPr>
          <a:xfrm>
            <a:off x="628650" y="1419225"/>
            <a:ext cx="13982700" cy="0"/>
          </a:xfrm>
          <a:prstGeom prst="line">
            <a:avLst/>
          </a:prstGeom>
          <a:noFill/>
          <a:ln w="9525">
            <a:solidFill>
              <a:srgbClr val="CFC5B7"/>
            </a:solidFill>
            <a:prstDash val="solid"/>
          </a:ln>
        </p:spPr>
      </p:sp>
      <p:sp>
        <p:nvSpPr>
          <p:cNvPr id="4" name="Corrections heading">
            <a:extLst>
              <a:ext uri="{FF2B5EF4-FFF2-40B4-BE49-F238E27FC236}">
                <a16:creationId xmlns:a16="http://schemas.microsoft.com/office/drawing/2014/main" id="{D6307559-5EA2-4DA0-A526-DDD84FC718E6}"/>
              </a:ext>
            </a:extLst>
          </p:cNvPr>
          <p:cNvSpPr>
            <a:spLocks noGrp="1"/>
          </p:cNvSpPr>
          <p:nvPr/>
        </p:nvSpPr>
        <p:spPr>
          <a:xfrm>
            <a:off x="12334875" y="1885950"/>
            <a:ext cx="2333625" cy="333375"/>
          </a:xfrm>
          <a:prstGeom prst="rect">
            <a:avLst/>
          </a:prstGeom>
          <a:noFill/>
          <a:ln w="0">
            <a:noFill/>
            <a:prstDash val="solid"/>
          </a:ln>
        </p:spPr>
        <p:txBody>
          <a:bodyPr wrap="none" lIns="0" tIns="0" rIns="0" bIns="0" anchor="ctr">
            <a:noAutofit/>
          </a:bodyPr>
          <a:lstStyle/>
          <a:p>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a:ext uri="{FF2B5EF4-FFF2-40B4-BE49-F238E27FC236}">
                <a16:creationId xmlns:a16="http://schemas.microsoft.com/office/drawing/2014/main" id="{1C30E354-329C-42D3-9D2E-A89C15033E0C}"/>
              </a:ext>
            </a:extLst>
          </p:cNvPr>
          <p:cNvSpPr>
            <a:spLocks noGrp="1"/>
          </p:cNvSpPr>
          <p:nvPr/>
        </p:nvSpPr>
        <p:spPr>
          <a:xfrm>
            <a:off x="12334875" y="2495550"/>
            <a:ext cx="2276475" cy="0"/>
          </a:xfrm>
          <a:prstGeom prst="line">
            <a:avLst/>
          </a:prstGeom>
          <a:noFill/>
          <a:ln w="9525">
            <a:solidFill>
              <a:srgbClr val="D9D4CD"/>
            </a:solidFill>
            <a:prstDash val="solid"/>
          </a:ln>
        </p:spPr>
      </p:sp>
      <p:sp>
        <p:nvSpPr>
          <p:cNvPr id="11" name="Footer">
            <a:extLst>
              <a:ext uri="{FF2B5EF4-FFF2-40B4-BE49-F238E27FC236}">
                <a16:creationId xmlns:a16="http://schemas.microsoft.com/office/drawing/2014/main" id="{B26647D3-C379-4E91-92AF-4E8B84E04579}"/>
              </a:ext>
            </a:extLst>
          </p:cNvPr>
          <p:cNvSpPr>
            <a:spLocks noGrp="1"/>
          </p:cNvSpPr>
          <p:nvPr/>
        </p:nvSpPr>
        <p:spPr>
          <a:xfrm>
            <a:off x="628650" y="8048625"/>
            <a:ext cx="13811250" cy="285750"/>
          </a:xfrm>
          <a:prstGeom prst="rect">
            <a:avLst/>
          </a:prstGeom>
          <a:noFill/>
          <a:ln w="0">
            <a:noFill/>
            <a:prstDash val="solid"/>
          </a:ln>
        </p:spPr>
        <p:txBody>
          <a:bodyPr wrap="none" lIns="0" tIns="0" rIns="0" bIns="0" anchor="ctr">
            <a:noAutofit/>
          </a:bodyPr>
          <a:lstStyle/>
          <a:p>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Ceiling datum">
            <a:extLst>
              <a:ext uri="{FF2B5EF4-FFF2-40B4-BE49-F238E27FC236}">
                <a16:creationId xmlns:a16="http://schemas.microsoft.com/office/drawing/2014/main" id="{922E7803-A056-4909-9CC5-A38C0B8B8BBF}"/>
              </a:ext>
            </a:extLst>
          </p:cNvPr>
          <p:cNvSpPr>
            <a:spLocks noGrp="1"/>
          </p:cNvSpPr>
          <p:nvPr/>
        </p:nvSpPr>
        <p:spPr>
          <a:xfrm>
            <a:off x="666750" y="1714500"/>
            <a:ext cx="10858500" cy="0"/>
          </a:xfrm>
          <a:prstGeom prst="line">
            <a:avLst/>
          </a:prstGeom>
          <a:noFill/>
          <a:ln w="19050">
            <a:solidFill>
              <a:srgbClr val="68635C"/>
            </a:solidFill>
            <a:prstDash val="solid"/>
          </a:ln>
        </p:spPr>
      </p:sp>
      <p:sp>
        <p:nvSpPr>
          <p:cNvPr id="13" name="Floor datum">
            <a:extLst>
              <a:ext uri="{FF2B5EF4-FFF2-40B4-BE49-F238E27FC236}">
                <a16:creationId xmlns:a16="http://schemas.microsoft.com/office/drawing/2014/main" id="{0479A566-1F44-4EB2-8893-976B092D6DB8}"/>
              </a:ext>
            </a:extLst>
          </p:cNvPr>
          <p:cNvSpPr>
            <a:spLocks noGrp="1"/>
          </p:cNvSpPr>
          <p:nvPr/>
        </p:nvSpPr>
        <p:spPr>
          <a:xfrm>
            <a:off x="666750" y="7600950"/>
            <a:ext cx="10858500" cy="0"/>
          </a:xfrm>
          <a:prstGeom prst="line">
            <a:avLst/>
          </a:prstGeom>
          <a:noFill/>
          <a:ln w="19050">
            <a:solidFill>
              <a:srgbClr val="68635C"/>
            </a:solidFill>
            <a:prstDash val="solid"/>
          </a:ln>
        </p:spPr>
      </p:sp>
      <p:sp>
        <p:nvSpPr>
          <p:cNvPr id="14" name="Ceiling label">
            <a:extLst>
              <a:ext uri="{FF2B5EF4-FFF2-40B4-BE49-F238E27FC236}">
                <a16:creationId xmlns:a16="http://schemas.microsoft.com/office/drawing/2014/main" id="{AA3A2F7D-7074-4AB0-85E6-39436CD8E4FA}"/>
              </a:ext>
            </a:extLst>
          </p:cNvPr>
          <p:cNvSpPr>
            <a:spLocks noGrp="1"/>
          </p:cNvSpPr>
          <p:nvPr/>
        </p:nvSpPr>
        <p:spPr>
          <a:xfrm>
            <a:off x="666750" y="1438275"/>
            <a:ext cx="1714500" cy="266700"/>
          </a:xfrm>
          <a:prstGeom prst="rect">
            <a:avLst/>
          </a:prstGeom>
          <a:noFill/>
          <a:ln w="0">
            <a:noFill/>
            <a:prstDash val="solid"/>
          </a:ln>
        </p:spPr>
        <p:txBody>
          <a:bodyPr wrap="none" lIns="0" tIns="0" rIns="0" bIns="0" anchor="ctr">
            <a:noAutofit/>
          </a:bodyPr>
          <a:lstStyle/>
          <a:p>
            <a:pPr algn="l">
              <a:defRPr sz="1500" b="0">
                <a:solidFill>
                  <a:srgbClr val="292B2D"/>
                </a:solidFill>
                <a:latin typeface="Helvetica Neue"/>
                <a:ea typeface="Helvetica Neue"/>
                <a:cs typeface="Helvetica Neue"/>
              </a:defRPr>
            </a:pPr>
            <a:r>
              <a:rPr sz="1500" b="0">
                <a:solidFill>
                  <a:srgbClr val="292B2D"/>
                </a:solidFill>
                <a:latin typeface="Helvetica Neue"/>
                <a:ea typeface="Helvetica Neue"/>
                <a:cs typeface="Helvetica Neue"/>
              </a:rPr>
              <a:t>Ceiling</a:t>
            </a:r>
          </a:p>
        </p:txBody>
      </p:sp>
      <p:sp>
        <p:nvSpPr>
          <p:cNvPr id="15" name="R1 corner loft shutter">
            <a:extLst>
              <a:ext uri="{FF2B5EF4-FFF2-40B4-BE49-F238E27FC236}">
                <a16:creationId xmlns:a16="http://schemas.microsoft.com/office/drawing/2014/main" id="{F01313AC-BD33-40B8-B1D8-C2A4CC901D57}"/>
              </a:ext>
            </a:extLst>
          </p:cNvPr>
          <p:cNvSpPr>
            <a:spLocks noGrp="1"/>
          </p:cNvSpPr>
          <p:nvPr/>
        </p:nvSpPr>
        <p:spPr>
          <a:xfrm>
            <a:off x="666750" y="1714500"/>
            <a:ext cx="2762250" cy="1190625"/>
          </a:xfrm>
          <a:prstGeom prst="rect">
            <a:avLst/>
          </a:prstGeom>
          <a:solidFill>
            <a:srgbClr val="DCC6A8"/>
          </a:solidFill>
          <a:ln w="14288">
            <a:solidFill>
              <a:srgbClr val="6B5543"/>
            </a:solidFill>
            <a:prstDash val="solid"/>
          </a:ln>
        </p:spPr>
      </p:sp>
      <p:sp>
        <p:nvSpPr>
          <p:cNvPr id="16" name="R1 corner loft handle">
            <a:extLst>
              <a:ext uri="{FF2B5EF4-FFF2-40B4-BE49-F238E27FC236}">
                <a16:creationId xmlns:a16="http://schemas.microsoft.com/office/drawing/2014/main" id="{11163587-A125-4260-B0D4-52AEA4CDDD4C}"/>
              </a:ext>
            </a:extLst>
          </p:cNvPr>
          <p:cNvSpPr>
            <a:spLocks noGrp="1"/>
          </p:cNvSpPr>
          <p:nvPr/>
        </p:nvSpPr>
        <p:spPr>
          <a:xfrm>
            <a:off x="1847850" y="2695575"/>
            <a:ext cx="400050" cy="38100"/>
          </a:xfrm>
          <a:prstGeom prst="rect">
            <a:avLst/>
          </a:prstGeom>
          <a:solidFill>
            <a:srgbClr val="A8ADB0"/>
          </a:solidFill>
          <a:ln w="6668">
            <a:solidFill>
              <a:srgbClr val="292B2D"/>
            </a:solidFill>
            <a:prstDash val="solid"/>
          </a:ln>
        </p:spPr>
      </p:sp>
      <p:sp>
        <p:nvSpPr>
          <p:cNvPr id="17" name="R1 corner lower shutter">
            <a:extLst>
              <a:ext uri="{FF2B5EF4-FFF2-40B4-BE49-F238E27FC236}">
                <a16:creationId xmlns:a16="http://schemas.microsoft.com/office/drawing/2014/main" id="{C472D5A5-BD5E-4B53-BA4B-B6196FA0581A}"/>
              </a:ext>
            </a:extLst>
          </p:cNvPr>
          <p:cNvSpPr>
            <a:spLocks noGrp="1"/>
          </p:cNvSpPr>
          <p:nvPr/>
        </p:nvSpPr>
        <p:spPr>
          <a:xfrm>
            <a:off x="666750" y="2905125"/>
            <a:ext cx="2762250" cy="1571625"/>
          </a:xfrm>
          <a:prstGeom prst="rect">
            <a:avLst/>
          </a:prstGeom>
          <a:solidFill>
            <a:srgbClr val="DCC6A8"/>
          </a:solidFill>
          <a:ln w="14288">
            <a:solidFill>
              <a:srgbClr val="6B5543"/>
            </a:solidFill>
            <a:prstDash val="solid"/>
          </a:ln>
        </p:spPr>
      </p:sp>
      <p:sp>
        <p:nvSpPr>
          <p:cNvPr id="18" name="R1 corner lower handle">
            <a:extLst>
              <a:ext uri="{FF2B5EF4-FFF2-40B4-BE49-F238E27FC236}">
                <a16:creationId xmlns:a16="http://schemas.microsoft.com/office/drawing/2014/main" id="{50024F11-DEEA-4849-B398-01F3FF6F78C3}"/>
              </a:ext>
            </a:extLst>
          </p:cNvPr>
          <p:cNvSpPr>
            <a:spLocks noGrp="1"/>
          </p:cNvSpPr>
          <p:nvPr/>
        </p:nvSpPr>
        <p:spPr>
          <a:xfrm>
            <a:off x="1847850" y="4267200"/>
            <a:ext cx="400050" cy="38100"/>
          </a:xfrm>
          <a:prstGeom prst="rect">
            <a:avLst/>
          </a:prstGeom>
          <a:solidFill>
            <a:srgbClr val="A8ADB0"/>
          </a:solidFill>
          <a:ln w="6668">
            <a:solidFill>
              <a:srgbClr val="292B2D"/>
            </a:solidFill>
            <a:prstDash val="solid"/>
          </a:ln>
        </p:spPr>
      </p:sp>
      <p:sp>
        <p:nvSpPr>
          <p:cNvPr id="19" name="R2 sink loft L shutter">
            <a:extLst>
              <a:ext uri="{FF2B5EF4-FFF2-40B4-BE49-F238E27FC236}">
                <a16:creationId xmlns:a16="http://schemas.microsoft.com/office/drawing/2014/main" id="{5F81CC0D-0F76-4DEF-8E84-B144057A8025}"/>
              </a:ext>
            </a:extLst>
          </p:cNvPr>
          <p:cNvSpPr>
            <a:spLocks noGrp="1"/>
          </p:cNvSpPr>
          <p:nvPr/>
        </p:nvSpPr>
        <p:spPr>
          <a:xfrm>
            <a:off x="3429000" y="1714500"/>
            <a:ext cx="1952625" cy="1190625"/>
          </a:xfrm>
          <a:prstGeom prst="rect">
            <a:avLst/>
          </a:prstGeom>
          <a:solidFill>
            <a:srgbClr val="DCC6A8"/>
          </a:solidFill>
          <a:ln w="14288">
            <a:solidFill>
              <a:srgbClr val="6B5543"/>
            </a:solidFill>
            <a:prstDash val="solid"/>
          </a:ln>
        </p:spPr>
      </p:sp>
      <p:sp>
        <p:nvSpPr>
          <p:cNvPr id="20" name="R2 sink loft L handle">
            <a:extLst>
              <a:ext uri="{FF2B5EF4-FFF2-40B4-BE49-F238E27FC236}">
                <a16:creationId xmlns:a16="http://schemas.microsoft.com/office/drawing/2014/main" id="{FA82EBB4-6E1D-48C9-A288-555588A18A35}"/>
              </a:ext>
            </a:extLst>
          </p:cNvPr>
          <p:cNvSpPr>
            <a:spLocks noGrp="1"/>
          </p:cNvSpPr>
          <p:nvPr/>
        </p:nvSpPr>
        <p:spPr>
          <a:xfrm>
            <a:off x="4205288" y="2695575"/>
            <a:ext cx="400050" cy="38100"/>
          </a:xfrm>
          <a:prstGeom prst="rect">
            <a:avLst/>
          </a:prstGeom>
          <a:solidFill>
            <a:srgbClr val="A8ADB0"/>
          </a:solidFill>
          <a:ln w="6668">
            <a:solidFill>
              <a:srgbClr val="292B2D"/>
            </a:solidFill>
            <a:prstDash val="solid"/>
          </a:ln>
        </p:spPr>
      </p:sp>
      <p:sp>
        <p:nvSpPr>
          <p:cNvPr id="21" name="R2 sink loft R shutter">
            <a:extLst>
              <a:ext uri="{FF2B5EF4-FFF2-40B4-BE49-F238E27FC236}">
                <a16:creationId xmlns:a16="http://schemas.microsoft.com/office/drawing/2014/main" id="{960FA9C6-FF45-4A63-AAA7-DB9ED36875A6}"/>
              </a:ext>
            </a:extLst>
          </p:cNvPr>
          <p:cNvSpPr>
            <a:spLocks noGrp="1"/>
          </p:cNvSpPr>
          <p:nvPr/>
        </p:nvSpPr>
        <p:spPr>
          <a:xfrm>
            <a:off x="5381625" y="1714500"/>
            <a:ext cx="1952625" cy="1190625"/>
          </a:xfrm>
          <a:prstGeom prst="rect">
            <a:avLst/>
          </a:prstGeom>
          <a:solidFill>
            <a:srgbClr val="DCC6A8"/>
          </a:solidFill>
          <a:ln w="14288">
            <a:solidFill>
              <a:srgbClr val="6B5543"/>
            </a:solidFill>
            <a:prstDash val="solid"/>
          </a:ln>
        </p:spPr>
      </p:sp>
      <p:sp>
        <p:nvSpPr>
          <p:cNvPr id="22" name="R2 sink loft R handle">
            <a:extLst>
              <a:ext uri="{FF2B5EF4-FFF2-40B4-BE49-F238E27FC236}">
                <a16:creationId xmlns:a16="http://schemas.microsoft.com/office/drawing/2014/main" id="{010E4BBC-4E2C-437C-B2A4-07E4A7F295C8}"/>
              </a:ext>
            </a:extLst>
          </p:cNvPr>
          <p:cNvSpPr>
            <a:spLocks noGrp="1"/>
          </p:cNvSpPr>
          <p:nvPr/>
        </p:nvSpPr>
        <p:spPr>
          <a:xfrm>
            <a:off x="6157913" y="2695575"/>
            <a:ext cx="400050" cy="38100"/>
          </a:xfrm>
          <a:prstGeom prst="rect">
            <a:avLst/>
          </a:prstGeom>
          <a:solidFill>
            <a:srgbClr val="A8ADB0"/>
          </a:solidFill>
          <a:ln w="6668">
            <a:solidFill>
              <a:srgbClr val="292B2D"/>
            </a:solidFill>
            <a:prstDash val="solid"/>
          </a:ln>
        </p:spPr>
      </p:sp>
      <p:sp>
        <p:nvSpPr>
          <p:cNvPr id="23" name="R2 drying rack shutter">
            <a:extLst>
              <a:ext uri="{FF2B5EF4-FFF2-40B4-BE49-F238E27FC236}">
                <a16:creationId xmlns:a16="http://schemas.microsoft.com/office/drawing/2014/main" id="{47468BF6-6008-4E41-80C3-5038A49C8B87}"/>
              </a:ext>
            </a:extLst>
          </p:cNvPr>
          <p:cNvSpPr>
            <a:spLocks noGrp="1"/>
          </p:cNvSpPr>
          <p:nvPr/>
        </p:nvSpPr>
        <p:spPr>
          <a:xfrm>
            <a:off x="3429000" y="2905125"/>
            <a:ext cx="3905250" cy="1571625"/>
          </a:xfrm>
          <a:prstGeom prst="rect">
            <a:avLst/>
          </a:prstGeom>
          <a:solidFill>
            <a:srgbClr val="DCC6A8"/>
          </a:solidFill>
          <a:ln w="14288">
            <a:solidFill>
              <a:srgbClr val="6B5543"/>
            </a:solidFill>
            <a:prstDash val="solid"/>
          </a:ln>
        </p:spPr>
      </p:sp>
      <p:sp>
        <p:nvSpPr>
          <p:cNvPr id="24" name="R2 drying rack handle">
            <a:extLst>
              <a:ext uri="{FF2B5EF4-FFF2-40B4-BE49-F238E27FC236}">
                <a16:creationId xmlns:a16="http://schemas.microsoft.com/office/drawing/2014/main" id="{7D7630D6-A8F7-47D1-A172-5B7EE3253F8D}"/>
              </a:ext>
            </a:extLst>
          </p:cNvPr>
          <p:cNvSpPr>
            <a:spLocks noGrp="1"/>
          </p:cNvSpPr>
          <p:nvPr/>
        </p:nvSpPr>
        <p:spPr>
          <a:xfrm>
            <a:off x="5181600" y="4267200"/>
            <a:ext cx="400050" cy="38100"/>
          </a:xfrm>
          <a:prstGeom prst="rect">
            <a:avLst/>
          </a:prstGeom>
          <a:solidFill>
            <a:srgbClr val="A8ADB0"/>
          </a:solidFill>
          <a:ln w="6668">
            <a:solidFill>
              <a:srgbClr val="292B2D"/>
            </a:solidFill>
            <a:prstDash val="solid"/>
          </a:ln>
        </p:spPr>
      </p:sp>
      <p:sp>
        <p:nvSpPr>
          <p:cNvPr id="25" name="R2 drying rack label">
            <a:extLst>
              <a:ext uri="{FF2B5EF4-FFF2-40B4-BE49-F238E27FC236}">
                <a16:creationId xmlns:a16="http://schemas.microsoft.com/office/drawing/2014/main" id="{4E5E70E1-6C32-421D-9823-5B85A4CEC061}"/>
              </a:ext>
            </a:extLst>
          </p:cNvPr>
          <p:cNvSpPr>
            <a:spLocks noGrp="1"/>
          </p:cNvSpPr>
          <p:nvPr/>
        </p:nvSpPr>
        <p:spPr>
          <a:xfrm>
            <a:off x="3524250" y="3495675"/>
            <a:ext cx="3714750" cy="333375"/>
          </a:xfrm>
          <a:prstGeom prst="rect">
            <a:avLst/>
          </a:prstGeom>
          <a:noFill/>
          <a:ln w="0">
            <a:noFill/>
            <a:prstDash val="solid"/>
          </a:ln>
        </p:spPr>
        <p:txBody>
          <a:bodyPr wrap="none" lIns="0" tIns="0" rIns="0" bIns="0" anchor="ctr">
            <a:noAutofit/>
          </a:bodyPr>
          <a:lstStyle/>
          <a:p>
            <a:pPr algn="ctr">
              <a:defRPr sz="1725" b="1">
                <a:solidFill>
                  <a:srgbClr val="292B2D"/>
                </a:solidFill>
                <a:latin typeface="Helvetica Neue"/>
                <a:ea typeface="Helvetica Neue"/>
                <a:cs typeface="Helvetica Neue"/>
              </a:defRPr>
            </a:pPr>
            <a:r>
              <a:rPr sz="1725" b="1">
                <a:solidFill>
                  <a:srgbClr val="292B2D"/>
                </a:solidFill>
                <a:latin typeface="Helvetica Neue"/>
                <a:ea typeface="Helvetica Neue"/>
                <a:cs typeface="Helvetica Neue"/>
              </a:rPr>
              <a:t>Dish rack</a:t>
            </a:r>
          </a:p>
        </p:txBody>
      </p:sp>
      <p:sp>
        <p:nvSpPr>
          <p:cNvPr id="26" name="R3 RO loft shutter">
            <a:extLst>
              <a:ext uri="{FF2B5EF4-FFF2-40B4-BE49-F238E27FC236}">
                <a16:creationId xmlns:a16="http://schemas.microsoft.com/office/drawing/2014/main" id="{AD258702-0E12-4954-8DF5-027C54C7B401}"/>
              </a:ext>
            </a:extLst>
          </p:cNvPr>
          <p:cNvSpPr>
            <a:spLocks noGrp="1"/>
          </p:cNvSpPr>
          <p:nvPr/>
        </p:nvSpPr>
        <p:spPr>
          <a:xfrm>
            <a:off x="7334250" y="1714500"/>
            <a:ext cx="1476375" cy="1190625"/>
          </a:xfrm>
          <a:prstGeom prst="rect">
            <a:avLst/>
          </a:prstGeom>
          <a:solidFill>
            <a:srgbClr val="DCC6A8"/>
          </a:solidFill>
          <a:ln w="14288">
            <a:solidFill>
              <a:srgbClr val="6B5543"/>
            </a:solidFill>
            <a:prstDash val="solid"/>
          </a:ln>
        </p:spPr>
      </p:sp>
      <p:sp>
        <p:nvSpPr>
          <p:cNvPr id="27" name="R3 RO loft handle">
            <a:extLst>
              <a:ext uri="{FF2B5EF4-FFF2-40B4-BE49-F238E27FC236}">
                <a16:creationId xmlns:a16="http://schemas.microsoft.com/office/drawing/2014/main" id="{FF8987A5-41D5-4A09-8699-B03F732275C5}"/>
              </a:ext>
            </a:extLst>
          </p:cNvPr>
          <p:cNvSpPr>
            <a:spLocks noGrp="1"/>
          </p:cNvSpPr>
          <p:nvPr/>
        </p:nvSpPr>
        <p:spPr>
          <a:xfrm>
            <a:off x="7872413" y="2695575"/>
            <a:ext cx="400050" cy="38100"/>
          </a:xfrm>
          <a:prstGeom prst="rect">
            <a:avLst/>
          </a:prstGeom>
          <a:solidFill>
            <a:srgbClr val="A8ADB0"/>
          </a:solidFill>
          <a:ln w="6668">
            <a:solidFill>
              <a:srgbClr val="292B2D"/>
            </a:solidFill>
            <a:prstDash val="solid"/>
          </a:ln>
        </p:spPr>
      </p:sp>
      <p:sp>
        <p:nvSpPr>
          <p:cNvPr id="28" name="R3 RO closed shutter shutter">
            <a:extLst>
              <a:ext uri="{FF2B5EF4-FFF2-40B4-BE49-F238E27FC236}">
                <a16:creationId xmlns:a16="http://schemas.microsoft.com/office/drawing/2014/main" id="{FE2BF178-FBF0-4855-8413-8ABD60AF717E}"/>
              </a:ext>
            </a:extLst>
          </p:cNvPr>
          <p:cNvSpPr>
            <a:spLocks noGrp="1"/>
          </p:cNvSpPr>
          <p:nvPr/>
        </p:nvSpPr>
        <p:spPr>
          <a:xfrm>
            <a:off x="7334250" y="2905125"/>
            <a:ext cx="1476375" cy="1571625"/>
          </a:xfrm>
          <a:prstGeom prst="rect">
            <a:avLst/>
          </a:prstGeom>
          <a:solidFill>
            <a:srgbClr val="DCC6A8"/>
          </a:solidFill>
          <a:ln w="14288">
            <a:solidFill>
              <a:srgbClr val="6B5543"/>
            </a:solidFill>
            <a:prstDash val="solid"/>
          </a:ln>
        </p:spPr>
      </p:sp>
      <p:sp>
        <p:nvSpPr>
          <p:cNvPr id="29" name="R3 RO closed shutter handle">
            <a:extLst>
              <a:ext uri="{FF2B5EF4-FFF2-40B4-BE49-F238E27FC236}">
                <a16:creationId xmlns:a16="http://schemas.microsoft.com/office/drawing/2014/main" id="{B985B42A-FD4F-4D40-9FAA-80A16648EC64}"/>
              </a:ext>
            </a:extLst>
          </p:cNvPr>
          <p:cNvSpPr>
            <a:spLocks noGrp="1"/>
          </p:cNvSpPr>
          <p:nvPr/>
        </p:nvSpPr>
        <p:spPr>
          <a:xfrm>
            <a:off x="7872413" y="4267200"/>
            <a:ext cx="400050" cy="38100"/>
          </a:xfrm>
          <a:prstGeom prst="rect">
            <a:avLst/>
          </a:prstGeom>
          <a:solidFill>
            <a:srgbClr val="A8ADB0"/>
          </a:solidFill>
          <a:ln w="6668">
            <a:solidFill>
              <a:srgbClr val="292B2D"/>
            </a:solidFill>
            <a:prstDash val="solid"/>
          </a:ln>
        </p:spPr>
      </p:sp>
      <p:sp>
        <p:nvSpPr>
          <p:cNvPr id="30" name="R3 direct tap cut-out cut-out">
            <a:extLst>
              <a:ext uri="{FF2B5EF4-FFF2-40B4-BE49-F238E27FC236}">
                <a16:creationId xmlns:a16="http://schemas.microsoft.com/office/drawing/2014/main" id="{0B83803B-03DA-4DAA-8D79-2162CC641DFE}"/>
              </a:ext>
            </a:extLst>
          </p:cNvPr>
          <p:cNvSpPr>
            <a:spLocks noGrp="1"/>
          </p:cNvSpPr>
          <p:nvPr/>
        </p:nvSpPr>
        <p:spPr>
          <a:xfrm>
            <a:off x="7777163" y="3590925"/>
            <a:ext cx="590550" cy="809625"/>
          </a:xfrm>
          <a:prstGeom prst="rect">
            <a:avLst/>
          </a:prstGeom>
          <a:solidFill>
            <a:srgbClr val="5C4D40"/>
          </a:solidFill>
          <a:ln w="9525">
            <a:solidFill>
              <a:srgbClr val="6B5543"/>
            </a:solidFill>
            <a:prstDash val="solid"/>
          </a:ln>
        </p:spPr>
      </p:sp>
      <p:sp>
        <p:nvSpPr>
          <p:cNvPr id="31" name="R3 direct tap cut-out dispenser stem">
            <a:extLst>
              <a:ext uri="{FF2B5EF4-FFF2-40B4-BE49-F238E27FC236}">
                <a16:creationId xmlns:a16="http://schemas.microsoft.com/office/drawing/2014/main" id="{61F1CAC5-2B81-45E1-9C95-64EC1A915C7C}"/>
              </a:ext>
            </a:extLst>
          </p:cNvPr>
          <p:cNvSpPr>
            <a:spLocks noGrp="1"/>
          </p:cNvSpPr>
          <p:nvPr/>
        </p:nvSpPr>
        <p:spPr>
          <a:xfrm>
            <a:off x="8034338" y="3686175"/>
            <a:ext cx="76200" cy="190500"/>
          </a:xfrm>
          <a:prstGeom prst="rect">
            <a:avLst/>
          </a:prstGeom>
          <a:solidFill>
            <a:srgbClr val="A8ADB0"/>
          </a:solidFill>
          <a:ln w="4763">
            <a:solidFill>
              <a:srgbClr val="FFFFFF"/>
            </a:solidFill>
            <a:prstDash val="solid"/>
          </a:ln>
        </p:spPr>
      </p:sp>
      <p:sp>
        <p:nvSpPr>
          <p:cNvPr id="32" name="R3 direct tap cut-out tap lever">
            <a:extLst>
              <a:ext uri="{FF2B5EF4-FFF2-40B4-BE49-F238E27FC236}">
                <a16:creationId xmlns:a16="http://schemas.microsoft.com/office/drawing/2014/main" id="{D29D6B81-FB6A-4EDB-9F04-13BC82EBEB0C}"/>
              </a:ext>
            </a:extLst>
          </p:cNvPr>
          <p:cNvSpPr>
            <a:spLocks noGrp="1"/>
          </p:cNvSpPr>
          <p:nvPr/>
        </p:nvSpPr>
        <p:spPr>
          <a:xfrm>
            <a:off x="8072438" y="3733800"/>
            <a:ext cx="123825" cy="0"/>
          </a:xfrm>
          <a:prstGeom prst="line">
            <a:avLst/>
          </a:prstGeom>
          <a:noFill/>
          <a:ln w="28575">
            <a:solidFill>
              <a:srgbClr val="292B2D"/>
            </a:solidFill>
            <a:prstDash val="solid"/>
          </a:ln>
        </p:spPr>
      </p:sp>
      <p:sp>
        <p:nvSpPr>
          <p:cNvPr id="33" name="R3 direct tap cut-out spout">
            <a:extLst>
              <a:ext uri="{FF2B5EF4-FFF2-40B4-BE49-F238E27FC236}">
                <a16:creationId xmlns:a16="http://schemas.microsoft.com/office/drawing/2014/main" id="{4E863DC0-AF3E-4424-A88B-B85416D1E115}"/>
              </a:ext>
            </a:extLst>
          </p:cNvPr>
          <p:cNvSpPr>
            <a:spLocks noGrp="1"/>
          </p:cNvSpPr>
          <p:nvPr/>
        </p:nvSpPr>
        <p:spPr>
          <a:xfrm>
            <a:off x="8053388" y="3848100"/>
            <a:ext cx="38100" cy="114300"/>
          </a:xfrm>
          <a:prstGeom prst="rect">
            <a:avLst/>
          </a:prstGeom>
          <a:solidFill>
            <a:srgbClr val="A8ADB0"/>
          </a:solidFill>
          <a:ln w="0">
            <a:noFill/>
            <a:prstDash val="solid"/>
          </a:ln>
        </p:spPr>
      </p:sp>
      <p:sp>
        <p:nvSpPr>
          <p:cNvPr id="34" name="R3 direct tap cut-out glass">
            <a:extLst>
              <a:ext uri="{FF2B5EF4-FFF2-40B4-BE49-F238E27FC236}">
                <a16:creationId xmlns:a16="http://schemas.microsoft.com/office/drawing/2014/main" id="{9628E5BF-BA21-42D0-9AE3-C5F9E2A3C6C7}"/>
              </a:ext>
            </a:extLst>
          </p:cNvPr>
          <p:cNvSpPr>
            <a:spLocks noGrp="1"/>
          </p:cNvSpPr>
          <p:nvPr/>
        </p:nvSpPr>
        <p:spPr>
          <a:xfrm>
            <a:off x="7948613" y="4067175"/>
            <a:ext cx="247650" cy="285750"/>
          </a:xfrm>
          <a:prstGeom prst="rect">
            <a:avLst/>
          </a:prstGeom>
          <a:noFill/>
          <a:ln w="9525">
            <a:solidFill>
              <a:srgbClr val="E0E7E8"/>
            </a:solidFill>
            <a:prstDash val="solid"/>
          </a:ln>
        </p:spPr>
      </p:sp>
      <p:sp>
        <p:nvSpPr>
          <p:cNvPr id="35" name="R3 direct tap cut-out tray">
            <a:extLst>
              <a:ext uri="{FF2B5EF4-FFF2-40B4-BE49-F238E27FC236}">
                <a16:creationId xmlns:a16="http://schemas.microsoft.com/office/drawing/2014/main" id="{CB3F7412-E4DC-4715-BBFE-4D287CD99F24}"/>
              </a:ext>
            </a:extLst>
          </p:cNvPr>
          <p:cNvSpPr>
            <a:spLocks noGrp="1"/>
          </p:cNvSpPr>
          <p:nvPr/>
        </p:nvSpPr>
        <p:spPr>
          <a:xfrm>
            <a:off x="7834313" y="4371975"/>
            <a:ext cx="476250" cy="0"/>
          </a:xfrm>
          <a:prstGeom prst="line">
            <a:avLst/>
          </a:prstGeom>
          <a:noFill/>
          <a:ln w="28575">
            <a:solidFill>
              <a:srgbClr val="A8ADB0"/>
            </a:solidFill>
            <a:prstDash val="solid"/>
          </a:ln>
        </p:spPr>
      </p:sp>
      <p:sp>
        <p:nvSpPr>
          <p:cNvPr id="36" name="R4 fridge loft L shutter">
            <a:extLst>
              <a:ext uri="{FF2B5EF4-FFF2-40B4-BE49-F238E27FC236}">
                <a16:creationId xmlns:a16="http://schemas.microsoft.com/office/drawing/2014/main" id="{AF67224A-D4EF-4C87-BDDD-2E48013DDDED}"/>
              </a:ext>
            </a:extLst>
          </p:cNvPr>
          <p:cNvSpPr>
            <a:spLocks noGrp="1"/>
          </p:cNvSpPr>
          <p:nvPr/>
        </p:nvSpPr>
        <p:spPr>
          <a:xfrm>
            <a:off x="8810625" y="1714500"/>
            <a:ext cx="1357313" cy="1238250"/>
          </a:xfrm>
          <a:prstGeom prst="rect">
            <a:avLst/>
          </a:prstGeom>
          <a:solidFill>
            <a:srgbClr val="DCC6A8"/>
          </a:solidFill>
          <a:ln w="14288">
            <a:solidFill>
              <a:srgbClr val="6B5543"/>
            </a:solidFill>
            <a:prstDash val="solid"/>
          </a:ln>
        </p:spPr>
      </p:sp>
      <p:sp>
        <p:nvSpPr>
          <p:cNvPr id="37" name="R4 fridge loft L handle">
            <a:extLst>
              <a:ext uri="{FF2B5EF4-FFF2-40B4-BE49-F238E27FC236}">
                <a16:creationId xmlns:a16="http://schemas.microsoft.com/office/drawing/2014/main" id="{6E7D1E1A-D5A7-4FEC-897F-EBF90EE4C716}"/>
              </a:ext>
            </a:extLst>
          </p:cNvPr>
          <p:cNvSpPr>
            <a:spLocks noGrp="1"/>
          </p:cNvSpPr>
          <p:nvPr/>
        </p:nvSpPr>
        <p:spPr>
          <a:xfrm>
            <a:off x="9289256" y="2743200"/>
            <a:ext cx="400050" cy="38100"/>
          </a:xfrm>
          <a:prstGeom prst="rect">
            <a:avLst/>
          </a:prstGeom>
          <a:solidFill>
            <a:srgbClr val="A8ADB0"/>
          </a:solidFill>
          <a:ln w="6668">
            <a:solidFill>
              <a:srgbClr val="292B2D"/>
            </a:solidFill>
            <a:prstDash val="solid"/>
          </a:ln>
        </p:spPr>
      </p:sp>
      <p:sp>
        <p:nvSpPr>
          <p:cNvPr id="38" name="R4 fridge loft R shutter">
            <a:extLst>
              <a:ext uri="{FF2B5EF4-FFF2-40B4-BE49-F238E27FC236}">
                <a16:creationId xmlns:a16="http://schemas.microsoft.com/office/drawing/2014/main" id="{9F9816B8-121A-4BAE-939F-4FD5C2EB0CC1}"/>
              </a:ext>
            </a:extLst>
          </p:cNvPr>
          <p:cNvSpPr>
            <a:spLocks noGrp="1"/>
          </p:cNvSpPr>
          <p:nvPr/>
        </p:nvSpPr>
        <p:spPr>
          <a:xfrm>
            <a:off x="10167938" y="1714500"/>
            <a:ext cx="1357313" cy="1238250"/>
          </a:xfrm>
          <a:prstGeom prst="rect">
            <a:avLst/>
          </a:prstGeom>
          <a:solidFill>
            <a:srgbClr val="DCC6A8"/>
          </a:solidFill>
          <a:ln w="14288">
            <a:solidFill>
              <a:srgbClr val="6B5543"/>
            </a:solidFill>
            <a:prstDash val="solid"/>
          </a:ln>
        </p:spPr>
      </p:sp>
      <p:sp>
        <p:nvSpPr>
          <p:cNvPr id="39" name="R4 fridge loft R handle">
            <a:extLst>
              <a:ext uri="{FF2B5EF4-FFF2-40B4-BE49-F238E27FC236}">
                <a16:creationId xmlns:a16="http://schemas.microsoft.com/office/drawing/2014/main" id="{FD23D8AB-A274-4F4F-9104-420A82E11260}"/>
              </a:ext>
            </a:extLst>
          </p:cNvPr>
          <p:cNvSpPr>
            <a:spLocks noGrp="1"/>
          </p:cNvSpPr>
          <p:nvPr/>
        </p:nvSpPr>
        <p:spPr>
          <a:xfrm>
            <a:off x="10646569" y="2743200"/>
            <a:ext cx="400050" cy="38100"/>
          </a:xfrm>
          <a:prstGeom prst="rect">
            <a:avLst/>
          </a:prstGeom>
          <a:solidFill>
            <a:srgbClr val="A8ADB0"/>
          </a:solidFill>
          <a:ln w="6668">
            <a:solidFill>
              <a:srgbClr val="292B2D"/>
            </a:solidFill>
            <a:prstDash val="solid"/>
          </a:ln>
        </p:spPr>
      </p:sp>
      <p:sp>
        <p:nvSpPr>
          <p:cNvPr id="40" name="RO-wall backsplash">
            <a:extLst>
              <a:ext uri="{FF2B5EF4-FFF2-40B4-BE49-F238E27FC236}">
                <a16:creationId xmlns:a16="http://schemas.microsoft.com/office/drawing/2014/main" id="{43276583-7E80-4AA2-9264-FCA32B77231F}"/>
              </a:ext>
            </a:extLst>
          </p:cNvPr>
          <p:cNvSpPr>
            <a:spLocks noGrp="1"/>
          </p:cNvSpPr>
          <p:nvPr/>
        </p:nvSpPr>
        <p:spPr>
          <a:xfrm>
            <a:off x="666750" y="4524375"/>
            <a:ext cx="8143875" cy="1285875"/>
          </a:xfrm>
          <a:prstGeom prst="rect">
            <a:avLst/>
          </a:prstGeom>
          <a:solidFill>
            <a:srgbClr val="F6F3ED"/>
          </a:solidFill>
          <a:ln w="0">
            <a:noFill/>
            <a:prstDash val="solid"/>
          </a:ln>
        </p:spPr>
      </p:sp>
      <p:sp>
        <p:nvSpPr>
          <p:cNvPr id="41" name="RO-wall continuous task strip">
            <a:extLst>
              <a:ext uri="{FF2B5EF4-FFF2-40B4-BE49-F238E27FC236}">
                <a16:creationId xmlns:a16="http://schemas.microsoft.com/office/drawing/2014/main" id="{7CCDBBB1-0262-4729-BD36-CB1B91B198B7}"/>
              </a:ext>
            </a:extLst>
          </p:cNvPr>
          <p:cNvSpPr>
            <a:spLocks noGrp="1"/>
          </p:cNvSpPr>
          <p:nvPr/>
        </p:nvSpPr>
        <p:spPr>
          <a:xfrm>
            <a:off x="666750" y="4514850"/>
            <a:ext cx="8143875" cy="0"/>
          </a:xfrm>
          <a:prstGeom prst="line">
            <a:avLst/>
          </a:prstGeom>
          <a:noFill/>
          <a:ln w="47625">
            <a:solidFill>
              <a:srgbClr val="F5C96D"/>
            </a:solidFill>
            <a:prstDash val="solid"/>
          </a:ln>
        </p:spPr>
      </p:sp>
      <p:sp>
        <p:nvSpPr>
          <p:cNvPr id="42" name="RO-wall outlet">
            <a:extLst>
              <a:ext uri="{FF2B5EF4-FFF2-40B4-BE49-F238E27FC236}">
                <a16:creationId xmlns:a16="http://schemas.microsoft.com/office/drawing/2014/main" id="{24D4C3AB-3C17-467A-9AB7-E9C6993DAD0D}"/>
              </a:ext>
            </a:extLst>
          </p:cNvPr>
          <p:cNvSpPr>
            <a:spLocks noGrp="1"/>
          </p:cNvSpPr>
          <p:nvPr/>
        </p:nvSpPr>
        <p:spPr>
          <a:xfrm>
            <a:off x="8143875" y="5067300"/>
            <a:ext cx="323850" cy="209550"/>
          </a:xfrm>
          <a:prstGeom prst="rect">
            <a:avLst/>
          </a:prstGeom>
          <a:solidFill>
            <a:srgbClr val="FFFFFF"/>
          </a:solidFill>
          <a:ln w="9525">
            <a:solidFill>
              <a:srgbClr val="A8ADB0"/>
            </a:solidFill>
            <a:prstDash val="solid"/>
          </a:ln>
        </p:spPr>
      </p:sp>
      <p:sp>
        <p:nvSpPr>
          <p:cNvPr id="43" name="RO-wall outlet pin 0">
            <a:extLst>
              <a:ext uri="{FF2B5EF4-FFF2-40B4-BE49-F238E27FC236}">
                <a16:creationId xmlns:a16="http://schemas.microsoft.com/office/drawing/2014/main" id="{3626A673-F029-487F-B3BF-AC8782461DAF}"/>
              </a:ext>
            </a:extLst>
          </p:cNvPr>
          <p:cNvSpPr>
            <a:spLocks noGrp="1"/>
          </p:cNvSpPr>
          <p:nvPr/>
        </p:nvSpPr>
        <p:spPr>
          <a:xfrm>
            <a:off x="8220075" y="5143500"/>
            <a:ext cx="19050" cy="47625"/>
          </a:xfrm>
          <a:prstGeom prst="rect">
            <a:avLst/>
          </a:prstGeom>
          <a:solidFill>
            <a:srgbClr val="292B2D"/>
          </a:solidFill>
          <a:ln w="0">
            <a:noFill/>
            <a:prstDash val="solid"/>
          </a:ln>
        </p:spPr>
      </p:sp>
      <p:sp>
        <p:nvSpPr>
          <p:cNvPr id="44" name="RO-wall outlet pin 1">
            <a:extLst>
              <a:ext uri="{FF2B5EF4-FFF2-40B4-BE49-F238E27FC236}">
                <a16:creationId xmlns:a16="http://schemas.microsoft.com/office/drawing/2014/main" id="{909795D0-AAD4-4547-9333-F5E8B27B6581}"/>
              </a:ext>
            </a:extLst>
          </p:cNvPr>
          <p:cNvSpPr>
            <a:spLocks noGrp="1"/>
          </p:cNvSpPr>
          <p:nvPr/>
        </p:nvSpPr>
        <p:spPr>
          <a:xfrm>
            <a:off x="8296275" y="5143500"/>
            <a:ext cx="19050" cy="47625"/>
          </a:xfrm>
          <a:prstGeom prst="rect">
            <a:avLst/>
          </a:prstGeom>
          <a:solidFill>
            <a:srgbClr val="292B2D"/>
          </a:solidFill>
          <a:ln w="0">
            <a:noFill/>
            <a:prstDash val="solid"/>
          </a:ln>
        </p:spPr>
      </p:sp>
      <p:sp>
        <p:nvSpPr>
          <p:cNvPr id="45" name="RO-wall outlet pin 2">
            <a:extLst>
              <a:ext uri="{FF2B5EF4-FFF2-40B4-BE49-F238E27FC236}">
                <a16:creationId xmlns:a16="http://schemas.microsoft.com/office/drawing/2014/main" id="{CD326926-57BD-4FD1-95C2-646A0EB98FAC}"/>
              </a:ext>
            </a:extLst>
          </p:cNvPr>
          <p:cNvSpPr>
            <a:spLocks noGrp="1"/>
          </p:cNvSpPr>
          <p:nvPr/>
        </p:nvSpPr>
        <p:spPr>
          <a:xfrm>
            <a:off x="8382000" y="5143500"/>
            <a:ext cx="19050" cy="47625"/>
          </a:xfrm>
          <a:prstGeom prst="rect">
            <a:avLst/>
          </a:prstGeom>
          <a:solidFill>
            <a:srgbClr val="292B2D"/>
          </a:solidFill>
          <a:ln w="0">
            <a:noFill/>
            <a:prstDash val="solid"/>
          </a:ln>
        </p:spPr>
      </p:sp>
      <p:sp>
        <p:nvSpPr>
          <p:cNvPr id="46" name="RO-wall counter">
            <a:extLst>
              <a:ext uri="{FF2B5EF4-FFF2-40B4-BE49-F238E27FC236}">
                <a16:creationId xmlns:a16="http://schemas.microsoft.com/office/drawing/2014/main" id="{5AF9CAE3-BEC7-494F-A89F-44D45C3CAC44}"/>
              </a:ext>
            </a:extLst>
          </p:cNvPr>
          <p:cNvSpPr>
            <a:spLocks noGrp="1"/>
          </p:cNvSpPr>
          <p:nvPr/>
        </p:nvSpPr>
        <p:spPr>
          <a:xfrm>
            <a:off x="666750" y="5810250"/>
            <a:ext cx="8143875" cy="133350"/>
          </a:xfrm>
          <a:prstGeom prst="rect">
            <a:avLst/>
          </a:prstGeom>
          <a:solidFill>
            <a:srgbClr val="292B2D"/>
          </a:solidFill>
          <a:ln w="9525">
            <a:solidFill>
              <a:srgbClr val="292B2D"/>
            </a:solidFill>
            <a:prstDash val="solid"/>
          </a:ln>
        </p:spPr>
      </p:sp>
      <p:sp>
        <p:nvSpPr>
          <p:cNvPr id="47" name="R2 double-bowl sink full rim">
            <a:extLst>
              <a:ext uri="{FF2B5EF4-FFF2-40B4-BE49-F238E27FC236}">
                <a16:creationId xmlns:a16="http://schemas.microsoft.com/office/drawing/2014/main" id="{2B751171-C174-41F1-9BB0-53B56B4A8D88}"/>
              </a:ext>
            </a:extLst>
          </p:cNvPr>
          <p:cNvSpPr>
            <a:spLocks noGrp="1"/>
          </p:cNvSpPr>
          <p:nvPr/>
        </p:nvSpPr>
        <p:spPr>
          <a:xfrm>
            <a:off x="3429000" y="5715000"/>
            <a:ext cx="3905250" cy="190500"/>
          </a:xfrm>
          <a:prstGeom prst="rect">
            <a:avLst/>
          </a:prstGeom>
          <a:solidFill>
            <a:srgbClr val="A8ADB0"/>
          </a:solidFill>
          <a:ln w="9525">
            <a:solidFill>
              <a:srgbClr val="292B2D"/>
            </a:solidFill>
            <a:prstDash val="solid"/>
          </a:ln>
        </p:spPr>
      </p:sp>
      <p:sp>
        <p:nvSpPr>
          <p:cNvPr id="48" name="R2 double-bowl sink bowl left">
            <a:extLst>
              <a:ext uri="{FF2B5EF4-FFF2-40B4-BE49-F238E27FC236}">
                <a16:creationId xmlns:a16="http://schemas.microsoft.com/office/drawing/2014/main" id="{56BE5185-F2EE-4524-9D5B-5BCC132557F6}"/>
              </a:ext>
            </a:extLst>
          </p:cNvPr>
          <p:cNvSpPr>
            <a:spLocks noGrp="1"/>
          </p:cNvSpPr>
          <p:nvPr/>
        </p:nvSpPr>
        <p:spPr>
          <a:xfrm>
            <a:off x="3495675" y="5753100"/>
            <a:ext cx="1838325" cy="114300"/>
          </a:xfrm>
          <a:prstGeom prst="rect">
            <a:avLst/>
          </a:prstGeom>
          <a:solidFill>
            <a:srgbClr val="1C3042"/>
          </a:solidFill>
          <a:ln w="9525">
            <a:solidFill>
              <a:srgbClr val="A8ADB0"/>
            </a:solidFill>
            <a:prstDash val="solid"/>
          </a:ln>
        </p:spPr>
      </p:sp>
      <p:sp>
        <p:nvSpPr>
          <p:cNvPr id="49" name="R2 double-bowl sink bowl right">
            <a:extLst>
              <a:ext uri="{FF2B5EF4-FFF2-40B4-BE49-F238E27FC236}">
                <a16:creationId xmlns:a16="http://schemas.microsoft.com/office/drawing/2014/main" id="{059B40C5-5AE4-47CF-BA6D-C3840B2BE178}"/>
              </a:ext>
            </a:extLst>
          </p:cNvPr>
          <p:cNvSpPr>
            <a:spLocks noGrp="1"/>
          </p:cNvSpPr>
          <p:nvPr/>
        </p:nvSpPr>
        <p:spPr>
          <a:xfrm>
            <a:off x="5429250" y="5753100"/>
            <a:ext cx="1838325" cy="114300"/>
          </a:xfrm>
          <a:prstGeom prst="rect">
            <a:avLst/>
          </a:prstGeom>
          <a:solidFill>
            <a:srgbClr val="1C3042"/>
          </a:solidFill>
          <a:ln w="9525">
            <a:solidFill>
              <a:srgbClr val="A8ADB0"/>
            </a:solidFill>
            <a:prstDash val="solid"/>
          </a:ln>
        </p:spPr>
      </p:sp>
      <p:sp>
        <p:nvSpPr>
          <p:cNvPr id="50" name="R2 double-bowl sink mixer">
            <a:extLst>
              <a:ext uri="{FF2B5EF4-FFF2-40B4-BE49-F238E27FC236}">
                <a16:creationId xmlns:a16="http://schemas.microsoft.com/office/drawing/2014/main" id="{D6BF9919-DA48-4B97-A5B9-81650726976D}"/>
              </a:ext>
            </a:extLst>
          </p:cNvPr>
          <p:cNvSpPr>
            <a:spLocks noGrp="1"/>
          </p:cNvSpPr>
          <p:nvPr/>
        </p:nvSpPr>
        <p:spPr>
          <a:xfrm>
            <a:off x="5381625" y="5095875"/>
            <a:ext cx="291465" cy="600075"/>
          </a:xfrm>
          <a:custGeom>
            <a:avLst/>
            <a:gdLst/>
            <a:ahLst/>
            <a:cxnLst/>
            <a:rect l="0" t="0" r="0" b="0"/>
            <a:pathLst>
              <a:path w="291465" h="600075">
                <a:moveTo>
                  <a:pt x="0" y="666750"/>
                </a:moveTo>
                <a:lnTo>
                  <a:pt x="0" y="190500"/>
                </a:lnTo>
                <a:lnTo>
                  <a:pt x="47625" y="66675"/>
                </a:lnTo>
                <a:lnTo>
                  <a:pt x="152400" y="0"/>
                </a:lnTo>
                <a:lnTo>
                  <a:pt x="266700" y="38100"/>
                </a:lnTo>
                <a:lnTo>
                  <a:pt x="323850" y="133350"/>
                </a:lnTo>
                <a:lnTo>
                  <a:pt x="323850" y="257175"/>
                </a:lnTo>
              </a:path>
            </a:pathLst>
          </a:custGeom>
          <a:noFill/>
          <a:ln w="38100">
            <a:solidFill>
              <a:srgbClr val="A8ADB0"/>
            </a:solidFill>
          </a:ln>
        </p:spPr>
      </p:sp>
      <p:sp>
        <p:nvSpPr>
          <p:cNvPr id="51" name="R2 double-bowl sink base">
            <a:extLst>
              <a:ext uri="{FF2B5EF4-FFF2-40B4-BE49-F238E27FC236}">
                <a16:creationId xmlns:a16="http://schemas.microsoft.com/office/drawing/2014/main" id="{80FD78F2-B374-4F3E-97ED-9153C70988CB}"/>
              </a:ext>
            </a:extLst>
          </p:cNvPr>
          <p:cNvSpPr>
            <a:spLocks noGrp="1"/>
          </p:cNvSpPr>
          <p:nvPr/>
        </p:nvSpPr>
        <p:spPr>
          <a:xfrm>
            <a:off x="5305425" y="5695950"/>
            <a:ext cx="171450" cy="38100"/>
          </a:xfrm>
          <a:prstGeom prst="rect">
            <a:avLst/>
          </a:prstGeom>
          <a:solidFill>
            <a:srgbClr val="A8ADB0"/>
          </a:solidFill>
          <a:ln w="4763">
            <a:solidFill>
              <a:srgbClr val="6B5543"/>
            </a:solidFill>
            <a:prstDash val="solid"/>
          </a:ln>
        </p:spPr>
      </p:sp>
      <p:sp>
        <p:nvSpPr>
          <p:cNvPr id="55" name="R2 sink base left shutter">
            <a:extLst>
              <a:ext uri="{FF2B5EF4-FFF2-40B4-BE49-F238E27FC236}">
                <a16:creationId xmlns:a16="http://schemas.microsoft.com/office/drawing/2014/main" id="{6470AC12-856E-4F1C-A13A-FD1BB2BE102C}"/>
              </a:ext>
            </a:extLst>
          </p:cNvPr>
          <p:cNvSpPr>
            <a:spLocks noGrp="1"/>
          </p:cNvSpPr>
          <p:nvPr/>
        </p:nvSpPr>
        <p:spPr>
          <a:xfrm>
            <a:off x="3429000" y="5943600"/>
            <a:ext cx="1952625" cy="1543050"/>
          </a:xfrm>
          <a:prstGeom prst="rect">
            <a:avLst/>
          </a:prstGeom>
          <a:solidFill>
            <a:srgbClr val="875B3D"/>
          </a:solidFill>
          <a:ln w="14288">
            <a:solidFill>
              <a:srgbClr val="6B5543"/>
            </a:solidFill>
            <a:prstDash val="solid"/>
          </a:ln>
        </p:spPr>
      </p:sp>
      <p:sp>
        <p:nvSpPr>
          <p:cNvPr id="56" name="R2 sink base left handle">
            <a:extLst>
              <a:ext uri="{FF2B5EF4-FFF2-40B4-BE49-F238E27FC236}">
                <a16:creationId xmlns:a16="http://schemas.microsoft.com/office/drawing/2014/main" id="{E3968AD7-60E6-4D93-AAD0-9D0506F0234A}"/>
              </a:ext>
            </a:extLst>
          </p:cNvPr>
          <p:cNvSpPr>
            <a:spLocks noGrp="1"/>
          </p:cNvSpPr>
          <p:nvPr/>
        </p:nvSpPr>
        <p:spPr>
          <a:xfrm>
            <a:off x="4205288" y="7277100"/>
            <a:ext cx="400050" cy="38100"/>
          </a:xfrm>
          <a:prstGeom prst="rect">
            <a:avLst/>
          </a:prstGeom>
          <a:solidFill>
            <a:srgbClr val="A8ADB0"/>
          </a:solidFill>
          <a:ln w="6668">
            <a:solidFill>
              <a:srgbClr val="292B2D"/>
            </a:solidFill>
            <a:prstDash val="solid"/>
          </a:ln>
        </p:spPr>
      </p:sp>
      <p:sp>
        <p:nvSpPr>
          <p:cNvPr id="57" name="R2 sink base right shutter">
            <a:extLst>
              <a:ext uri="{FF2B5EF4-FFF2-40B4-BE49-F238E27FC236}">
                <a16:creationId xmlns:a16="http://schemas.microsoft.com/office/drawing/2014/main" id="{1253A259-C844-425F-8ED5-C964E7775651}"/>
              </a:ext>
            </a:extLst>
          </p:cNvPr>
          <p:cNvSpPr>
            <a:spLocks noGrp="1"/>
          </p:cNvSpPr>
          <p:nvPr/>
        </p:nvSpPr>
        <p:spPr>
          <a:xfrm>
            <a:off x="5381625" y="5943600"/>
            <a:ext cx="1952625" cy="1543050"/>
          </a:xfrm>
          <a:prstGeom prst="rect">
            <a:avLst/>
          </a:prstGeom>
          <a:solidFill>
            <a:srgbClr val="875B3D"/>
          </a:solidFill>
          <a:ln w="14288">
            <a:solidFill>
              <a:srgbClr val="6B5543"/>
            </a:solidFill>
            <a:prstDash val="solid"/>
          </a:ln>
        </p:spPr>
      </p:sp>
      <p:sp>
        <p:nvSpPr>
          <p:cNvPr id="58" name="R2 sink base right handle">
            <a:extLst>
              <a:ext uri="{FF2B5EF4-FFF2-40B4-BE49-F238E27FC236}">
                <a16:creationId xmlns:a16="http://schemas.microsoft.com/office/drawing/2014/main" id="{BD8F4EC5-7E71-4DFD-BA76-D9C779A6F5B3}"/>
              </a:ext>
            </a:extLst>
          </p:cNvPr>
          <p:cNvSpPr>
            <a:spLocks noGrp="1"/>
          </p:cNvSpPr>
          <p:nvPr/>
        </p:nvSpPr>
        <p:spPr>
          <a:xfrm>
            <a:off x="6157913" y="7277100"/>
            <a:ext cx="400050" cy="38100"/>
          </a:xfrm>
          <a:prstGeom prst="rect">
            <a:avLst/>
          </a:prstGeom>
          <a:solidFill>
            <a:srgbClr val="A8ADB0"/>
          </a:solidFill>
          <a:ln w="6668">
            <a:solidFill>
              <a:srgbClr val="292B2D"/>
            </a:solidFill>
            <a:prstDash val="solid"/>
          </a:ln>
        </p:spPr>
      </p:sp>
      <p:sp>
        <p:nvSpPr>
          <p:cNvPr id="61" name="R3 mini geyser label">
            <a:extLst>
              <a:ext uri="{FF2B5EF4-FFF2-40B4-BE49-F238E27FC236}">
                <a16:creationId xmlns:a16="http://schemas.microsoft.com/office/drawing/2014/main" id="{3285FCFF-775C-4B2A-B812-EC55A5037586}"/>
              </a:ext>
            </a:extLst>
          </p:cNvPr>
          <p:cNvSpPr>
            <a:spLocks noGrp="1"/>
          </p:cNvSpPr>
          <p:nvPr/>
        </p:nvSpPr>
        <p:spPr>
          <a:xfrm>
            <a:off x="5581650" y="6229350"/>
            <a:ext cx="1381125" cy="285750"/>
          </a:xfrm>
          <a:prstGeom prst="rect">
            <a:avLst/>
          </a:prstGeom>
          <a:noFill/>
          <a:ln w="0">
            <a:noFill/>
            <a:prstDash val="solid"/>
          </a:ln>
        </p:spPr>
        <p:txBody>
          <a:bodyPr wrap="none" lIns="0" tIns="0" rIns="0" bIns="0" anchor="ctr">
            <a:noAutofit/>
          </a:bodyPr>
          <a:lstStyle/>
          <a:p>
            <a:pPr algn="ctr">
              <a:defRPr sz="1575" b="1">
                <a:solidFill>
                  <a:srgbClr val="292B2D"/>
                </a:solidFill>
                <a:latin typeface="Helvetica Neue"/>
                <a:ea typeface="Helvetica Neue"/>
                <a:cs typeface="Helvetica Neue"/>
              </a:defRPr>
            </a:pPr>
            <a:r>
              <a:rPr sz="1575" b="1" dirty="0">
                <a:solidFill>
                  <a:schemeClr val="bg1"/>
                </a:solidFill>
                <a:latin typeface="Helvetica Neue"/>
                <a:ea typeface="Helvetica Neue"/>
                <a:cs typeface="Helvetica Neue"/>
              </a:rPr>
              <a:t>Geyser</a:t>
            </a:r>
          </a:p>
        </p:txBody>
      </p:sp>
      <p:sp>
        <p:nvSpPr>
          <p:cNvPr id="62" name="RO base plinth">
            <a:extLst>
              <a:ext uri="{FF2B5EF4-FFF2-40B4-BE49-F238E27FC236}">
                <a16:creationId xmlns:a16="http://schemas.microsoft.com/office/drawing/2014/main" id="{5804553A-062B-4782-A83F-BDEBBCF87ACF}"/>
              </a:ext>
            </a:extLst>
          </p:cNvPr>
          <p:cNvSpPr>
            <a:spLocks noGrp="1"/>
          </p:cNvSpPr>
          <p:nvPr/>
        </p:nvSpPr>
        <p:spPr>
          <a:xfrm>
            <a:off x="666750" y="7486650"/>
            <a:ext cx="8143875" cy="114300"/>
          </a:xfrm>
          <a:prstGeom prst="rect">
            <a:avLst/>
          </a:prstGeom>
          <a:solidFill>
            <a:srgbClr val="292B2D"/>
          </a:solidFill>
          <a:ln w="9525">
            <a:solidFill>
              <a:srgbClr val="292B2D"/>
            </a:solidFill>
            <a:prstDash val="solid"/>
          </a:ln>
        </p:spPr>
      </p:sp>
      <p:sp>
        <p:nvSpPr>
          <p:cNvPr id="63" name="R4 refrigerator upper">
            <a:extLst>
              <a:ext uri="{FF2B5EF4-FFF2-40B4-BE49-F238E27FC236}">
                <a16:creationId xmlns:a16="http://schemas.microsoft.com/office/drawing/2014/main" id="{BE74607F-9F79-42F2-A238-70699A70A85E}"/>
              </a:ext>
            </a:extLst>
          </p:cNvPr>
          <p:cNvSpPr>
            <a:spLocks noGrp="1"/>
          </p:cNvSpPr>
          <p:nvPr/>
        </p:nvSpPr>
        <p:spPr>
          <a:xfrm>
            <a:off x="8810625" y="3143250"/>
            <a:ext cx="2714625" cy="1428750"/>
          </a:xfrm>
          <a:prstGeom prst="rect">
            <a:avLst/>
          </a:prstGeom>
          <a:solidFill>
            <a:srgbClr val="A8ADB0"/>
          </a:solidFill>
          <a:ln w="19050">
            <a:solidFill>
              <a:srgbClr val="292B2D"/>
            </a:solidFill>
            <a:prstDash val="solid"/>
          </a:ln>
        </p:spPr>
      </p:sp>
      <p:sp>
        <p:nvSpPr>
          <p:cNvPr id="64" name="R4 refrigerator lower">
            <a:extLst>
              <a:ext uri="{FF2B5EF4-FFF2-40B4-BE49-F238E27FC236}">
                <a16:creationId xmlns:a16="http://schemas.microsoft.com/office/drawing/2014/main" id="{F52713D2-46FE-4BFF-AC84-AA39A85AF9D2}"/>
              </a:ext>
            </a:extLst>
          </p:cNvPr>
          <p:cNvSpPr>
            <a:spLocks noGrp="1"/>
          </p:cNvSpPr>
          <p:nvPr/>
        </p:nvSpPr>
        <p:spPr>
          <a:xfrm>
            <a:off x="8810625" y="4572000"/>
            <a:ext cx="2714625" cy="3028950"/>
          </a:xfrm>
          <a:prstGeom prst="rect">
            <a:avLst/>
          </a:prstGeom>
          <a:solidFill>
            <a:srgbClr val="A8ADB0"/>
          </a:solidFill>
          <a:ln w="19050">
            <a:solidFill>
              <a:srgbClr val="292B2D"/>
            </a:solidFill>
            <a:prstDash val="solid"/>
          </a:ln>
        </p:spPr>
      </p:sp>
      <p:sp>
        <p:nvSpPr>
          <p:cNvPr id="65" name="R4 upper handle">
            <a:extLst>
              <a:ext uri="{FF2B5EF4-FFF2-40B4-BE49-F238E27FC236}">
                <a16:creationId xmlns:a16="http://schemas.microsoft.com/office/drawing/2014/main" id="{C4D93C3A-329A-4E9A-88BF-047F2F04666C}"/>
              </a:ext>
            </a:extLst>
          </p:cNvPr>
          <p:cNvSpPr>
            <a:spLocks noGrp="1"/>
          </p:cNvSpPr>
          <p:nvPr/>
        </p:nvSpPr>
        <p:spPr>
          <a:xfrm>
            <a:off x="8953500" y="3495675"/>
            <a:ext cx="0" cy="600075"/>
          </a:xfrm>
          <a:prstGeom prst="line">
            <a:avLst/>
          </a:prstGeom>
          <a:noFill/>
          <a:ln w="38100">
            <a:solidFill>
              <a:srgbClr val="292B2D"/>
            </a:solidFill>
            <a:prstDash val="solid"/>
          </a:ln>
        </p:spPr>
      </p:sp>
      <p:sp>
        <p:nvSpPr>
          <p:cNvPr id="66" name="R4 lower handle">
            <a:extLst>
              <a:ext uri="{FF2B5EF4-FFF2-40B4-BE49-F238E27FC236}">
                <a16:creationId xmlns:a16="http://schemas.microsoft.com/office/drawing/2014/main" id="{83F2DD7C-B712-4C1D-89CC-FE8A02F63225}"/>
              </a:ext>
            </a:extLst>
          </p:cNvPr>
          <p:cNvSpPr>
            <a:spLocks noGrp="1"/>
          </p:cNvSpPr>
          <p:nvPr/>
        </p:nvSpPr>
        <p:spPr>
          <a:xfrm>
            <a:off x="8953500" y="4857750"/>
            <a:ext cx="0" cy="952500"/>
          </a:xfrm>
          <a:prstGeom prst="line">
            <a:avLst/>
          </a:prstGeom>
          <a:noFill/>
          <a:ln w="38100">
            <a:solidFill>
              <a:srgbClr val="292B2D"/>
            </a:solidFill>
            <a:prstDash val="solid"/>
          </a:ln>
        </p:spPr>
      </p:sp>
      <p:sp>
        <p:nvSpPr>
          <p:cNvPr id="67" name="Refrigerator label">
            <a:extLst>
              <a:ext uri="{FF2B5EF4-FFF2-40B4-BE49-F238E27FC236}">
                <a16:creationId xmlns:a16="http://schemas.microsoft.com/office/drawing/2014/main" id="{163E35B6-2398-4E0F-B756-0F84392AC982}"/>
              </a:ext>
            </a:extLst>
          </p:cNvPr>
          <p:cNvSpPr>
            <a:spLocks noGrp="1"/>
          </p:cNvSpPr>
          <p:nvPr/>
        </p:nvSpPr>
        <p:spPr>
          <a:xfrm>
            <a:off x="9001125" y="6105525"/>
            <a:ext cx="2333625" cy="333375"/>
          </a:xfrm>
          <a:prstGeom prst="rect">
            <a:avLst/>
          </a:prstGeom>
          <a:noFill/>
          <a:ln w="0">
            <a:noFill/>
            <a:prstDash val="solid"/>
          </a:ln>
        </p:spPr>
        <p:txBody>
          <a:bodyPr wrap="none" lIns="0" tIns="0" rIns="0" bIns="0" anchor="ctr">
            <a:noAutofit/>
          </a:bodyPr>
          <a:lstStyle/>
          <a:p>
            <a:pPr algn="ctr">
              <a:defRPr sz="2025" b="1">
                <a:solidFill>
                  <a:srgbClr val="292B2D"/>
                </a:solidFill>
                <a:latin typeface="Helvetica Neue"/>
                <a:ea typeface="Helvetica Neue"/>
                <a:cs typeface="Helvetica Neue"/>
              </a:defRPr>
            </a:pPr>
            <a:r>
              <a:rPr sz="2025" b="1">
                <a:solidFill>
                  <a:srgbClr val="292B2D"/>
                </a:solidFill>
                <a:latin typeface="Helvetica Neue"/>
                <a:ea typeface="Helvetica Neue"/>
                <a:cs typeface="Helvetica Neue"/>
              </a:rPr>
              <a:t>Fridge</a:t>
            </a:r>
          </a:p>
        </p:txBody>
      </p:sp>
      <p:sp>
        <p:nvSpPr>
          <p:cNvPr id="68" name="Sink/rack left alignment">
            <a:extLst>
              <a:ext uri="{FF2B5EF4-FFF2-40B4-BE49-F238E27FC236}">
                <a16:creationId xmlns:a16="http://schemas.microsoft.com/office/drawing/2014/main" id="{222A87DA-6ACB-4940-A38D-536E1F84C486}"/>
              </a:ext>
            </a:extLst>
          </p:cNvPr>
          <p:cNvSpPr>
            <a:spLocks noGrp="1"/>
          </p:cNvSpPr>
          <p:nvPr/>
        </p:nvSpPr>
        <p:spPr>
          <a:xfrm>
            <a:off x="3429000" y="4514850"/>
            <a:ext cx="0" cy="1181100"/>
          </a:xfrm>
          <a:prstGeom prst="line">
            <a:avLst/>
          </a:prstGeom>
          <a:noFill/>
          <a:ln w="15240">
            <a:solidFill>
              <a:srgbClr val="457A90"/>
            </a:solidFill>
            <a:prstDash val="solid"/>
          </a:ln>
        </p:spPr>
      </p:sp>
      <p:sp>
        <p:nvSpPr>
          <p:cNvPr id="69" name="Sink/rack right alignment">
            <a:extLst>
              <a:ext uri="{FF2B5EF4-FFF2-40B4-BE49-F238E27FC236}">
                <a16:creationId xmlns:a16="http://schemas.microsoft.com/office/drawing/2014/main" id="{7BF943DE-CD3F-42DE-B3F5-1C5306BA9B0A}"/>
              </a:ext>
            </a:extLst>
          </p:cNvPr>
          <p:cNvSpPr>
            <a:spLocks noGrp="1"/>
          </p:cNvSpPr>
          <p:nvPr/>
        </p:nvSpPr>
        <p:spPr>
          <a:xfrm>
            <a:off x="7334250" y="4514850"/>
            <a:ext cx="0" cy="1181100"/>
          </a:xfrm>
          <a:prstGeom prst="line">
            <a:avLst/>
          </a:prstGeom>
          <a:noFill/>
          <a:ln w="15240">
            <a:solidFill>
              <a:srgbClr val="457A90"/>
            </a:solidFill>
            <a:prstDash val="solid"/>
          </a:ln>
        </p:spPr>
      </p:sp>
      <p:sp>
        <p:nvSpPr>
          <p:cNvPr id="70" name="Rack sink alignment label">
            <a:extLst>
              <a:ext uri="{FF2B5EF4-FFF2-40B4-BE49-F238E27FC236}">
                <a16:creationId xmlns:a16="http://schemas.microsoft.com/office/drawing/2014/main" id="{CF736421-BA51-4F99-BB85-B93011CA4C19}"/>
              </a:ext>
            </a:extLst>
          </p:cNvPr>
          <p:cNvSpPr>
            <a:spLocks noGrp="1"/>
          </p:cNvSpPr>
          <p:nvPr/>
        </p:nvSpPr>
        <p:spPr>
          <a:xfrm>
            <a:off x="3543300" y="4667250"/>
            <a:ext cx="3676650" cy="333375"/>
          </a:xfrm>
          <a:prstGeom prst="rect">
            <a:avLst/>
          </a:prstGeom>
          <a:noFill/>
          <a:ln w="0">
            <a:noFill/>
            <a:prstDash val="solid"/>
          </a:ln>
        </p:spPr>
        <p:txBody>
          <a:bodyPr wrap="none" lIns="0" tIns="0" rIns="0" bIns="0" anchor="ctr">
            <a:noAutofit/>
          </a:bodyPr>
          <a:lstStyle/>
          <a:p>
            <a:pPr algn="ctr">
              <a:defRPr sz="1650" b="1">
                <a:solidFill>
                  <a:srgbClr val="457A90"/>
                </a:solidFill>
                <a:latin typeface="Helvetica Neue"/>
                <a:ea typeface="Helvetica Neue"/>
                <a:cs typeface="Helvetica Neue"/>
              </a:defRPr>
            </a:pPr>
            <a:r>
              <a:rPr sz="1650" b="1">
                <a:solidFill>
                  <a:srgbClr val="457A90"/>
                </a:solidFill>
                <a:latin typeface="Helvetica Neue"/>
                <a:ea typeface="Helvetica Neue"/>
                <a:cs typeface="Helvetica Neue"/>
              </a:rPr>
              <a:t>Rack and sink share one width</a:t>
            </a:r>
          </a:p>
        </p:txBody>
      </p:sp>
      <p:sp>
        <p:nvSpPr>
          <p:cNvPr id="75" name="W4 walnut drawer 1 shutter">
            <a:extLst>
              <a:ext uri="{FF2B5EF4-FFF2-40B4-BE49-F238E27FC236}">
                <a16:creationId xmlns:a16="http://schemas.microsoft.com/office/drawing/2014/main" id="{47261437-118D-3B9A-47BD-9F05618C02A8}"/>
              </a:ext>
            </a:extLst>
          </p:cNvPr>
          <p:cNvSpPr>
            <a:spLocks noGrp="1"/>
          </p:cNvSpPr>
          <p:nvPr/>
        </p:nvSpPr>
        <p:spPr>
          <a:xfrm>
            <a:off x="687759" y="5962650"/>
            <a:ext cx="2741241" cy="400050"/>
          </a:xfrm>
          <a:prstGeom prst="rect">
            <a:avLst/>
          </a:prstGeom>
          <a:solidFill>
            <a:srgbClr val="875B3D"/>
          </a:solidFill>
          <a:ln w="14288">
            <a:solidFill>
              <a:srgbClr val="6B5543"/>
            </a:solidFill>
            <a:prstDash val="solid"/>
          </a:ln>
        </p:spPr>
      </p:sp>
      <p:sp>
        <p:nvSpPr>
          <p:cNvPr id="76" name="W4 walnut drawer 1 handle">
            <a:extLst>
              <a:ext uri="{FF2B5EF4-FFF2-40B4-BE49-F238E27FC236}">
                <a16:creationId xmlns:a16="http://schemas.microsoft.com/office/drawing/2014/main" id="{C41417D0-0980-9C59-B606-65A71634E972}"/>
              </a:ext>
            </a:extLst>
          </p:cNvPr>
          <p:cNvSpPr>
            <a:spLocks noGrp="1"/>
          </p:cNvSpPr>
          <p:nvPr/>
        </p:nvSpPr>
        <p:spPr>
          <a:xfrm>
            <a:off x="1985059" y="6170082"/>
            <a:ext cx="262841" cy="38100"/>
          </a:xfrm>
          <a:prstGeom prst="rect">
            <a:avLst/>
          </a:prstGeom>
          <a:solidFill>
            <a:srgbClr val="A8ADB0"/>
          </a:solidFill>
          <a:ln w="6668">
            <a:solidFill>
              <a:srgbClr val="292B2D"/>
            </a:solidFill>
            <a:prstDash val="solid"/>
          </a:ln>
        </p:spPr>
      </p:sp>
      <p:sp>
        <p:nvSpPr>
          <p:cNvPr id="77" name="W4 walnut drawer 2 shutter">
            <a:extLst>
              <a:ext uri="{FF2B5EF4-FFF2-40B4-BE49-F238E27FC236}">
                <a16:creationId xmlns:a16="http://schemas.microsoft.com/office/drawing/2014/main" id="{B331242E-728C-F938-2E02-392DC50643B3}"/>
              </a:ext>
            </a:extLst>
          </p:cNvPr>
          <p:cNvSpPr>
            <a:spLocks noGrp="1"/>
          </p:cNvSpPr>
          <p:nvPr/>
        </p:nvSpPr>
        <p:spPr>
          <a:xfrm>
            <a:off x="687759" y="6362700"/>
            <a:ext cx="2741241" cy="571500"/>
          </a:xfrm>
          <a:prstGeom prst="rect">
            <a:avLst/>
          </a:prstGeom>
          <a:solidFill>
            <a:srgbClr val="875B3D"/>
          </a:solidFill>
          <a:ln w="14288">
            <a:solidFill>
              <a:srgbClr val="6B5543"/>
            </a:solidFill>
            <a:prstDash val="solid"/>
          </a:ln>
        </p:spPr>
      </p:sp>
      <p:sp>
        <p:nvSpPr>
          <p:cNvPr id="78" name="W4 walnut drawer 2 handle">
            <a:extLst>
              <a:ext uri="{FF2B5EF4-FFF2-40B4-BE49-F238E27FC236}">
                <a16:creationId xmlns:a16="http://schemas.microsoft.com/office/drawing/2014/main" id="{64BCD774-814D-658F-B14F-934A8B1FE297}"/>
              </a:ext>
            </a:extLst>
          </p:cNvPr>
          <p:cNvSpPr>
            <a:spLocks noGrp="1"/>
          </p:cNvSpPr>
          <p:nvPr/>
        </p:nvSpPr>
        <p:spPr>
          <a:xfrm>
            <a:off x="1985059" y="6678930"/>
            <a:ext cx="262841" cy="45719"/>
          </a:xfrm>
          <a:prstGeom prst="rect">
            <a:avLst/>
          </a:prstGeom>
          <a:solidFill>
            <a:srgbClr val="A8ADB0"/>
          </a:solidFill>
          <a:ln w="6668">
            <a:solidFill>
              <a:srgbClr val="292B2D"/>
            </a:solidFill>
            <a:prstDash val="solid"/>
          </a:ln>
        </p:spPr>
      </p:sp>
      <p:sp>
        <p:nvSpPr>
          <p:cNvPr id="79" name="W4 walnut drawer 3 shutter">
            <a:extLst>
              <a:ext uri="{FF2B5EF4-FFF2-40B4-BE49-F238E27FC236}">
                <a16:creationId xmlns:a16="http://schemas.microsoft.com/office/drawing/2014/main" id="{3F5C110A-0247-AC48-7240-956FCB6EC74B}"/>
              </a:ext>
            </a:extLst>
          </p:cNvPr>
          <p:cNvSpPr>
            <a:spLocks noGrp="1"/>
          </p:cNvSpPr>
          <p:nvPr/>
        </p:nvSpPr>
        <p:spPr>
          <a:xfrm>
            <a:off x="687759" y="6934200"/>
            <a:ext cx="2741241" cy="571500"/>
          </a:xfrm>
          <a:prstGeom prst="rect">
            <a:avLst/>
          </a:prstGeom>
          <a:solidFill>
            <a:srgbClr val="875B3D"/>
          </a:solidFill>
          <a:ln w="14288">
            <a:solidFill>
              <a:srgbClr val="6B5543"/>
            </a:solidFill>
            <a:prstDash val="solid"/>
          </a:ln>
        </p:spPr>
      </p:sp>
      <p:sp>
        <p:nvSpPr>
          <p:cNvPr id="80" name="W4 walnut drawer 3 handle">
            <a:extLst>
              <a:ext uri="{FF2B5EF4-FFF2-40B4-BE49-F238E27FC236}">
                <a16:creationId xmlns:a16="http://schemas.microsoft.com/office/drawing/2014/main" id="{4C23B579-0200-1D27-AB1A-EB85854B9AC8}"/>
              </a:ext>
            </a:extLst>
          </p:cNvPr>
          <p:cNvSpPr>
            <a:spLocks noGrp="1"/>
          </p:cNvSpPr>
          <p:nvPr/>
        </p:nvSpPr>
        <p:spPr>
          <a:xfrm>
            <a:off x="1985059" y="7212330"/>
            <a:ext cx="262841" cy="45719"/>
          </a:xfrm>
          <a:prstGeom prst="rect">
            <a:avLst/>
          </a:prstGeom>
          <a:solidFill>
            <a:srgbClr val="A8ADB0"/>
          </a:solidFill>
          <a:ln w="6668">
            <a:solidFill>
              <a:srgbClr val="292B2D"/>
            </a:solidFill>
            <a:prstDash val="solid"/>
          </a:ln>
        </p:spPr>
      </p:sp>
      <p:sp>
        <p:nvSpPr>
          <p:cNvPr id="81" name="TextBox 80">
            <a:extLst>
              <a:ext uri="{FF2B5EF4-FFF2-40B4-BE49-F238E27FC236}">
                <a16:creationId xmlns:a16="http://schemas.microsoft.com/office/drawing/2014/main" id="{3FC58D6F-4E53-033F-0C56-08FE276AEDFB}"/>
              </a:ext>
            </a:extLst>
          </p:cNvPr>
          <p:cNvSpPr txBox="1"/>
          <p:nvPr/>
        </p:nvSpPr>
        <p:spPr>
          <a:xfrm>
            <a:off x="11737734" y="2714625"/>
            <a:ext cx="332662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I have corrected the drawer layout.</a:t>
            </a:r>
          </a:p>
          <a:p>
            <a:pPr marL="285750" indent="-285750">
              <a:buFont typeface="Arial" panose="020B0604020202020204" pitchFamily="34" charset="0"/>
              <a:buChar char="•"/>
            </a:pPr>
            <a:r>
              <a:rPr lang="en-US" dirty="0"/>
              <a:t>I have moved the geyser beneath the sink</a:t>
            </a:r>
          </a:p>
        </p:txBody>
      </p:sp>
      <p:sp>
        <p:nvSpPr>
          <p:cNvPr id="82" name="W1 light drawer 1 shutter">
            <a:extLst>
              <a:ext uri="{FF2B5EF4-FFF2-40B4-BE49-F238E27FC236}">
                <a16:creationId xmlns:a16="http://schemas.microsoft.com/office/drawing/2014/main" id="{5FF85034-BF68-31C1-80B6-25259D7BC1FC}"/>
              </a:ext>
            </a:extLst>
          </p:cNvPr>
          <p:cNvSpPr>
            <a:spLocks noGrp="1"/>
          </p:cNvSpPr>
          <p:nvPr/>
        </p:nvSpPr>
        <p:spPr>
          <a:xfrm>
            <a:off x="7334250" y="5943600"/>
            <a:ext cx="1476374" cy="400050"/>
          </a:xfrm>
          <a:prstGeom prst="rect">
            <a:avLst/>
          </a:prstGeom>
          <a:solidFill>
            <a:srgbClr val="DCC6A8"/>
          </a:solidFill>
          <a:ln w="14288">
            <a:solidFill>
              <a:srgbClr val="6B5543"/>
            </a:solidFill>
            <a:prstDash val="solid"/>
          </a:ln>
        </p:spPr>
      </p:sp>
      <p:sp>
        <p:nvSpPr>
          <p:cNvPr id="83" name="W1 light drawer 1 handle">
            <a:extLst>
              <a:ext uri="{FF2B5EF4-FFF2-40B4-BE49-F238E27FC236}">
                <a16:creationId xmlns:a16="http://schemas.microsoft.com/office/drawing/2014/main" id="{D995CB62-0FF7-3443-928B-D58FDEC011D2}"/>
              </a:ext>
            </a:extLst>
          </p:cNvPr>
          <p:cNvSpPr>
            <a:spLocks noGrp="1"/>
          </p:cNvSpPr>
          <p:nvPr/>
        </p:nvSpPr>
        <p:spPr>
          <a:xfrm>
            <a:off x="7884536" y="6143625"/>
            <a:ext cx="375804" cy="38100"/>
          </a:xfrm>
          <a:prstGeom prst="rect">
            <a:avLst/>
          </a:prstGeom>
          <a:solidFill>
            <a:srgbClr val="A8ADB0"/>
          </a:solidFill>
          <a:ln w="6668">
            <a:solidFill>
              <a:srgbClr val="292B2D"/>
            </a:solidFill>
            <a:prstDash val="solid"/>
          </a:ln>
        </p:spPr>
      </p:sp>
      <p:sp>
        <p:nvSpPr>
          <p:cNvPr id="84" name="W1 light drawer 2 shutter">
            <a:extLst>
              <a:ext uri="{FF2B5EF4-FFF2-40B4-BE49-F238E27FC236}">
                <a16:creationId xmlns:a16="http://schemas.microsoft.com/office/drawing/2014/main" id="{AE70A070-1308-D2CF-1B55-17516492CE16}"/>
              </a:ext>
            </a:extLst>
          </p:cNvPr>
          <p:cNvSpPr>
            <a:spLocks noGrp="1"/>
          </p:cNvSpPr>
          <p:nvPr/>
        </p:nvSpPr>
        <p:spPr>
          <a:xfrm>
            <a:off x="7334250" y="6343650"/>
            <a:ext cx="1476374" cy="571500"/>
          </a:xfrm>
          <a:prstGeom prst="rect">
            <a:avLst/>
          </a:prstGeom>
          <a:solidFill>
            <a:srgbClr val="DCC6A8"/>
          </a:solidFill>
          <a:ln w="14288">
            <a:solidFill>
              <a:srgbClr val="6B5543"/>
            </a:solidFill>
            <a:prstDash val="solid"/>
          </a:ln>
        </p:spPr>
      </p:sp>
      <p:sp>
        <p:nvSpPr>
          <p:cNvPr id="85" name="W1 light drawer 2 handle">
            <a:extLst>
              <a:ext uri="{FF2B5EF4-FFF2-40B4-BE49-F238E27FC236}">
                <a16:creationId xmlns:a16="http://schemas.microsoft.com/office/drawing/2014/main" id="{1EEBB245-4DBC-B4A3-B370-422252474441}"/>
              </a:ext>
            </a:extLst>
          </p:cNvPr>
          <p:cNvSpPr>
            <a:spLocks noGrp="1"/>
          </p:cNvSpPr>
          <p:nvPr/>
        </p:nvSpPr>
        <p:spPr>
          <a:xfrm>
            <a:off x="7884536" y="6629400"/>
            <a:ext cx="375804" cy="38100"/>
          </a:xfrm>
          <a:prstGeom prst="rect">
            <a:avLst/>
          </a:prstGeom>
          <a:solidFill>
            <a:srgbClr val="A8ADB0"/>
          </a:solidFill>
          <a:ln w="6668">
            <a:solidFill>
              <a:srgbClr val="292B2D"/>
            </a:solidFill>
            <a:prstDash val="solid"/>
          </a:ln>
        </p:spPr>
      </p:sp>
      <p:sp>
        <p:nvSpPr>
          <p:cNvPr id="86" name="W1 light drawer 3 shutter">
            <a:extLst>
              <a:ext uri="{FF2B5EF4-FFF2-40B4-BE49-F238E27FC236}">
                <a16:creationId xmlns:a16="http://schemas.microsoft.com/office/drawing/2014/main" id="{79088D77-93CA-8FA0-9A17-3A886C7C86CA}"/>
              </a:ext>
            </a:extLst>
          </p:cNvPr>
          <p:cNvSpPr>
            <a:spLocks noGrp="1"/>
          </p:cNvSpPr>
          <p:nvPr/>
        </p:nvSpPr>
        <p:spPr>
          <a:xfrm>
            <a:off x="7334250" y="6915150"/>
            <a:ext cx="1476374" cy="571500"/>
          </a:xfrm>
          <a:prstGeom prst="rect">
            <a:avLst/>
          </a:prstGeom>
          <a:solidFill>
            <a:srgbClr val="DCC6A8"/>
          </a:solidFill>
          <a:ln w="14288">
            <a:solidFill>
              <a:srgbClr val="6B5543"/>
            </a:solidFill>
            <a:prstDash val="solid"/>
          </a:ln>
        </p:spPr>
      </p:sp>
      <p:sp>
        <p:nvSpPr>
          <p:cNvPr id="87" name="W1 light drawer 3 handle">
            <a:extLst>
              <a:ext uri="{FF2B5EF4-FFF2-40B4-BE49-F238E27FC236}">
                <a16:creationId xmlns:a16="http://schemas.microsoft.com/office/drawing/2014/main" id="{9E076377-C7B0-4C27-20B1-85F5911AC5A3}"/>
              </a:ext>
            </a:extLst>
          </p:cNvPr>
          <p:cNvSpPr>
            <a:spLocks noGrp="1"/>
          </p:cNvSpPr>
          <p:nvPr/>
        </p:nvSpPr>
        <p:spPr>
          <a:xfrm>
            <a:off x="7884536" y="7200900"/>
            <a:ext cx="375804" cy="38100"/>
          </a:xfrm>
          <a:prstGeom prst="rect">
            <a:avLst/>
          </a:prstGeom>
          <a:solidFill>
            <a:srgbClr val="A8ADB0"/>
          </a:solidFill>
          <a:ln w="6668">
            <a:solidFill>
              <a:srgbClr val="292B2D"/>
            </a:solidFill>
            <a:prstDash val="solid"/>
          </a:ln>
        </p:spPr>
      </p:sp>
    </p:spTree>
    <p:extLst>
      <p:ext uri="{BB962C8B-B14F-4D97-AF65-F5344CB8AC3E}">
        <p14:creationId xmlns:p14="http://schemas.microsoft.com/office/powerpoint/2010/main" val="7918448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447</Words>
  <Application>Microsoft Macintosh PowerPoint</Application>
  <DocSecurity>0</DocSecurity>
  <PresentationFormat>Custom</PresentationFormat>
  <Paragraphs>41</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Helvetica Neue</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Kriti Mantri</cp:lastModifiedBy>
  <cp:revision>4</cp:revision>
  <dcterms:created xsi:type="dcterms:W3CDTF">2026-09-14T10:09:26Z</dcterms:created>
  <dcterms:modified xsi:type="dcterms:W3CDTF">2026-09-14T10:29:13Z</dcterms:modified>
</cp:coreProperties>
</file>